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7"/>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20019" autoAdjust="0"/>
    <p:restoredTop sz="94610"/>
  </p:normalViewPr>
  <p:slideViewPr>
    <p:cSldViewPr snapToGrid="0" snapToObjects="1">
      <p:cViewPr varScale="1">
        <p:scale>
          <a:sx n="104" d="100"/>
          <a:sy n="104" d="100"/>
        </p:scale>
        <p:origin x="648"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62089653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A1F2E"/>
        </a:solidFill>
        <a:effectLst/>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E63946"/>
          </a:solidFill>
          <a:ln/>
        </p:spPr>
        <p:txBody>
          <a:bodyPr/>
          <a:lstStyle/>
          <a:p>
            <a:endParaRPr lang="en-IN"/>
          </a:p>
        </p:txBody>
      </p:sp>
      <p:sp>
        <p:nvSpPr>
          <p:cNvPr id="4" name="Shape 1"/>
          <p:cNvSpPr/>
          <p:nvPr/>
        </p:nvSpPr>
        <p:spPr>
          <a:xfrm>
            <a:off x="7406640" y="164592"/>
            <a:ext cx="1554480" cy="475488"/>
          </a:xfrm>
          <a:prstGeom prst="rect">
            <a:avLst/>
          </a:prstGeom>
          <a:solidFill>
            <a:srgbClr val="457B9D"/>
          </a:solidFill>
          <a:ln/>
        </p:spPr>
        <p:txBody>
          <a:bodyPr/>
          <a:lstStyle/>
          <a:p>
            <a:endParaRPr lang="en-IN"/>
          </a:p>
        </p:txBody>
      </p:sp>
      <p:sp>
        <p:nvSpPr>
          <p:cNvPr id="5" name="Text 2"/>
          <p:cNvSpPr/>
          <p:nvPr/>
        </p:nvSpPr>
        <p:spPr>
          <a:xfrm>
            <a:off x="7406640" y="164592"/>
            <a:ext cx="1554480" cy="475488"/>
          </a:xfrm>
          <a:prstGeom prst="rect">
            <a:avLst/>
          </a:prstGeom>
          <a:noFill/>
          <a:ln/>
        </p:spPr>
        <p:txBody>
          <a:bodyPr wrap="square" lIns="0" tIns="0" rIns="0" bIns="0" rtlCol="0" anchor="ctr"/>
          <a:lstStyle/>
          <a:p>
            <a:pPr marL="0" indent="0" algn="ctr">
              <a:buNone/>
            </a:pPr>
            <a:r>
              <a:rPr lang="en-US" sz="800" b="1" dirty="0">
                <a:solidFill>
                  <a:srgbClr val="FFFFFF"/>
                </a:solidFill>
                <a:latin typeface="Calibri" pitchFamily="34" charset="0"/>
                <a:ea typeface="Calibri" pitchFamily="34" charset="-122"/>
                <a:cs typeface="Calibri" pitchFamily="34" charset="-120"/>
              </a:rPr>
              <a:t>SDG 11 · Sustainable Cities</a:t>
            </a:r>
            <a:endParaRPr lang="en-US" sz="800" dirty="0"/>
          </a:p>
        </p:txBody>
      </p:sp>
      <p:sp>
        <p:nvSpPr>
          <p:cNvPr id="6" name="Text 3"/>
          <p:cNvSpPr/>
          <p:nvPr/>
        </p:nvSpPr>
        <p:spPr>
          <a:xfrm>
            <a:off x="457200" y="960120"/>
            <a:ext cx="8229600" cy="274320"/>
          </a:xfrm>
          <a:prstGeom prst="rect">
            <a:avLst/>
          </a:prstGeom>
          <a:noFill/>
          <a:ln/>
        </p:spPr>
        <p:txBody>
          <a:bodyPr wrap="square" lIns="0" tIns="0" rIns="0" bIns="0" rtlCol="0" anchor="ctr"/>
          <a:lstStyle/>
          <a:p>
            <a:pPr marL="0" indent="0" algn="ctr">
              <a:buNone/>
            </a:pPr>
            <a:r>
              <a:rPr lang="en-US" sz="1000" b="1" dirty="0">
                <a:solidFill>
                  <a:srgbClr val="E63946"/>
                </a:solidFill>
                <a:latin typeface="Calibri" pitchFamily="34" charset="0"/>
                <a:ea typeface="Calibri" pitchFamily="34" charset="-122"/>
                <a:cs typeface="Calibri" pitchFamily="34" charset="-120"/>
              </a:rPr>
              <a:t>VI SEMESTER  |  Experiential Learning — EVEN 2025–26 </a:t>
            </a:r>
            <a:endParaRPr lang="en-US" sz="1000" dirty="0"/>
          </a:p>
        </p:txBody>
      </p:sp>
      <p:sp>
        <p:nvSpPr>
          <p:cNvPr id="7" name="Text 4"/>
          <p:cNvSpPr/>
          <p:nvPr/>
        </p:nvSpPr>
        <p:spPr>
          <a:xfrm>
            <a:off x="457200" y="1371600"/>
            <a:ext cx="8229600" cy="822960"/>
          </a:xfrm>
          <a:prstGeom prst="rect">
            <a:avLst/>
          </a:prstGeom>
          <a:noFill/>
          <a:ln/>
        </p:spPr>
        <p:txBody>
          <a:bodyPr wrap="square" lIns="0" tIns="0" rIns="0" bIns="0" rtlCol="0" anchor="ctr"/>
          <a:lstStyle/>
          <a:p>
            <a:pPr marL="0" indent="0" algn="ctr">
              <a:buNone/>
            </a:pPr>
            <a:r>
              <a:rPr lang="en-US" sz="5200" b="1" dirty="0">
                <a:solidFill>
                  <a:srgbClr val="FFFFFF"/>
                </a:solidFill>
                <a:latin typeface="Calibri Black" pitchFamily="34" charset="0"/>
                <a:ea typeface="Calibri Black" pitchFamily="34" charset="-122"/>
                <a:cs typeface="Calibri Black" pitchFamily="34" charset="-120"/>
              </a:rPr>
              <a:t>Eco-Sync</a:t>
            </a:r>
            <a:endParaRPr lang="en-US" sz="5200" dirty="0"/>
          </a:p>
        </p:txBody>
      </p:sp>
      <p:sp>
        <p:nvSpPr>
          <p:cNvPr id="8" name="Shape 5"/>
          <p:cNvSpPr/>
          <p:nvPr/>
        </p:nvSpPr>
        <p:spPr>
          <a:xfrm>
            <a:off x="3200400" y="2176272"/>
            <a:ext cx="2743200" cy="50292"/>
          </a:xfrm>
          <a:prstGeom prst="rect">
            <a:avLst/>
          </a:prstGeom>
          <a:solidFill>
            <a:srgbClr val="E63946"/>
          </a:solidFill>
          <a:ln/>
        </p:spPr>
        <p:txBody>
          <a:bodyPr/>
          <a:lstStyle/>
          <a:p>
            <a:endParaRPr lang="en-IN"/>
          </a:p>
        </p:txBody>
      </p:sp>
      <p:sp>
        <p:nvSpPr>
          <p:cNvPr id="9" name="Text 6"/>
          <p:cNvSpPr/>
          <p:nvPr/>
        </p:nvSpPr>
        <p:spPr>
          <a:xfrm>
            <a:off x="457200" y="2286000"/>
            <a:ext cx="8229600" cy="658368"/>
          </a:xfrm>
          <a:prstGeom prst="rect">
            <a:avLst/>
          </a:prstGeom>
          <a:noFill/>
          <a:ln/>
        </p:spPr>
        <p:txBody>
          <a:bodyPr wrap="square" lIns="0" tIns="0" rIns="0" bIns="0" rtlCol="0" anchor="ctr"/>
          <a:lstStyle/>
          <a:p>
            <a:pPr marL="0" indent="0" algn="ctr">
              <a:buNone/>
            </a:pPr>
            <a:r>
              <a:rPr lang="en-US" sz="1800" dirty="0">
                <a:solidFill>
                  <a:srgbClr val="C8D6E5"/>
                </a:solidFill>
                <a:latin typeface="Calibri" pitchFamily="34" charset="0"/>
                <a:ea typeface="Calibri" pitchFamily="34" charset="-122"/>
                <a:cs typeface="Calibri" pitchFamily="34" charset="-120"/>
              </a:rPr>
              <a:t>V2X Agentic Network for Anti-Bunching in Urban Transit</a:t>
            </a:r>
            <a:endParaRPr lang="en-US" sz="1800" dirty="0"/>
          </a:p>
          <a:p>
            <a:pPr marL="0" indent="0" algn="ctr">
              <a:buNone/>
            </a:pPr>
            <a:r>
              <a:rPr lang="en-US" sz="1800" dirty="0">
                <a:solidFill>
                  <a:srgbClr val="C8D6E5"/>
                </a:solidFill>
                <a:latin typeface="Calibri" pitchFamily="34" charset="0"/>
                <a:ea typeface="Calibri" pitchFamily="34" charset="-122"/>
                <a:cs typeface="Calibri" pitchFamily="34" charset="-120"/>
              </a:rPr>
              <a:t>Multi-Agent LLM Debate</a:t>
            </a:r>
            <a:endParaRPr lang="en-US" sz="1800" dirty="0"/>
          </a:p>
        </p:txBody>
      </p:sp>
      <p:sp>
        <p:nvSpPr>
          <p:cNvPr id="10" name="Shape 7"/>
          <p:cNvSpPr/>
          <p:nvPr/>
        </p:nvSpPr>
        <p:spPr>
          <a:xfrm>
            <a:off x="2926080" y="3063240"/>
            <a:ext cx="3291840" cy="347472"/>
          </a:xfrm>
          <a:prstGeom prst="rect">
            <a:avLst/>
          </a:prstGeom>
          <a:solidFill>
            <a:srgbClr val="2DC653"/>
          </a:solidFill>
          <a:ln/>
        </p:spPr>
        <p:txBody>
          <a:bodyPr/>
          <a:lstStyle/>
          <a:p>
            <a:endParaRPr lang="en-IN"/>
          </a:p>
        </p:txBody>
      </p:sp>
      <p:sp>
        <p:nvSpPr>
          <p:cNvPr id="11" name="Text 8"/>
          <p:cNvSpPr/>
          <p:nvPr/>
        </p:nvSpPr>
        <p:spPr>
          <a:xfrm>
            <a:off x="2926080" y="3063240"/>
            <a:ext cx="3291840" cy="347472"/>
          </a:xfrm>
          <a:prstGeom prst="rect">
            <a:avLst/>
          </a:prstGeom>
          <a:noFill/>
          <a:ln/>
        </p:spPr>
        <p:txBody>
          <a:bodyPr wrap="square" lIns="0" tIns="0" rIns="0" bIns="0" rtlCol="0" anchor="ctr"/>
          <a:lstStyle/>
          <a:p>
            <a:pPr marL="0" indent="0" algn="ctr">
              <a:buNone/>
            </a:pPr>
            <a:r>
              <a:rPr lang="en-US" sz="1000" b="1" dirty="0">
                <a:solidFill>
                  <a:srgbClr val="1A1F2E"/>
                </a:solidFill>
                <a:latin typeface="Calibri" pitchFamily="34" charset="0"/>
                <a:ea typeface="Calibri" pitchFamily="34" charset="-122"/>
                <a:cs typeface="Calibri" pitchFamily="34" charset="-120"/>
              </a:rPr>
              <a:t>Theme: Industry, Innovation and Infrastructure</a:t>
            </a:r>
            <a:endParaRPr lang="en-US" sz="1000" dirty="0"/>
          </a:p>
        </p:txBody>
      </p:sp>
      <p:sp>
        <p:nvSpPr>
          <p:cNvPr id="12" name="Shape 9"/>
          <p:cNvSpPr/>
          <p:nvPr/>
        </p:nvSpPr>
        <p:spPr>
          <a:xfrm>
            <a:off x="0" y="4251960"/>
            <a:ext cx="2286000" cy="886968"/>
          </a:xfrm>
          <a:prstGeom prst="rect">
            <a:avLst/>
          </a:prstGeom>
          <a:solidFill>
            <a:srgbClr val="2A3150"/>
          </a:solidFill>
          <a:ln/>
        </p:spPr>
        <p:txBody>
          <a:bodyPr/>
          <a:lstStyle/>
          <a:p>
            <a:endParaRPr lang="en-IN"/>
          </a:p>
        </p:txBody>
      </p:sp>
      <p:sp>
        <p:nvSpPr>
          <p:cNvPr id="13" name="Text 10"/>
          <p:cNvSpPr/>
          <p:nvPr/>
        </p:nvSpPr>
        <p:spPr>
          <a:xfrm>
            <a:off x="91440" y="4251960"/>
            <a:ext cx="2103120" cy="886968"/>
          </a:xfrm>
          <a:prstGeom prst="rect">
            <a:avLst/>
          </a:prstGeom>
          <a:noFill/>
          <a:ln/>
        </p:spPr>
        <p:txBody>
          <a:bodyPr wrap="square" lIns="0" tIns="0" rIns="0" bIns="0" rtlCol="0" anchor="ctr"/>
          <a:lstStyle/>
          <a:p>
            <a:pPr marL="0" indent="0" algn="ctr">
              <a:buNone/>
            </a:pPr>
            <a:r>
              <a:rPr lang="en-US" sz="1000" dirty="0">
                <a:solidFill>
                  <a:srgbClr val="C8D6E5"/>
                </a:solidFill>
                <a:latin typeface="Calibri" pitchFamily="34" charset="0"/>
                <a:ea typeface="Calibri" pitchFamily="34" charset="-122"/>
                <a:cs typeface="Calibri" pitchFamily="34" charset="-120"/>
              </a:rPr>
              <a:t>Intelligent Transportation Systems</a:t>
            </a:r>
            <a:endParaRPr lang="en-US" sz="1000" dirty="0"/>
          </a:p>
        </p:txBody>
      </p:sp>
      <p:sp>
        <p:nvSpPr>
          <p:cNvPr id="14" name="Shape 11"/>
          <p:cNvSpPr/>
          <p:nvPr/>
        </p:nvSpPr>
        <p:spPr>
          <a:xfrm>
            <a:off x="2286000" y="4251960"/>
            <a:ext cx="2286000" cy="886968"/>
          </a:xfrm>
          <a:prstGeom prst="rect">
            <a:avLst/>
          </a:prstGeom>
          <a:solidFill>
            <a:srgbClr val="1E2640"/>
          </a:solidFill>
          <a:ln/>
        </p:spPr>
        <p:txBody>
          <a:bodyPr/>
          <a:lstStyle/>
          <a:p>
            <a:endParaRPr lang="en-IN"/>
          </a:p>
        </p:txBody>
      </p:sp>
      <p:sp>
        <p:nvSpPr>
          <p:cNvPr id="15" name="Text 12"/>
          <p:cNvSpPr/>
          <p:nvPr/>
        </p:nvSpPr>
        <p:spPr>
          <a:xfrm>
            <a:off x="2377440" y="4251960"/>
            <a:ext cx="2103120" cy="886968"/>
          </a:xfrm>
          <a:prstGeom prst="rect">
            <a:avLst/>
          </a:prstGeom>
          <a:noFill/>
          <a:ln/>
        </p:spPr>
        <p:txBody>
          <a:bodyPr wrap="square" lIns="0" tIns="0" rIns="0" bIns="0" rtlCol="0" anchor="ctr"/>
          <a:lstStyle/>
          <a:p>
            <a:pPr marL="0" indent="0" algn="ctr">
              <a:buNone/>
            </a:pPr>
            <a:r>
              <a:rPr lang="en-US" sz="1000" dirty="0">
                <a:solidFill>
                  <a:srgbClr val="C8D6E5"/>
                </a:solidFill>
                <a:latin typeface="Calibri" pitchFamily="34" charset="0"/>
                <a:ea typeface="Calibri" pitchFamily="34" charset="-122"/>
                <a:cs typeface="Calibri" pitchFamily="34" charset="-120"/>
              </a:rPr>
              <a:t>ITS — CV266TEE</a:t>
            </a:r>
            <a:endParaRPr lang="en-US" sz="1000" dirty="0"/>
          </a:p>
        </p:txBody>
      </p:sp>
      <p:sp>
        <p:nvSpPr>
          <p:cNvPr id="16" name="Shape 13"/>
          <p:cNvSpPr/>
          <p:nvPr/>
        </p:nvSpPr>
        <p:spPr>
          <a:xfrm>
            <a:off x="4572000" y="4251960"/>
            <a:ext cx="2286000" cy="886968"/>
          </a:xfrm>
          <a:prstGeom prst="rect">
            <a:avLst/>
          </a:prstGeom>
          <a:solidFill>
            <a:srgbClr val="2A3150"/>
          </a:solidFill>
          <a:ln/>
        </p:spPr>
        <p:txBody>
          <a:bodyPr/>
          <a:lstStyle/>
          <a:p>
            <a:endParaRPr lang="en-IN"/>
          </a:p>
        </p:txBody>
      </p:sp>
      <p:sp>
        <p:nvSpPr>
          <p:cNvPr id="17" name="Text 14"/>
          <p:cNvSpPr/>
          <p:nvPr/>
        </p:nvSpPr>
        <p:spPr>
          <a:xfrm>
            <a:off x="4663440" y="4251960"/>
            <a:ext cx="2103120" cy="886968"/>
          </a:xfrm>
          <a:prstGeom prst="rect">
            <a:avLst/>
          </a:prstGeom>
          <a:noFill/>
          <a:ln/>
        </p:spPr>
        <p:txBody>
          <a:bodyPr wrap="square" lIns="0" tIns="0" rIns="0" bIns="0" rtlCol="0" anchor="ctr"/>
          <a:lstStyle/>
          <a:p>
            <a:pPr marL="0" indent="0" algn="ctr">
              <a:buNone/>
            </a:pPr>
            <a:r>
              <a:rPr lang="en-US" sz="1000" dirty="0">
                <a:solidFill>
                  <a:srgbClr val="C8D6E5"/>
                </a:solidFill>
                <a:latin typeface="Calibri" pitchFamily="34" charset="0"/>
                <a:ea typeface="Calibri" pitchFamily="34" charset="-122"/>
                <a:cs typeface="Calibri" pitchFamily="34" charset="-120"/>
              </a:rPr>
              <a:t>VI Semester B.E.</a:t>
            </a:r>
            <a:endParaRPr lang="en-US" sz="1000" dirty="0"/>
          </a:p>
        </p:txBody>
      </p:sp>
      <p:sp>
        <p:nvSpPr>
          <p:cNvPr id="18" name="Shape 15"/>
          <p:cNvSpPr/>
          <p:nvPr/>
        </p:nvSpPr>
        <p:spPr>
          <a:xfrm>
            <a:off x="6858000" y="4251960"/>
            <a:ext cx="2286000" cy="886968"/>
          </a:xfrm>
          <a:prstGeom prst="rect">
            <a:avLst/>
          </a:prstGeom>
          <a:solidFill>
            <a:srgbClr val="1E2640"/>
          </a:solidFill>
          <a:ln/>
        </p:spPr>
        <p:txBody>
          <a:bodyPr/>
          <a:lstStyle/>
          <a:p>
            <a:endParaRPr lang="en-IN"/>
          </a:p>
        </p:txBody>
      </p:sp>
      <p:sp>
        <p:nvSpPr>
          <p:cNvPr id="19" name="Text 16"/>
          <p:cNvSpPr/>
          <p:nvPr/>
        </p:nvSpPr>
        <p:spPr>
          <a:xfrm>
            <a:off x="6949440" y="4251960"/>
            <a:ext cx="2103120" cy="886968"/>
          </a:xfrm>
          <a:prstGeom prst="rect">
            <a:avLst/>
          </a:prstGeom>
          <a:noFill/>
          <a:ln/>
        </p:spPr>
        <p:txBody>
          <a:bodyPr wrap="square" lIns="0" tIns="0" rIns="0" bIns="0" rtlCol="0" anchor="ctr"/>
          <a:lstStyle/>
          <a:p>
            <a:pPr marL="0" indent="0" algn="ctr">
              <a:buNone/>
            </a:pPr>
            <a:r>
              <a:rPr lang="en-US" sz="1000" dirty="0">
                <a:solidFill>
                  <a:srgbClr val="C8D6E5"/>
                </a:solidFill>
                <a:latin typeface="Calibri" pitchFamily="34" charset="0"/>
                <a:ea typeface="Calibri" pitchFamily="34" charset="-122"/>
                <a:cs typeface="Calibri" pitchFamily="34" charset="-120"/>
              </a:rPr>
              <a:t>RVCE — EVEN 2025-26</a:t>
            </a:r>
            <a:endParaRPr lang="en-US" sz="1000" dirty="0"/>
          </a:p>
        </p:txBody>
      </p:sp>
      <p:sp>
        <p:nvSpPr>
          <p:cNvPr id="20" name="Shape 17"/>
          <p:cNvSpPr/>
          <p:nvPr/>
        </p:nvSpPr>
        <p:spPr>
          <a:xfrm>
            <a:off x="0" y="5079492"/>
            <a:ext cx="9144000" cy="64008"/>
          </a:xfrm>
          <a:prstGeom prst="rect">
            <a:avLst/>
          </a:prstGeom>
          <a:solidFill>
            <a:srgbClr val="E63946"/>
          </a:solidFill>
          <a:ln/>
        </p:spPr>
        <p:txBody>
          <a:bodyPr/>
          <a:lstStyle/>
          <a:p>
            <a:endParaRPr lang="en-IN"/>
          </a:p>
        </p:txBody>
      </p:sp>
      <p:pic>
        <p:nvPicPr>
          <p:cNvPr id="26" name="Picture 25">
            <a:extLst>
              <a:ext uri="{FF2B5EF4-FFF2-40B4-BE49-F238E27FC236}">
                <a16:creationId xmlns:a16="http://schemas.microsoft.com/office/drawing/2014/main" id="{A2720A80-C694-F20B-AA58-BF04D90882B3}"/>
              </a:ext>
            </a:extLst>
          </p:cNvPr>
          <p:cNvPicPr>
            <a:picLocks noChangeAspect="1"/>
          </p:cNvPicPr>
          <p:nvPr/>
        </p:nvPicPr>
        <p:blipFill>
          <a:blip r:embed="rId3"/>
          <a:stretch>
            <a:fillRect/>
          </a:stretch>
        </p:blipFill>
        <p:spPr>
          <a:xfrm>
            <a:off x="91441" y="140019"/>
            <a:ext cx="2286000" cy="979714"/>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1A1F2E"/>
        </a:solidFill>
        <a:effectLst/>
      </p:bgPr>
    </p:bg>
    <p:spTree>
      <p:nvGrpSpPr>
        <p:cNvPr id="1" name=""/>
        <p:cNvGrpSpPr/>
        <p:nvPr/>
      </p:nvGrpSpPr>
      <p:grpSpPr>
        <a:xfrm>
          <a:off x="0" y="0"/>
          <a:ext cx="0" cy="0"/>
          <a:chOff x="0" y="0"/>
          <a:chExt cx="0" cy="0"/>
        </a:xfrm>
      </p:grpSpPr>
      <p:sp>
        <p:nvSpPr>
          <p:cNvPr id="2" name="Shape 0"/>
          <p:cNvSpPr/>
          <p:nvPr/>
        </p:nvSpPr>
        <p:spPr>
          <a:xfrm>
            <a:off x="0" y="0"/>
            <a:ext cx="9144000" cy="64008"/>
          </a:xfrm>
          <a:prstGeom prst="rect">
            <a:avLst/>
          </a:prstGeom>
          <a:solidFill>
            <a:srgbClr val="E63946"/>
          </a:solidFill>
          <a:ln/>
        </p:spPr>
        <p:txBody>
          <a:bodyPr/>
          <a:lstStyle/>
          <a:p>
            <a:endParaRPr lang="en-IN"/>
          </a:p>
        </p:txBody>
      </p:sp>
      <p:sp>
        <p:nvSpPr>
          <p:cNvPr id="3" name="Shape 1"/>
          <p:cNvSpPr/>
          <p:nvPr/>
        </p:nvSpPr>
        <p:spPr>
          <a:xfrm>
            <a:off x="0" y="64008"/>
            <a:ext cx="9144000" cy="658368"/>
          </a:xfrm>
          <a:prstGeom prst="rect">
            <a:avLst/>
          </a:prstGeom>
          <a:solidFill>
            <a:srgbClr val="2A3150"/>
          </a:solidFill>
          <a:ln/>
        </p:spPr>
        <p:txBody>
          <a:bodyPr/>
          <a:lstStyle/>
          <a:p>
            <a:endParaRPr lang="en-IN"/>
          </a:p>
        </p:txBody>
      </p:sp>
      <p:sp>
        <p:nvSpPr>
          <p:cNvPr id="5" name="Text 2"/>
          <p:cNvSpPr/>
          <p:nvPr/>
        </p:nvSpPr>
        <p:spPr>
          <a:xfrm>
            <a:off x="2011680" y="91440"/>
            <a:ext cx="5029200" cy="548640"/>
          </a:xfrm>
          <a:prstGeom prst="rect">
            <a:avLst/>
          </a:prstGeom>
          <a:noFill/>
          <a:ln/>
        </p:spPr>
        <p:txBody>
          <a:bodyPr wrap="square" lIns="0" tIns="0" rIns="0" bIns="0" rtlCol="0" anchor="ctr"/>
          <a:lstStyle/>
          <a:p>
            <a:pPr marL="0" indent="0">
              <a:buNone/>
            </a:pPr>
            <a:r>
              <a:rPr lang="en-US" sz="2000" b="1" dirty="0">
                <a:solidFill>
                  <a:srgbClr val="FFFFFF"/>
                </a:solidFill>
                <a:latin typeface="Calibri" pitchFamily="34" charset="0"/>
                <a:ea typeface="Calibri" pitchFamily="34" charset="-122"/>
                <a:cs typeface="Calibri" pitchFamily="34" charset="-120"/>
              </a:rPr>
              <a:t>Team Members</a:t>
            </a:r>
            <a:endParaRPr lang="en-US" sz="2000" dirty="0"/>
          </a:p>
        </p:txBody>
      </p:sp>
      <p:sp>
        <p:nvSpPr>
          <p:cNvPr id="6" name="Text 3"/>
          <p:cNvSpPr/>
          <p:nvPr/>
        </p:nvSpPr>
        <p:spPr>
          <a:xfrm>
            <a:off x="6858000" y="109728"/>
            <a:ext cx="2103120" cy="502920"/>
          </a:xfrm>
          <a:prstGeom prst="rect">
            <a:avLst/>
          </a:prstGeom>
          <a:noFill/>
          <a:ln/>
        </p:spPr>
        <p:txBody>
          <a:bodyPr wrap="square" lIns="0" tIns="0" rIns="0" bIns="0" rtlCol="0" anchor="ctr"/>
          <a:lstStyle/>
          <a:p>
            <a:pPr marL="0" indent="0" algn="r">
              <a:buNone/>
            </a:pPr>
            <a:r>
              <a:rPr lang="en-US" sz="1000" i="1" dirty="0">
                <a:solidFill>
                  <a:srgbClr val="7A8FA6"/>
                </a:solidFill>
                <a:latin typeface="Georgia" pitchFamily="34" charset="0"/>
                <a:ea typeface="Georgia" pitchFamily="34" charset="-122"/>
                <a:cs typeface="Georgia" pitchFamily="34" charset="-120"/>
              </a:rPr>
              <a:t>Go, change the world</a:t>
            </a:r>
            <a:endParaRPr lang="en-US" sz="1000" dirty="0"/>
          </a:p>
        </p:txBody>
      </p:sp>
      <p:sp>
        <p:nvSpPr>
          <p:cNvPr id="7" name="Shape 4"/>
          <p:cNvSpPr/>
          <p:nvPr/>
        </p:nvSpPr>
        <p:spPr>
          <a:xfrm>
            <a:off x="274320" y="1005840"/>
            <a:ext cx="1993392" cy="2651760"/>
          </a:xfrm>
          <a:prstGeom prst="rect">
            <a:avLst/>
          </a:prstGeom>
          <a:solidFill>
            <a:srgbClr val="2A3150"/>
          </a:solidFill>
          <a:ln/>
          <a:effectLst>
            <a:outerShdw blurRad="101600" dist="25400" dir="8100000" algn="bl" rotWithShape="0">
              <a:srgbClr val="000000">
                <a:alpha val="20000"/>
              </a:srgbClr>
            </a:outerShdw>
          </a:effectLst>
        </p:spPr>
        <p:txBody>
          <a:bodyPr/>
          <a:lstStyle/>
          <a:p>
            <a:endParaRPr lang="en-IN"/>
          </a:p>
        </p:txBody>
      </p:sp>
      <p:sp>
        <p:nvSpPr>
          <p:cNvPr id="8" name="Shape 5"/>
          <p:cNvSpPr/>
          <p:nvPr/>
        </p:nvSpPr>
        <p:spPr>
          <a:xfrm>
            <a:off x="274320" y="1005840"/>
            <a:ext cx="1993392" cy="73152"/>
          </a:xfrm>
          <a:prstGeom prst="rect">
            <a:avLst/>
          </a:prstGeom>
          <a:solidFill>
            <a:srgbClr val="E63946"/>
          </a:solidFill>
          <a:ln/>
        </p:spPr>
        <p:txBody>
          <a:bodyPr/>
          <a:lstStyle/>
          <a:p>
            <a:endParaRPr lang="en-IN"/>
          </a:p>
        </p:txBody>
      </p:sp>
      <p:sp>
        <p:nvSpPr>
          <p:cNvPr id="9" name="Shape 6"/>
          <p:cNvSpPr/>
          <p:nvPr/>
        </p:nvSpPr>
        <p:spPr>
          <a:xfrm>
            <a:off x="813816" y="1207008"/>
            <a:ext cx="914400" cy="914400"/>
          </a:xfrm>
          <a:prstGeom prst="line">
            <a:avLst/>
          </a:prstGeom>
          <a:solidFill>
            <a:srgbClr val="E63946"/>
          </a:solidFill>
          <a:ln/>
        </p:spPr>
        <p:txBody>
          <a:bodyPr/>
          <a:lstStyle/>
          <a:p>
            <a:endParaRPr lang="en-IN"/>
          </a:p>
        </p:txBody>
      </p:sp>
      <p:sp>
        <p:nvSpPr>
          <p:cNvPr id="10" name="Text 7"/>
          <p:cNvSpPr/>
          <p:nvPr/>
        </p:nvSpPr>
        <p:spPr>
          <a:xfrm>
            <a:off x="813816" y="1207008"/>
            <a:ext cx="914400" cy="914400"/>
          </a:xfrm>
          <a:prstGeom prst="rect">
            <a:avLst/>
          </a:prstGeom>
          <a:noFill/>
          <a:ln/>
        </p:spPr>
        <p:txBody>
          <a:bodyPr wrap="square" lIns="0" tIns="0" rIns="0" bIns="0" rtlCol="0" anchor="ctr"/>
          <a:lstStyle/>
          <a:p>
            <a:pPr marL="0" indent="0" algn="ctr">
              <a:buNone/>
            </a:pPr>
            <a:r>
              <a:rPr lang="en-US" sz="2200" b="1" dirty="0">
                <a:solidFill>
                  <a:srgbClr val="FFFFFF"/>
                </a:solidFill>
                <a:latin typeface="Calibri Black" pitchFamily="34" charset="0"/>
                <a:ea typeface="Calibri Black" pitchFamily="34" charset="-122"/>
              </a:rPr>
              <a:t>VKT</a:t>
            </a:r>
            <a:endParaRPr lang="en-US" sz="2200" dirty="0"/>
          </a:p>
        </p:txBody>
      </p:sp>
      <p:sp>
        <p:nvSpPr>
          <p:cNvPr id="11" name="Text 8"/>
          <p:cNvSpPr/>
          <p:nvPr/>
        </p:nvSpPr>
        <p:spPr>
          <a:xfrm>
            <a:off x="320040" y="2240280"/>
            <a:ext cx="1901952" cy="292608"/>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Vikas K T</a:t>
            </a:r>
            <a:endParaRPr lang="en-US" sz="1100" dirty="0"/>
          </a:p>
        </p:txBody>
      </p:sp>
      <p:sp>
        <p:nvSpPr>
          <p:cNvPr id="12" name="Text 9"/>
          <p:cNvSpPr/>
          <p:nvPr/>
        </p:nvSpPr>
        <p:spPr>
          <a:xfrm>
            <a:off x="320040" y="2542032"/>
            <a:ext cx="1901952" cy="228600"/>
          </a:xfrm>
          <a:prstGeom prst="rect">
            <a:avLst/>
          </a:prstGeom>
          <a:noFill/>
          <a:ln/>
        </p:spPr>
        <p:txBody>
          <a:bodyPr wrap="square" lIns="0" tIns="0" rIns="0" bIns="0" rtlCol="0" anchor="ctr"/>
          <a:lstStyle/>
          <a:p>
            <a:pPr marL="0" indent="0" algn="ctr">
              <a:buNone/>
            </a:pPr>
            <a:r>
              <a:rPr lang="en-US" sz="950" b="1" dirty="0">
                <a:solidFill>
                  <a:srgbClr val="E63946"/>
                </a:solidFill>
                <a:latin typeface="Calibri" pitchFamily="34" charset="0"/>
                <a:ea typeface="Calibri" pitchFamily="34" charset="-122"/>
                <a:cs typeface="Calibri" pitchFamily="34" charset="-120"/>
              </a:rPr>
              <a:t>1RV23CS286</a:t>
            </a:r>
            <a:endParaRPr lang="en-US" sz="950" dirty="0"/>
          </a:p>
        </p:txBody>
      </p:sp>
      <p:sp>
        <p:nvSpPr>
          <p:cNvPr id="13" name="Text 10"/>
          <p:cNvSpPr/>
          <p:nvPr/>
        </p:nvSpPr>
        <p:spPr>
          <a:xfrm>
            <a:off x="320040" y="2788920"/>
            <a:ext cx="1901952" cy="256032"/>
          </a:xfrm>
          <a:prstGeom prst="rect">
            <a:avLst/>
          </a:prstGeom>
          <a:noFill/>
          <a:ln/>
        </p:spPr>
        <p:txBody>
          <a:bodyPr wrap="square" lIns="0" tIns="0" rIns="0" bIns="0" rtlCol="0" anchor="ctr"/>
          <a:lstStyle/>
          <a:p>
            <a:pPr marL="0" indent="0" algn="ctr">
              <a:buNone/>
            </a:pPr>
            <a:r>
              <a:rPr lang="en-US" sz="850" dirty="0">
                <a:solidFill>
                  <a:srgbClr val="C8D6E5"/>
                </a:solidFill>
                <a:latin typeface="Calibri" pitchFamily="34" charset="0"/>
                <a:ea typeface="Calibri" pitchFamily="34" charset="-122"/>
                <a:cs typeface="Calibri" pitchFamily="34" charset="-120"/>
              </a:rPr>
              <a:t>CSE </a:t>
            </a:r>
            <a:endParaRPr lang="en-US" sz="850" dirty="0"/>
          </a:p>
        </p:txBody>
      </p:sp>
      <p:sp>
        <p:nvSpPr>
          <p:cNvPr id="14" name="Text 11"/>
          <p:cNvSpPr/>
          <p:nvPr/>
        </p:nvSpPr>
        <p:spPr>
          <a:xfrm>
            <a:off x="320040" y="3090672"/>
            <a:ext cx="1901952" cy="384048"/>
          </a:xfrm>
          <a:prstGeom prst="rect">
            <a:avLst/>
          </a:prstGeom>
          <a:noFill/>
          <a:ln/>
        </p:spPr>
        <p:txBody>
          <a:bodyPr wrap="square" lIns="0" tIns="0" rIns="0" bIns="0" rtlCol="0" anchor="ctr"/>
          <a:lstStyle/>
          <a:p>
            <a:pPr marL="0" indent="0" algn="ctr">
              <a:buNone/>
            </a:pPr>
            <a:r>
              <a:rPr lang="en-US" sz="750" dirty="0">
                <a:solidFill>
                  <a:srgbClr val="7A8FA6"/>
                </a:solidFill>
                <a:latin typeface="Calibri" pitchFamily="34" charset="0"/>
                <a:ea typeface="Calibri" pitchFamily="34" charset="-122"/>
                <a:cs typeface="Calibri" pitchFamily="34" charset="-120"/>
              </a:rPr>
              <a:t>vikaskt.cs23@rvce.edu.in</a:t>
            </a:r>
            <a:endParaRPr lang="en-US" sz="750" dirty="0"/>
          </a:p>
        </p:txBody>
      </p:sp>
      <p:sp>
        <p:nvSpPr>
          <p:cNvPr id="15" name="Shape 12"/>
          <p:cNvSpPr/>
          <p:nvPr/>
        </p:nvSpPr>
        <p:spPr>
          <a:xfrm>
            <a:off x="2450592" y="1005840"/>
            <a:ext cx="1993392" cy="2651760"/>
          </a:xfrm>
          <a:prstGeom prst="rect">
            <a:avLst/>
          </a:prstGeom>
          <a:solidFill>
            <a:srgbClr val="2A3150"/>
          </a:solidFill>
          <a:ln/>
          <a:effectLst>
            <a:outerShdw blurRad="101600" dist="25400" dir="8100000" algn="bl" rotWithShape="0">
              <a:srgbClr val="000000">
                <a:alpha val="20000"/>
              </a:srgbClr>
            </a:outerShdw>
          </a:effectLst>
        </p:spPr>
        <p:txBody>
          <a:bodyPr/>
          <a:lstStyle/>
          <a:p>
            <a:endParaRPr lang="en-IN"/>
          </a:p>
        </p:txBody>
      </p:sp>
      <p:sp>
        <p:nvSpPr>
          <p:cNvPr id="16" name="Shape 13"/>
          <p:cNvSpPr/>
          <p:nvPr/>
        </p:nvSpPr>
        <p:spPr>
          <a:xfrm>
            <a:off x="2450592" y="1005840"/>
            <a:ext cx="1993392" cy="73152"/>
          </a:xfrm>
          <a:prstGeom prst="rect">
            <a:avLst/>
          </a:prstGeom>
          <a:solidFill>
            <a:srgbClr val="457B9D"/>
          </a:solidFill>
          <a:ln/>
        </p:spPr>
        <p:txBody>
          <a:bodyPr/>
          <a:lstStyle/>
          <a:p>
            <a:endParaRPr lang="en-IN"/>
          </a:p>
        </p:txBody>
      </p:sp>
      <p:sp>
        <p:nvSpPr>
          <p:cNvPr id="17" name="Shape 14"/>
          <p:cNvSpPr/>
          <p:nvPr/>
        </p:nvSpPr>
        <p:spPr>
          <a:xfrm>
            <a:off x="2990088" y="1207008"/>
            <a:ext cx="914400" cy="914400"/>
          </a:xfrm>
          <a:prstGeom prst="line">
            <a:avLst/>
          </a:prstGeom>
          <a:solidFill>
            <a:srgbClr val="457B9D"/>
          </a:solidFill>
          <a:ln/>
        </p:spPr>
        <p:txBody>
          <a:bodyPr/>
          <a:lstStyle/>
          <a:p>
            <a:endParaRPr lang="en-IN"/>
          </a:p>
        </p:txBody>
      </p:sp>
      <p:sp>
        <p:nvSpPr>
          <p:cNvPr id="18" name="Text 15"/>
          <p:cNvSpPr/>
          <p:nvPr/>
        </p:nvSpPr>
        <p:spPr>
          <a:xfrm>
            <a:off x="2990088" y="1207008"/>
            <a:ext cx="914400" cy="914400"/>
          </a:xfrm>
          <a:prstGeom prst="rect">
            <a:avLst/>
          </a:prstGeom>
          <a:noFill/>
          <a:ln/>
        </p:spPr>
        <p:txBody>
          <a:bodyPr wrap="square" lIns="0" tIns="0" rIns="0" bIns="0" rtlCol="0" anchor="ctr"/>
          <a:lstStyle/>
          <a:p>
            <a:pPr marL="0" indent="0" algn="ctr">
              <a:buNone/>
            </a:pPr>
            <a:r>
              <a:rPr lang="en-US" sz="2200" b="1" dirty="0">
                <a:solidFill>
                  <a:srgbClr val="FFFFFF"/>
                </a:solidFill>
                <a:latin typeface="Calibri Black" pitchFamily="34" charset="0"/>
                <a:ea typeface="Calibri Black" pitchFamily="34" charset="-122"/>
              </a:rPr>
              <a:t>VV</a:t>
            </a:r>
            <a:endParaRPr lang="en-US" sz="2200" dirty="0"/>
          </a:p>
        </p:txBody>
      </p:sp>
      <p:sp>
        <p:nvSpPr>
          <p:cNvPr id="19" name="Text 16"/>
          <p:cNvSpPr/>
          <p:nvPr/>
        </p:nvSpPr>
        <p:spPr>
          <a:xfrm>
            <a:off x="2496312" y="2240280"/>
            <a:ext cx="1901952" cy="292608"/>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Vishwas V</a:t>
            </a:r>
            <a:endParaRPr lang="en-US" sz="1100" dirty="0"/>
          </a:p>
        </p:txBody>
      </p:sp>
      <p:sp>
        <p:nvSpPr>
          <p:cNvPr id="20" name="Text 17"/>
          <p:cNvSpPr/>
          <p:nvPr/>
        </p:nvSpPr>
        <p:spPr>
          <a:xfrm>
            <a:off x="2496312" y="2542032"/>
            <a:ext cx="1901952" cy="228600"/>
          </a:xfrm>
          <a:prstGeom prst="rect">
            <a:avLst/>
          </a:prstGeom>
          <a:noFill/>
          <a:ln/>
        </p:spPr>
        <p:txBody>
          <a:bodyPr wrap="square" lIns="0" tIns="0" rIns="0" bIns="0" rtlCol="0" anchor="ctr"/>
          <a:lstStyle/>
          <a:p>
            <a:pPr marL="0" indent="0" algn="ctr">
              <a:buNone/>
            </a:pPr>
            <a:r>
              <a:rPr lang="en-US" sz="950" b="1" dirty="0">
                <a:solidFill>
                  <a:srgbClr val="457B9D"/>
                </a:solidFill>
                <a:latin typeface="Calibri" pitchFamily="34" charset="0"/>
                <a:ea typeface="Calibri" pitchFamily="34" charset="-122"/>
                <a:cs typeface="Calibri" pitchFamily="34" charset="-120"/>
              </a:rPr>
              <a:t>1RV23CS293</a:t>
            </a:r>
            <a:endParaRPr lang="en-US" sz="950" dirty="0"/>
          </a:p>
        </p:txBody>
      </p:sp>
      <p:sp>
        <p:nvSpPr>
          <p:cNvPr id="21" name="Text 18"/>
          <p:cNvSpPr/>
          <p:nvPr/>
        </p:nvSpPr>
        <p:spPr>
          <a:xfrm>
            <a:off x="2496312" y="2788920"/>
            <a:ext cx="1901952" cy="256032"/>
          </a:xfrm>
          <a:prstGeom prst="rect">
            <a:avLst/>
          </a:prstGeom>
          <a:noFill/>
          <a:ln/>
        </p:spPr>
        <p:txBody>
          <a:bodyPr wrap="square" lIns="0" tIns="0" rIns="0" bIns="0" rtlCol="0" anchor="ctr"/>
          <a:lstStyle/>
          <a:p>
            <a:pPr marL="0" indent="0" algn="ctr">
              <a:buNone/>
            </a:pPr>
            <a:r>
              <a:rPr lang="en-US" sz="850" dirty="0">
                <a:solidFill>
                  <a:srgbClr val="C8D6E5"/>
                </a:solidFill>
                <a:latin typeface="Calibri" pitchFamily="34" charset="0"/>
                <a:ea typeface="Calibri" pitchFamily="34" charset="-122"/>
                <a:cs typeface="Calibri" pitchFamily="34" charset="-120"/>
              </a:rPr>
              <a:t>CSE</a:t>
            </a:r>
            <a:endParaRPr lang="en-US" sz="850" dirty="0"/>
          </a:p>
        </p:txBody>
      </p:sp>
      <p:sp>
        <p:nvSpPr>
          <p:cNvPr id="22" name="Text 19"/>
          <p:cNvSpPr/>
          <p:nvPr/>
        </p:nvSpPr>
        <p:spPr>
          <a:xfrm>
            <a:off x="2496312" y="3090672"/>
            <a:ext cx="1901952" cy="384048"/>
          </a:xfrm>
          <a:prstGeom prst="rect">
            <a:avLst/>
          </a:prstGeom>
          <a:noFill/>
          <a:ln/>
        </p:spPr>
        <p:txBody>
          <a:bodyPr wrap="square" lIns="0" tIns="0" rIns="0" bIns="0" rtlCol="0" anchor="ctr"/>
          <a:lstStyle/>
          <a:p>
            <a:pPr marL="0" indent="0" algn="ctr">
              <a:buNone/>
            </a:pPr>
            <a:r>
              <a:rPr lang="en-US" sz="750" dirty="0">
                <a:solidFill>
                  <a:srgbClr val="7A8FA6"/>
                </a:solidFill>
                <a:latin typeface="Calibri" pitchFamily="34" charset="0"/>
                <a:ea typeface="Calibri" pitchFamily="34" charset="-122"/>
                <a:cs typeface="Calibri" pitchFamily="34" charset="-120"/>
              </a:rPr>
              <a:t>vishwas.cs23@rvce.edu.in</a:t>
            </a:r>
            <a:endParaRPr lang="en-US" sz="750" dirty="0"/>
          </a:p>
        </p:txBody>
      </p:sp>
      <p:sp>
        <p:nvSpPr>
          <p:cNvPr id="23" name="Shape 20"/>
          <p:cNvSpPr/>
          <p:nvPr/>
        </p:nvSpPr>
        <p:spPr>
          <a:xfrm>
            <a:off x="4626864" y="1005840"/>
            <a:ext cx="1993392" cy="2651760"/>
          </a:xfrm>
          <a:prstGeom prst="rect">
            <a:avLst/>
          </a:prstGeom>
          <a:solidFill>
            <a:srgbClr val="2A3150"/>
          </a:solidFill>
          <a:ln/>
          <a:effectLst>
            <a:outerShdw blurRad="101600" dist="25400" dir="8100000" algn="bl" rotWithShape="0">
              <a:srgbClr val="000000">
                <a:alpha val="20000"/>
              </a:srgbClr>
            </a:outerShdw>
          </a:effectLst>
        </p:spPr>
        <p:txBody>
          <a:bodyPr/>
          <a:lstStyle/>
          <a:p>
            <a:endParaRPr lang="en-IN"/>
          </a:p>
        </p:txBody>
      </p:sp>
      <p:sp>
        <p:nvSpPr>
          <p:cNvPr id="24" name="Shape 21"/>
          <p:cNvSpPr/>
          <p:nvPr/>
        </p:nvSpPr>
        <p:spPr>
          <a:xfrm>
            <a:off x="4626864" y="1005840"/>
            <a:ext cx="1993392" cy="73152"/>
          </a:xfrm>
          <a:prstGeom prst="rect">
            <a:avLst/>
          </a:prstGeom>
          <a:solidFill>
            <a:srgbClr val="2DC653"/>
          </a:solidFill>
          <a:ln/>
        </p:spPr>
        <p:txBody>
          <a:bodyPr/>
          <a:lstStyle/>
          <a:p>
            <a:endParaRPr lang="en-IN"/>
          </a:p>
        </p:txBody>
      </p:sp>
      <p:sp>
        <p:nvSpPr>
          <p:cNvPr id="25" name="Shape 22"/>
          <p:cNvSpPr/>
          <p:nvPr/>
        </p:nvSpPr>
        <p:spPr>
          <a:xfrm>
            <a:off x="5166360" y="1207008"/>
            <a:ext cx="914400" cy="914400"/>
          </a:xfrm>
          <a:prstGeom prst="line">
            <a:avLst/>
          </a:prstGeom>
          <a:solidFill>
            <a:srgbClr val="2DC653"/>
          </a:solidFill>
          <a:ln/>
        </p:spPr>
        <p:txBody>
          <a:bodyPr/>
          <a:lstStyle/>
          <a:p>
            <a:endParaRPr lang="en-IN"/>
          </a:p>
        </p:txBody>
      </p:sp>
      <p:sp>
        <p:nvSpPr>
          <p:cNvPr id="26" name="Text 23"/>
          <p:cNvSpPr/>
          <p:nvPr/>
        </p:nvSpPr>
        <p:spPr>
          <a:xfrm>
            <a:off x="5166360" y="1207008"/>
            <a:ext cx="914400" cy="914400"/>
          </a:xfrm>
          <a:prstGeom prst="rect">
            <a:avLst/>
          </a:prstGeom>
          <a:noFill/>
          <a:ln/>
        </p:spPr>
        <p:txBody>
          <a:bodyPr wrap="square" lIns="0" tIns="0" rIns="0" bIns="0" rtlCol="0" anchor="ctr"/>
          <a:lstStyle/>
          <a:p>
            <a:pPr marL="0" indent="0" algn="ctr">
              <a:buNone/>
            </a:pPr>
            <a:r>
              <a:rPr lang="en-US" sz="2200" b="1" dirty="0">
                <a:solidFill>
                  <a:srgbClr val="FFFFFF"/>
                </a:solidFill>
                <a:latin typeface="Calibri Black" pitchFamily="34" charset="0"/>
                <a:ea typeface="Calibri Black" pitchFamily="34" charset="-122"/>
              </a:rPr>
              <a:t>VYM</a:t>
            </a:r>
            <a:endParaRPr lang="en-US" sz="2200" dirty="0"/>
          </a:p>
        </p:txBody>
      </p:sp>
      <p:sp>
        <p:nvSpPr>
          <p:cNvPr id="27" name="Text 24"/>
          <p:cNvSpPr/>
          <p:nvPr/>
        </p:nvSpPr>
        <p:spPr>
          <a:xfrm>
            <a:off x="4672584" y="2240280"/>
            <a:ext cx="1901952" cy="292608"/>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Vijaykumar </a:t>
            </a:r>
            <a:r>
              <a:rPr lang="en-US" sz="1100" b="1" dirty="0" err="1">
                <a:solidFill>
                  <a:srgbClr val="FFFFFF"/>
                </a:solidFill>
                <a:latin typeface="Calibri" pitchFamily="34" charset="0"/>
                <a:ea typeface="Calibri" pitchFamily="34" charset="-122"/>
                <a:cs typeface="Calibri" pitchFamily="34" charset="-120"/>
              </a:rPr>
              <a:t>Yallappa</a:t>
            </a:r>
            <a:r>
              <a:rPr lang="en-US" sz="1100" b="1" dirty="0">
                <a:solidFill>
                  <a:srgbClr val="FFFFFF"/>
                </a:solidFill>
                <a:latin typeface="Calibri" pitchFamily="34" charset="0"/>
                <a:ea typeface="Calibri" pitchFamily="34" charset="-122"/>
                <a:cs typeface="Calibri" pitchFamily="34" charset="-120"/>
              </a:rPr>
              <a:t> </a:t>
            </a:r>
            <a:r>
              <a:rPr lang="en-US" sz="1100" b="1" dirty="0" err="1">
                <a:solidFill>
                  <a:srgbClr val="FFFFFF"/>
                </a:solidFill>
                <a:latin typeface="Calibri" pitchFamily="34" charset="0"/>
                <a:ea typeface="Calibri" pitchFamily="34" charset="-122"/>
                <a:cs typeface="Calibri" pitchFamily="34" charset="-120"/>
              </a:rPr>
              <a:t>Murkibhanvi</a:t>
            </a:r>
            <a:endParaRPr lang="en-US" sz="1100" dirty="0"/>
          </a:p>
        </p:txBody>
      </p:sp>
      <p:sp>
        <p:nvSpPr>
          <p:cNvPr id="28" name="Text 25"/>
          <p:cNvSpPr/>
          <p:nvPr/>
        </p:nvSpPr>
        <p:spPr>
          <a:xfrm>
            <a:off x="4672584" y="2542032"/>
            <a:ext cx="1901952" cy="228600"/>
          </a:xfrm>
          <a:prstGeom prst="rect">
            <a:avLst/>
          </a:prstGeom>
          <a:noFill/>
          <a:ln/>
        </p:spPr>
        <p:txBody>
          <a:bodyPr wrap="square" lIns="0" tIns="0" rIns="0" bIns="0" rtlCol="0" anchor="ctr"/>
          <a:lstStyle/>
          <a:p>
            <a:pPr marL="0" indent="0" algn="ctr">
              <a:buNone/>
            </a:pPr>
            <a:r>
              <a:rPr lang="en-US" sz="950" b="1" dirty="0">
                <a:solidFill>
                  <a:srgbClr val="2DC653"/>
                </a:solidFill>
                <a:latin typeface="Calibri" pitchFamily="34" charset="0"/>
                <a:ea typeface="Calibri" pitchFamily="34" charset="-122"/>
                <a:cs typeface="Calibri" pitchFamily="34" charset="-120"/>
              </a:rPr>
              <a:t>1RV24CS424</a:t>
            </a:r>
            <a:endParaRPr lang="en-US" sz="950" dirty="0"/>
          </a:p>
        </p:txBody>
      </p:sp>
      <p:sp>
        <p:nvSpPr>
          <p:cNvPr id="29" name="Text 26"/>
          <p:cNvSpPr/>
          <p:nvPr/>
        </p:nvSpPr>
        <p:spPr>
          <a:xfrm>
            <a:off x="4672584" y="2788920"/>
            <a:ext cx="1901952" cy="256032"/>
          </a:xfrm>
          <a:prstGeom prst="rect">
            <a:avLst/>
          </a:prstGeom>
          <a:noFill/>
          <a:ln/>
        </p:spPr>
        <p:txBody>
          <a:bodyPr wrap="square" lIns="0" tIns="0" rIns="0" bIns="0" rtlCol="0" anchor="ctr"/>
          <a:lstStyle/>
          <a:p>
            <a:pPr marL="0" indent="0" algn="ctr">
              <a:buNone/>
            </a:pPr>
            <a:r>
              <a:rPr lang="en-US" sz="850" dirty="0">
                <a:solidFill>
                  <a:srgbClr val="C8D6E5"/>
                </a:solidFill>
                <a:latin typeface="Calibri" pitchFamily="34" charset="0"/>
                <a:ea typeface="Calibri" pitchFamily="34" charset="-122"/>
                <a:cs typeface="Calibri" pitchFamily="34" charset="-120"/>
              </a:rPr>
              <a:t>CSE </a:t>
            </a:r>
            <a:endParaRPr lang="en-US" sz="850" dirty="0"/>
          </a:p>
        </p:txBody>
      </p:sp>
      <p:sp>
        <p:nvSpPr>
          <p:cNvPr id="30" name="Text 27"/>
          <p:cNvSpPr/>
          <p:nvPr/>
        </p:nvSpPr>
        <p:spPr>
          <a:xfrm>
            <a:off x="4672584" y="3090672"/>
            <a:ext cx="1901952" cy="384048"/>
          </a:xfrm>
          <a:prstGeom prst="rect">
            <a:avLst/>
          </a:prstGeom>
          <a:noFill/>
          <a:ln/>
        </p:spPr>
        <p:txBody>
          <a:bodyPr wrap="square" lIns="0" tIns="0" rIns="0" bIns="0" rtlCol="0" anchor="ctr"/>
          <a:lstStyle/>
          <a:p>
            <a:pPr marL="0" indent="0" algn="ctr">
              <a:buNone/>
            </a:pPr>
            <a:r>
              <a:rPr lang="en-US" sz="750" dirty="0">
                <a:solidFill>
                  <a:srgbClr val="7A8FA6"/>
                </a:solidFill>
                <a:latin typeface="Calibri" pitchFamily="34" charset="0"/>
                <a:ea typeface="Calibri" pitchFamily="34" charset="-122"/>
                <a:cs typeface="Calibri" pitchFamily="34" charset="-120"/>
              </a:rPr>
              <a:t>vijaykumarym.cs24@rvce.edu.in</a:t>
            </a:r>
            <a:endParaRPr lang="en-US" sz="750" dirty="0"/>
          </a:p>
        </p:txBody>
      </p:sp>
      <p:sp>
        <p:nvSpPr>
          <p:cNvPr id="31" name="Shape 28"/>
          <p:cNvSpPr/>
          <p:nvPr/>
        </p:nvSpPr>
        <p:spPr>
          <a:xfrm>
            <a:off x="6803136" y="1005840"/>
            <a:ext cx="1993392" cy="2651760"/>
          </a:xfrm>
          <a:prstGeom prst="rect">
            <a:avLst/>
          </a:prstGeom>
          <a:solidFill>
            <a:srgbClr val="2A3150"/>
          </a:solidFill>
          <a:ln/>
          <a:effectLst>
            <a:outerShdw blurRad="101600" dist="25400" dir="8100000" algn="bl" rotWithShape="0">
              <a:srgbClr val="000000">
                <a:alpha val="20000"/>
              </a:srgbClr>
            </a:outerShdw>
          </a:effectLst>
        </p:spPr>
        <p:txBody>
          <a:bodyPr/>
          <a:lstStyle/>
          <a:p>
            <a:endParaRPr lang="en-IN"/>
          </a:p>
        </p:txBody>
      </p:sp>
      <p:sp>
        <p:nvSpPr>
          <p:cNvPr id="32" name="Shape 29"/>
          <p:cNvSpPr/>
          <p:nvPr/>
        </p:nvSpPr>
        <p:spPr>
          <a:xfrm>
            <a:off x="6803136" y="1005840"/>
            <a:ext cx="1993392" cy="73152"/>
          </a:xfrm>
          <a:prstGeom prst="rect">
            <a:avLst/>
          </a:prstGeom>
          <a:solidFill>
            <a:srgbClr val="F4A261"/>
          </a:solidFill>
          <a:ln/>
        </p:spPr>
        <p:txBody>
          <a:bodyPr/>
          <a:lstStyle/>
          <a:p>
            <a:endParaRPr lang="en-IN"/>
          </a:p>
        </p:txBody>
      </p:sp>
      <p:sp>
        <p:nvSpPr>
          <p:cNvPr id="33" name="Shape 30"/>
          <p:cNvSpPr/>
          <p:nvPr/>
        </p:nvSpPr>
        <p:spPr>
          <a:xfrm>
            <a:off x="7342632" y="1207008"/>
            <a:ext cx="914400" cy="914400"/>
          </a:xfrm>
          <a:prstGeom prst="line">
            <a:avLst/>
          </a:prstGeom>
          <a:solidFill>
            <a:srgbClr val="F4A261"/>
          </a:solidFill>
          <a:ln/>
        </p:spPr>
        <p:txBody>
          <a:bodyPr/>
          <a:lstStyle/>
          <a:p>
            <a:endParaRPr lang="en-IN"/>
          </a:p>
        </p:txBody>
      </p:sp>
      <p:sp>
        <p:nvSpPr>
          <p:cNvPr id="34" name="Text 31"/>
          <p:cNvSpPr/>
          <p:nvPr/>
        </p:nvSpPr>
        <p:spPr>
          <a:xfrm>
            <a:off x="7342632" y="1207008"/>
            <a:ext cx="914400" cy="914400"/>
          </a:xfrm>
          <a:prstGeom prst="rect">
            <a:avLst/>
          </a:prstGeom>
          <a:noFill/>
          <a:ln/>
        </p:spPr>
        <p:txBody>
          <a:bodyPr wrap="square" lIns="0" tIns="0" rIns="0" bIns="0" rtlCol="0" anchor="ctr"/>
          <a:lstStyle/>
          <a:p>
            <a:pPr marL="0" indent="0" algn="ctr">
              <a:buNone/>
            </a:pPr>
            <a:r>
              <a:rPr lang="en-US" sz="2200" b="1" dirty="0">
                <a:solidFill>
                  <a:srgbClr val="FFFFFF"/>
                </a:solidFill>
                <a:latin typeface="Calibri Black" pitchFamily="34" charset="0"/>
                <a:ea typeface="Calibri Black" pitchFamily="34" charset="-122"/>
                <a:cs typeface="Calibri Black" pitchFamily="34" charset="-120"/>
              </a:rPr>
              <a:t>TR</a:t>
            </a:r>
            <a:endParaRPr lang="en-US" sz="2200" dirty="0"/>
          </a:p>
        </p:txBody>
      </p:sp>
      <p:sp>
        <p:nvSpPr>
          <p:cNvPr id="35" name="Text 32"/>
          <p:cNvSpPr/>
          <p:nvPr/>
        </p:nvSpPr>
        <p:spPr>
          <a:xfrm>
            <a:off x="6848856" y="2240280"/>
            <a:ext cx="1901952" cy="292608"/>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Tarun R</a:t>
            </a:r>
            <a:endParaRPr lang="en-US" sz="1100" dirty="0"/>
          </a:p>
        </p:txBody>
      </p:sp>
      <p:sp>
        <p:nvSpPr>
          <p:cNvPr id="36" name="Text 33"/>
          <p:cNvSpPr/>
          <p:nvPr/>
        </p:nvSpPr>
        <p:spPr>
          <a:xfrm>
            <a:off x="6848856" y="2542032"/>
            <a:ext cx="1901952" cy="228600"/>
          </a:xfrm>
          <a:prstGeom prst="rect">
            <a:avLst/>
          </a:prstGeom>
          <a:noFill/>
          <a:ln/>
        </p:spPr>
        <p:txBody>
          <a:bodyPr wrap="square" lIns="0" tIns="0" rIns="0" bIns="0" rtlCol="0" anchor="ctr"/>
          <a:lstStyle/>
          <a:p>
            <a:pPr marL="0" indent="0" algn="ctr">
              <a:buNone/>
            </a:pPr>
            <a:r>
              <a:rPr lang="en-US" sz="950" b="1" dirty="0">
                <a:solidFill>
                  <a:srgbClr val="F4A261"/>
                </a:solidFill>
                <a:latin typeface="Calibri" pitchFamily="34" charset="0"/>
                <a:ea typeface="Calibri" pitchFamily="34" charset="-122"/>
                <a:cs typeface="Calibri" pitchFamily="34" charset="-120"/>
              </a:rPr>
              <a:t>1RV23CS271</a:t>
            </a:r>
            <a:endParaRPr lang="en-US" sz="950" dirty="0"/>
          </a:p>
        </p:txBody>
      </p:sp>
      <p:sp>
        <p:nvSpPr>
          <p:cNvPr id="37" name="Text 34"/>
          <p:cNvSpPr/>
          <p:nvPr/>
        </p:nvSpPr>
        <p:spPr>
          <a:xfrm>
            <a:off x="6848856" y="2788920"/>
            <a:ext cx="1901952" cy="256032"/>
          </a:xfrm>
          <a:prstGeom prst="rect">
            <a:avLst/>
          </a:prstGeom>
          <a:noFill/>
          <a:ln/>
        </p:spPr>
        <p:txBody>
          <a:bodyPr wrap="square" lIns="0" tIns="0" rIns="0" bIns="0" rtlCol="0" anchor="ctr"/>
          <a:lstStyle/>
          <a:p>
            <a:pPr marL="0" indent="0" algn="ctr">
              <a:buNone/>
            </a:pPr>
            <a:r>
              <a:rPr lang="en-US" sz="850" dirty="0">
                <a:solidFill>
                  <a:srgbClr val="C8D6E5"/>
                </a:solidFill>
                <a:latin typeface="Calibri" pitchFamily="34" charset="0"/>
                <a:ea typeface="Calibri" pitchFamily="34" charset="-122"/>
                <a:cs typeface="Calibri" pitchFamily="34" charset="-120"/>
              </a:rPr>
              <a:t>CSE</a:t>
            </a:r>
            <a:endParaRPr lang="en-US" sz="850" dirty="0"/>
          </a:p>
        </p:txBody>
      </p:sp>
      <p:sp>
        <p:nvSpPr>
          <p:cNvPr id="38" name="Text 35"/>
          <p:cNvSpPr/>
          <p:nvPr/>
        </p:nvSpPr>
        <p:spPr>
          <a:xfrm>
            <a:off x="6848856" y="3090672"/>
            <a:ext cx="1901952" cy="384048"/>
          </a:xfrm>
          <a:prstGeom prst="rect">
            <a:avLst/>
          </a:prstGeom>
          <a:noFill/>
          <a:ln/>
        </p:spPr>
        <p:txBody>
          <a:bodyPr wrap="square" lIns="0" tIns="0" rIns="0" bIns="0" rtlCol="0" anchor="ctr"/>
          <a:lstStyle/>
          <a:p>
            <a:pPr marL="0" indent="0" algn="ctr">
              <a:buNone/>
            </a:pPr>
            <a:r>
              <a:rPr lang="en-US" sz="750" dirty="0">
                <a:solidFill>
                  <a:srgbClr val="7A8FA6"/>
                </a:solidFill>
                <a:latin typeface="Calibri" pitchFamily="34" charset="0"/>
                <a:ea typeface="Calibri" pitchFamily="34" charset="-122"/>
                <a:cs typeface="Calibri" pitchFamily="34" charset="-120"/>
              </a:rPr>
              <a:t>tarunr.cs23@rvce.edu.in</a:t>
            </a:r>
            <a:endParaRPr lang="en-US" sz="750" dirty="0"/>
          </a:p>
        </p:txBody>
      </p:sp>
      <p:sp>
        <p:nvSpPr>
          <p:cNvPr id="39" name="Shape 36"/>
          <p:cNvSpPr/>
          <p:nvPr/>
        </p:nvSpPr>
        <p:spPr>
          <a:xfrm>
            <a:off x="1371600" y="3840480"/>
            <a:ext cx="6400800" cy="1024128"/>
          </a:xfrm>
          <a:prstGeom prst="rect">
            <a:avLst/>
          </a:prstGeom>
          <a:solidFill>
            <a:srgbClr val="1E2640"/>
          </a:solidFill>
          <a:ln/>
        </p:spPr>
        <p:txBody>
          <a:bodyPr/>
          <a:lstStyle/>
          <a:p>
            <a:endParaRPr lang="en-IN"/>
          </a:p>
        </p:txBody>
      </p:sp>
      <p:sp>
        <p:nvSpPr>
          <p:cNvPr id="40" name="Shape 37"/>
          <p:cNvSpPr/>
          <p:nvPr/>
        </p:nvSpPr>
        <p:spPr>
          <a:xfrm>
            <a:off x="1371600" y="3840480"/>
            <a:ext cx="54864" cy="1024128"/>
          </a:xfrm>
          <a:prstGeom prst="rect">
            <a:avLst/>
          </a:prstGeom>
          <a:solidFill>
            <a:srgbClr val="E63946"/>
          </a:solidFill>
          <a:ln/>
        </p:spPr>
        <p:txBody>
          <a:bodyPr/>
          <a:lstStyle/>
          <a:p>
            <a:endParaRPr lang="en-IN"/>
          </a:p>
        </p:txBody>
      </p:sp>
      <p:sp>
        <p:nvSpPr>
          <p:cNvPr id="41" name="Text 38"/>
          <p:cNvSpPr/>
          <p:nvPr/>
        </p:nvSpPr>
        <p:spPr>
          <a:xfrm>
            <a:off x="1554480" y="3886200"/>
            <a:ext cx="1097280" cy="274320"/>
          </a:xfrm>
          <a:prstGeom prst="rect">
            <a:avLst/>
          </a:prstGeom>
          <a:noFill/>
          <a:ln/>
        </p:spPr>
        <p:txBody>
          <a:bodyPr wrap="square" lIns="0" tIns="0" rIns="0" bIns="0" rtlCol="0" anchor="ctr"/>
          <a:lstStyle/>
          <a:p>
            <a:pPr marL="0" indent="0">
              <a:buNone/>
            </a:pPr>
            <a:r>
              <a:rPr lang="en-US" sz="1100" b="1" dirty="0">
                <a:solidFill>
                  <a:srgbClr val="E63946"/>
                </a:solidFill>
                <a:latin typeface="Calibri" pitchFamily="34" charset="0"/>
                <a:ea typeface="Calibri" pitchFamily="34" charset="-122"/>
                <a:cs typeface="Calibri" pitchFamily="34" charset="-120"/>
              </a:rPr>
              <a:t>MENTOR</a:t>
            </a:r>
            <a:endParaRPr lang="en-US" sz="1100" dirty="0"/>
          </a:p>
        </p:txBody>
      </p:sp>
      <p:sp>
        <p:nvSpPr>
          <p:cNvPr id="42" name="Text 39"/>
          <p:cNvSpPr/>
          <p:nvPr/>
        </p:nvSpPr>
        <p:spPr>
          <a:xfrm>
            <a:off x="1554480" y="4187952"/>
            <a:ext cx="4114800" cy="274320"/>
          </a:xfrm>
          <a:prstGeom prst="rect">
            <a:avLst/>
          </a:prstGeom>
          <a:noFill/>
          <a:ln/>
        </p:spPr>
        <p:txBody>
          <a:bodyPr wrap="square" lIns="0" tIns="0" rIns="0" bIns="0"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Dr. Sunil S</a:t>
            </a:r>
            <a:endParaRPr lang="en-US" sz="1300" dirty="0"/>
          </a:p>
        </p:txBody>
      </p:sp>
      <p:sp>
        <p:nvSpPr>
          <p:cNvPr id="43" name="Text 40"/>
          <p:cNvSpPr/>
          <p:nvPr/>
        </p:nvSpPr>
        <p:spPr>
          <a:xfrm>
            <a:off x="1554480" y="4480560"/>
            <a:ext cx="6035040" cy="274320"/>
          </a:xfrm>
          <a:prstGeom prst="rect">
            <a:avLst/>
          </a:prstGeom>
          <a:noFill/>
          <a:ln/>
        </p:spPr>
        <p:txBody>
          <a:bodyPr wrap="square" lIns="0" tIns="0" rIns="0" bIns="0" rtlCol="0" anchor="ctr"/>
          <a:lstStyle/>
          <a:p>
            <a:pPr marL="0" indent="0">
              <a:buNone/>
            </a:pPr>
            <a:r>
              <a:rPr lang="en-US" sz="950" dirty="0">
                <a:solidFill>
                  <a:srgbClr val="C8D6E5"/>
                </a:solidFill>
                <a:latin typeface="Calibri" pitchFamily="34" charset="0"/>
                <a:ea typeface="Calibri" pitchFamily="34" charset="-122"/>
                <a:cs typeface="Calibri" pitchFamily="34" charset="-120"/>
              </a:rPr>
              <a:t>Department of Civil Engineering  |  RV College of Engineering, Bengaluru-560059</a:t>
            </a:r>
            <a:endParaRPr lang="en-US" sz="950" dirty="0"/>
          </a:p>
        </p:txBody>
      </p:sp>
      <p:pic>
        <p:nvPicPr>
          <p:cNvPr id="44" name="Picture 43">
            <a:extLst>
              <a:ext uri="{FF2B5EF4-FFF2-40B4-BE49-F238E27FC236}">
                <a16:creationId xmlns:a16="http://schemas.microsoft.com/office/drawing/2014/main" id="{167DE81F-4D8D-8436-F960-30AA46A51E03}"/>
              </a:ext>
            </a:extLst>
          </p:cNvPr>
          <p:cNvPicPr>
            <a:picLocks noChangeAspect="1"/>
          </p:cNvPicPr>
          <p:nvPr/>
        </p:nvPicPr>
        <p:blipFill>
          <a:blip r:embed="rId3"/>
          <a:stretch>
            <a:fillRect/>
          </a:stretch>
        </p:blipFill>
        <p:spPr>
          <a:xfrm>
            <a:off x="91440" y="128016"/>
            <a:ext cx="1700784" cy="728907"/>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1A1F2E"/>
        </a:solidFill>
        <a:effectLst/>
      </p:bgPr>
    </p:bg>
    <p:spTree>
      <p:nvGrpSpPr>
        <p:cNvPr id="1" name=""/>
        <p:cNvGrpSpPr/>
        <p:nvPr/>
      </p:nvGrpSpPr>
      <p:grpSpPr>
        <a:xfrm>
          <a:off x="0" y="0"/>
          <a:ext cx="0" cy="0"/>
          <a:chOff x="0" y="0"/>
          <a:chExt cx="0" cy="0"/>
        </a:xfrm>
      </p:grpSpPr>
      <p:sp>
        <p:nvSpPr>
          <p:cNvPr id="2" name="Shape 0"/>
          <p:cNvSpPr/>
          <p:nvPr/>
        </p:nvSpPr>
        <p:spPr>
          <a:xfrm>
            <a:off x="0" y="0"/>
            <a:ext cx="9144000" cy="64008"/>
          </a:xfrm>
          <a:prstGeom prst="rect">
            <a:avLst/>
          </a:prstGeom>
          <a:solidFill>
            <a:srgbClr val="E63946"/>
          </a:solidFill>
          <a:ln/>
        </p:spPr>
        <p:txBody>
          <a:bodyPr/>
          <a:lstStyle/>
          <a:p>
            <a:endParaRPr lang="en-IN"/>
          </a:p>
        </p:txBody>
      </p:sp>
      <p:sp>
        <p:nvSpPr>
          <p:cNvPr id="3" name="Shape 1"/>
          <p:cNvSpPr/>
          <p:nvPr/>
        </p:nvSpPr>
        <p:spPr>
          <a:xfrm>
            <a:off x="0" y="64008"/>
            <a:ext cx="9144000" cy="658368"/>
          </a:xfrm>
          <a:prstGeom prst="rect">
            <a:avLst/>
          </a:prstGeom>
          <a:solidFill>
            <a:srgbClr val="2A3150"/>
          </a:solidFill>
          <a:ln/>
        </p:spPr>
        <p:txBody>
          <a:bodyPr/>
          <a:lstStyle/>
          <a:p>
            <a:endParaRPr lang="en-IN"/>
          </a:p>
        </p:txBody>
      </p:sp>
      <p:sp>
        <p:nvSpPr>
          <p:cNvPr id="5" name="Text 2"/>
          <p:cNvSpPr/>
          <p:nvPr/>
        </p:nvSpPr>
        <p:spPr>
          <a:xfrm>
            <a:off x="2011680" y="91440"/>
            <a:ext cx="5029200" cy="548640"/>
          </a:xfrm>
          <a:prstGeom prst="rect">
            <a:avLst/>
          </a:prstGeom>
          <a:noFill/>
          <a:ln/>
        </p:spPr>
        <p:txBody>
          <a:bodyPr wrap="square" lIns="0" tIns="0" rIns="0" bIns="0" rtlCol="0" anchor="ctr"/>
          <a:lstStyle/>
          <a:p>
            <a:pPr marL="0" indent="0">
              <a:buNone/>
            </a:pPr>
            <a:r>
              <a:rPr lang="en-US" sz="2000" b="1" dirty="0">
                <a:solidFill>
                  <a:srgbClr val="FFFFFF"/>
                </a:solidFill>
                <a:latin typeface="Calibri" pitchFamily="34" charset="0"/>
                <a:ea typeface="Calibri" pitchFamily="34" charset="-122"/>
                <a:cs typeface="Calibri" pitchFamily="34" charset="-120"/>
              </a:rPr>
              <a:t>Contents</a:t>
            </a:r>
            <a:endParaRPr lang="en-US" sz="2000" dirty="0"/>
          </a:p>
        </p:txBody>
      </p:sp>
      <p:sp>
        <p:nvSpPr>
          <p:cNvPr id="6" name="Text 3"/>
          <p:cNvSpPr/>
          <p:nvPr/>
        </p:nvSpPr>
        <p:spPr>
          <a:xfrm>
            <a:off x="6858000" y="109728"/>
            <a:ext cx="2103120" cy="502920"/>
          </a:xfrm>
          <a:prstGeom prst="rect">
            <a:avLst/>
          </a:prstGeom>
          <a:noFill/>
          <a:ln/>
        </p:spPr>
        <p:txBody>
          <a:bodyPr wrap="square" lIns="0" tIns="0" rIns="0" bIns="0" rtlCol="0" anchor="ctr"/>
          <a:lstStyle/>
          <a:p>
            <a:pPr marL="0" indent="0" algn="r">
              <a:buNone/>
            </a:pPr>
            <a:r>
              <a:rPr lang="en-US" sz="1000" i="1" dirty="0">
                <a:solidFill>
                  <a:srgbClr val="7A8FA6"/>
                </a:solidFill>
                <a:latin typeface="Georgia" pitchFamily="34" charset="0"/>
                <a:ea typeface="Georgia" pitchFamily="34" charset="-122"/>
                <a:cs typeface="Georgia" pitchFamily="34" charset="-120"/>
              </a:rPr>
              <a:t>Go, change the world</a:t>
            </a:r>
            <a:endParaRPr lang="en-US" sz="1000" dirty="0"/>
          </a:p>
        </p:txBody>
      </p:sp>
      <p:sp>
        <p:nvSpPr>
          <p:cNvPr id="7" name="Shape 4"/>
          <p:cNvSpPr/>
          <p:nvPr/>
        </p:nvSpPr>
        <p:spPr>
          <a:xfrm>
            <a:off x="457200" y="914400"/>
            <a:ext cx="274320" cy="274320"/>
          </a:xfrm>
          <a:prstGeom prst="rect">
            <a:avLst/>
          </a:prstGeom>
          <a:solidFill>
            <a:srgbClr val="E63946"/>
          </a:solidFill>
          <a:ln/>
        </p:spPr>
        <p:txBody>
          <a:bodyPr/>
          <a:lstStyle/>
          <a:p>
            <a:endParaRPr lang="en-IN"/>
          </a:p>
        </p:txBody>
      </p:sp>
      <p:sp>
        <p:nvSpPr>
          <p:cNvPr id="8" name="Text 5"/>
          <p:cNvSpPr/>
          <p:nvPr/>
        </p:nvSpPr>
        <p:spPr>
          <a:xfrm>
            <a:off x="457200" y="914400"/>
            <a:ext cx="274320" cy="274320"/>
          </a:xfrm>
          <a:prstGeom prst="rect">
            <a:avLst/>
          </a:prstGeom>
          <a:noFill/>
          <a:ln/>
        </p:spPr>
        <p:txBody>
          <a:bodyPr wrap="square" lIns="0" tIns="0" rIns="0" bIns="0" rtlCol="0" anchor="ctr"/>
          <a:lstStyle/>
          <a:p>
            <a:pPr marL="0" indent="0" algn="ctr">
              <a:buNone/>
            </a:pPr>
            <a:r>
              <a:rPr lang="en-US" sz="1000" b="1" dirty="0">
                <a:solidFill>
                  <a:srgbClr val="FFFFFF"/>
                </a:solidFill>
              </a:rPr>
              <a:t>1</a:t>
            </a:r>
            <a:endParaRPr lang="en-US" sz="1000" dirty="0"/>
          </a:p>
        </p:txBody>
      </p:sp>
      <p:sp>
        <p:nvSpPr>
          <p:cNvPr id="9" name="Text 6"/>
          <p:cNvSpPr/>
          <p:nvPr/>
        </p:nvSpPr>
        <p:spPr>
          <a:xfrm>
            <a:off x="822960" y="914400"/>
            <a:ext cx="3749040" cy="274320"/>
          </a:xfrm>
          <a:prstGeom prst="rect">
            <a:avLst/>
          </a:prstGeom>
          <a:noFill/>
          <a:ln/>
        </p:spPr>
        <p:txBody>
          <a:bodyPr wrap="square" lIns="0" tIns="0" rIns="0" bIns="0" rtlCol="0" anchor="ctr"/>
          <a:lstStyle/>
          <a:p>
            <a:pPr marL="0" indent="0">
              <a:buNone/>
            </a:pPr>
            <a:r>
              <a:rPr lang="en-US" sz="1300" dirty="0">
                <a:solidFill>
                  <a:srgbClr val="C8D6E5"/>
                </a:solidFill>
                <a:latin typeface="Calibri" pitchFamily="34" charset="0"/>
                <a:ea typeface="Calibri" pitchFamily="34" charset="-122"/>
                <a:cs typeface="Calibri" pitchFamily="34" charset="-120"/>
              </a:rPr>
              <a:t>Introduction</a:t>
            </a:r>
            <a:endParaRPr lang="en-US" sz="1300" dirty="0"/>
          </a:p>
        </p:txBody>
      </p:sp>
      <p:sp>
        <p:nvSpPr>
          <p:cNvPr id="10" name="Shape 7"/>
          <p:cNvSpPr/>
          <p:nvPr/>
        </p:nvSpPr>
        <p:spPr>
          <a:xfrm>
            <a:off x="457200" y="1298448"/>
            <a:ext cx="274320" cy="274320"/>
          </a:xfrm>
          <a:prstGeom prst="rect">
            <a:avLst/>
          </a:prstGeom>
          <a:solidFill>
            <a:srgbClr val="E63946"/>
          </a:solidFill>
          <a:ln/>
        </p:spPr>
        <p:txBody>
          <a:bodyPr/>
          <a:lstStyle/>
          <a:p>
            <a:endParaRPr lang="en-IN"/>
          </a:p>
        </p:txBody>
      </p:sp>
      <p:sp>
        <p:nvSpPr>
          <p:cNvPr id="11" name="Text 8"/>
          <p:cNvSpPr/>
          <p:nvPr/>
        </p:nvSpPr>
        <p:spPr>
          <a:xfrm>
            <a:off x="457200" y="1298448"/>
            <a:ext cx="274320" cy="274320"/>
          </a:xfrm>
          <a:prstGeom prst="rect">
            <a:avLst/>
          </a:prstGeom>
          <a:noFill/>
          <a:ln/>
        </p:spPr>
        <p:txBody>
          <a:bodyPr wrap="square" lIns="0" tIns="0" rIns="0" bIns="0" rtlCol="0" anchor="ctr"/>
          <a:lstStyle/>
          <a:p>
            <a:pPr marL="0" indent="0" algn="ctr">
              <a:buNone/>
            </a:pPr>
            <a:r>
              <a:rPr lang="en-US" sz="1000" b="1" dirty="0">
                <a:solidFill>
                  <a:srgbClr val="FFFFFF"/>
                </a:solidFill>
              </a:rPr>
              <a:t>2</a:t>
            </a:r>
            <a:endParaRPr lang="en-US" sz="1000" dirty="0"/>
          </a:p>
        </p:txBody>
      </p:sp>
      <p:sp>
        <p:nvSpPr>
          <p:cNvPr id="12" name="Text 9"/>
          <p:cNvSpPr/>
          <p:nvPr/>
        </p:nvSpPr>
        <p:spPr>
          <a:xfrm>
            <a:off x="822960" y="1298448"/>
            <a:ext cx="3749040" cy="274320"/>
          </a:xfrm>
          <a:prstGeom prst="rect">
            <a:avLst/>
          </a:prstGeom>
          <a:noFill/>
          <a:ln/>
        </p:spPr>
        <p:txBody>
          <a:bodyPr wrap="square" lIns="0" tIns="0" rIns="0" bIns="0" rtlCol="0" anchor="ctr"/>
          <a:lstStyle/>
          <a:p>
            <a:pPr marL="0" indent="0">
              <a:buNone/>
            </a:pPr>
            <a:r>
              <a:rPr lang="en-US" sz="1300" dirty="0">
                <a:solidFill>
                  <a:srgbClr val="C8D6E5"/>
                </a:solidFill>
                <a:latin typeface="Calibri" pitchFamily="34" charset="0"/>
                <a:ea typeface="Calibri" pitchFamily="34" charset="-122"/>
                <a:cs typeface="Calibri" pitchFamily="34" charset="-120"/>
              </a:rPr>
              <a:t>Existing Systems &amp; Research Gap</a:t>
            </a:r>
            <a:endParaRPr lang="en-US" sz="1300" dirty="0"/>
          </a:p>
        </p:txBody>
      </p:sp>
      <p:sp>
        <p:nvSpPr>
          <p:cNvPr id="13" name="Shape 10"/>
          <p:cNvSpPr/>
          <p:nvPr/>
        </p:nvSpPr>
        <p:spPr>
          <a:xfrm>
            <a:off x="457200" y="1682496"/>
            <a:ext cx="274320" cy="274320"/>
          </a:xfrm>
          <a:prstGeom prst="rect">
            <a:avLst/>
          </a:prstGeom>
          <a:solidFill>
            <a:srgbClr val="E63946"/>
          </a:solidFill>
          <a:ln/>
        </p:spPr>
        <p:txBody>
          <a:bodyPr/>
          <a:lstStyle/>
          <a:p>
            <a:endParaRPr lang="en-IN"/>
          </a:p>
        </p:txBody>
      </p:sp>
      <p:sp>
        <p:nvSpPr>
          <p:cNvPr id="14" name="Text 11"/>
          <p:cNvSpPr/>
          <p:nvPr/>
        </p:nvSpPr>
        <p:spPr>
          <a:xfrm>
            <a:off x="457200" y="1682496"/>
            <a:ext cx="274320" cy="274320"/>
          </a:xfrm>
          <a:prstGeom prst="rect">
            <a:avLst/>
          </a:prstGeom>
          <a:noFill/>
          <a:ln/>
        </p:spPr>
        <p:txBody>
          <a:bodyPr wrap="square" lIns="0" tIns="0" rIns="0" bIns="0" rtlCol="0" anchor="ctr"/>
          <a:lstStyle/>
          <a:p>
            <a:pPr marL="0" indent="0" algn="ctr">
              <a:buNone/>
            </a:pPr>
            <a:r>
              <a:rPr lang="en-US" sz="1000" b="1" dirty="0">
                <a:solidFill>
                  <a:srgbClr val="FFFFFF"/>
                </a:solidFill>
              </a:rPr>
              <a:t>3</a:t>
            </a:r>
            <a:endParaRPr lang="en-US" sz="1000" dirty="0"/>
          </a:p>
        </p:txBody>
      </p:sp>
      <p:sp>
        <p:nvSpPr>
          <p:cNvPr id="15" name="Text 12"/>
          <p:cNvSpPr/>
          <p:nvPr/>
        </p:nvSpPr>
        <p:spPr>
          <a:xfrm>
            <a:off x="822960" y="1682496"/>
            <a:ext cx="3749040" cy="274320"/>
          </a:xfrm>
          <a:prstGeom prst="rect">
            <a:avLst/>
          </a:prstGeom>
          <a:noFill/>
          <a:ln/>
        </p:spPr>
        <p:txBody>
          <a:bodyPr wrap="square" lIns="0" tIns="0" rIns="0" bIns="0" rtlCol="0" anchor="ctr"/>
          <a:lstStyle/>
          <a:p>
            <a:pPr marL="0" indent="0">
              <a:buNone/>
            </a:pPr>
            <a:r>
              <a:rPr lang="en-US" sz="1300" dirty="0">
                <a:solidFill>
                  <a:srgbClr val="C8D6E5"/>
                </a:solidFill>
                <a:latin typeface="Calibri" pitchFamily="34" charset="0"/>
                <a:ea typeface="Calibri" pitchFamily="34" charset="-122"/>
                <a:cs typeface="Calibri" pitchFamily="34" charset="-120"/>
              </a:rPr>
              <a:t>Identification of Problem</a:t>
            </a:r>
            <a:endParaRPr lang="en-US" sz="1300" dirty="0"/>
          </a:p>
        </p:txBody>
      </p:sp>
      <p:sp>
        <p:nvSpPr>
          <p:cNvPr id="16" name="Shape 13"/>
          <p:cNvSpPr/>
          <p:nvPr/>
        </p:nvSpPr>
        <p:spPr>
          <a:xfrm>
            <a:off x="457200" y="2066544"/>
            <a:ext cx="274320" cy="274320"/>
          </a:xfrm>
          <a:prstGeom prst="rect">
            <a:avLst/>
          </a:prstGeom>
          <a:solidFill>
            <a:srgbClr val="E63946"/>
          </a:solidFill>
          <a:ln/>
        </p:spPr>
        <p:txBody>
          <a:bodyPr/>
          <a:lstStyle/>
          <a:p>
            <a:endParaRPr lang="en-IN"/>
          </a:p>
        </p:txBody>
      </p:sp>
      <p:sp>
        <p:nvSpPr>
          <p:cNvPr id="17" name="Text 14"/>
          <p:cNvSpPr/>
          <p:nvPr/>
        </p:nvSpPr>
        <p:spPr>
          <a:xfrm>
            <a:off x="457200" y="2066544"/>
            <a:ext cx="274320" cy="274320"/>
          </a:xfrm>
          <a:prstGeom prst="rect">
            <a:avLst/>
          </a:prstGeom>
          <a:noFill/>
          <a:ln/>
        </p:spPr>
        <p:txBody>
          <a:bodyPr wrap="square" lIns="0" tIns="0" rIns="0" bIns="0" rtlCol="0" anchor="ctr"/>
          <a:lstStyle/>
          <a:p>
            <a:pPr marL="0" indent="0" algn="ctr">
              <a:buNone/>
            </a:pPr>
            <a:r>
              <a:rPr lang="en-US" sz="1000" b="1" dirty="0">
                <a:solidFill>
                  <a:srgbClr val="FFFFFF"/>
                </a:solidFill>
              </a:rPr>
              <a:t>4</a:t>
            </a:r>
            <a:endParaRPr lang="en-US" sz="1000" dirty="0"/>
          </a:p>
        </p:txBody>
      </p:sp>
      <p:sp>
        <p:nvSpPr>
          <p:cNvPr id="18" name="Text 15"/>
          <p:cNvSpPr/>
          <p:nvPr/>
        </p:nvSpPr>
        <p:spPr>
          <a:xfrm>
            <a:off x="822960" y="2066544"/>
            <a:ext cx="3749040" cy="274320"/>
          </a:xfrm>
          <a:prstGeom prst="rect">
            <a:avLst/>
          </a:prstGeom>
          <a:noFill/>
          <a:ln/>
        </p:spPr>
        <p:txBody>
          <a:bodyPr wrap="square" lIns="0" tIns="0" rIns="0" bIns="0" rtlCol="0" anchor="ctr"/>
          <a:lstStyle/>
          <a:p>
            <a:pPr marL="0" indent="0">
              <a:buNone/>
            </a:pPr>
            <a:r>
              <a:rPr lang="en-US" sz="1300" dirty="0">
                <a:solidFill>
                  <a:srgbClr val="C8D6E5"/>
                </a:solidFill>
                <a:latin typeface="Calibri" pitchFamily="34" charset="0"/>
                <a:ea typeface="Calibri" pitchFamily="34" charset="-122"/>
                <a:cs typeface="Calibri" pitchFamily="34" charset="-120"/>
              </a:rPr>
              <a:t>Literature Review</a:t>
            </a:r>
            <a:endParaRPr lang="en-US" sz="1300" dirty="0"/>
          </a:p>
        </p:txBody>
      </p:sp>
      <p:sp>
        <p:nvSpPr>
          <p:cNvPr id="19" name="Shape 16"/>
          <p:cNvSpPr/>
          <p:nvPr/>
        </p:nvSpPr>
        <p:spPr>
          <a:xfrm>
            <a:off x="457200" y="2450592"/>
            <a:ext cx="274320" cy="274320"/>
          </a:xfrm>
          <a:prstGeom prst="rect">
            <a:avLst/>
          </a:prstGeom>
          <a:solidFill>
            <a:srgbClr val="E63946"/>
          </a:solidFill>
          <a:ln/>
        </p:spPr>
        <p:txBody>
          <a:bodyPr/>
          <a:lstStyle/>
          <a:p>
            <a:endParaRPr lang="en-IN"/>
          </a:p>
        </p:txBody>
      </p:sp>
      <p:sp>
        <p:nvSpPr>
          <p:cNvPr id="20" name="Text 17"/>
          <p:cNvSpPr/>
          <p:nvPr/>
        </p:nvSpPr>
        <p:spPr>
          <a:xfrm>
            <a:off x="457200" y="2450592"/>
            <a:ext cx="274320" cy="274320"/>
          </a:xfrm>
          <a:prstGeom prst="rect">
            <a:avLst/>
          </a:prstGeom>
          <a:noFill/>
          <a:ln/>
        </p:spPr>
        <p:txBody>
          <a:bodyPr wrap="square" lIns="0" tIns="0" rIns="0" bIns="0" rtlCol="0" anchor="ctr"/>
          <a:lstStyle/>
          <a:p>
            <a:pPr marL="0" indent="0" algn="ctr">
              <a:buNone/>
            </a:pPr>
            <a:r>
              <a:rPr lang="en-US" sz="1000" b="1" dirty="0">
                <a:solidFill>
                  <a:srgbClr val="FFFFFF"/>
                </a:solidFill>
              </a:rPr>
              <a:t>5</a:t>
            </a:r>
            <a:endParaRPr lang="en-US" sz="1000" dirty="0"/>
          </a:p>
        </p:txBody>
      </p:sp>
      <p:sp>
        <p:nvSpPr>
          <p:cNvPr id="21" name="Text 18"/>
          <p:cNvSpPr/>
          <p:nvPr/>
        </p:nvSpPr>
        <p:spPr>
          <a:xfrm>
            <a:off x="822960" y="2450592"/>
            <a:ext cx="3749040" cy="274320"/>
          </a:xfrm>
          <a:prstGeom prst="rect">
            <a:avLst/>
          </a:prstGeom>
          <a:noFill/>
          <a:ln/>
        </p:spPr>
        <p:txBody>
          <a:bodyPr wrap="square" lIns="0" tIns="0" rIns="0" bIns="0" rtlCol="0" anchor="ctr"/>
          <a:lstStyle/>
          <a:p>
            <a:pPr marL="0" indent="0">
              <a:buNone/>
            </a:pPr>
            <a:r>
              <a:rPr lang="en-US" sz="1300" dirty="0">
                <a:solidFill>
                  <a:srgbClr val="C8D6E5"/>
                </a:solidFill>
                <a:latin typeface="Calibri" pitchFamily="34" charset="0"/>
                <a:ea typeface="Calibri" pitchFamily="34" charset="-122"/>
                <a:cs typeface="Calibri" pitchFamily="34" charset="-120"/>
              </a:rPr>
              <a:t>Problem Definition</a:t>
            </a:r>
            <a:endParaRPr lang="en-US" sz="1300" dirty="0"/>
          </a:p>
        </p:txBody>
      </p:sp>
      <p:sp>
        <p:nvSpPr>
          <p:cNvPr id="22" name="Shape 19"/>
          <p:cNvSpPr/>
          <p:nvPr/>
        </p:nvSpPr>
        <p:spPr>
          <a:xfrm>
            <a:off x="457200" y="2834640"/>
            <a:ext cx="274320" cy="274320"/>
          </a:xfrm>
          <a:prstGeom prst="rect">
            <a:avLst/>
          </a:prstGeom>
          <a:solidFill>
            <a:srgbClr val="E63946"/>
          </a:solidFill>
          <a:ln/>
        </p:spPr>
        <p:txBody>
          <a:bodyPr/>
          <a:lstStyle/>
          <a:p>
            <a:endParaRPr lang="en-IN"/>
          </a:p>
        </p:txBody>
      </p:sp>
      <p:sp>
        <p:nvSpPr>
          <p:cNvPr id="23" name="Text 20"/>
          <p:cNvSpPr/>
          <p:nvPr/>
        </p:nvSpPr>
        <p:spPr>
          <a:xfrm>
            <a:off x="457200" y="2834640"/>
            <a:ext cx="274320" cy="274320"/>
          </a:xfrm>
          <a:prstGeom prst="rect">
            <a:avLst/>
          </a:prstGeom>
          <a:noFill/>
          <a:ln/>
        </p:spPr>
        <p:txBody>
          <a:bodyPr wrap="square" lIns="0" tIns="0" rIns="0" bIns="0" rtlCol="0" anchor="ctr"/>
          <a:lstStyle/>
          <a:p>
            <a:pPr marL="0" indent="0" algn="ctr">
              <a:buNone/>
            </a:pPr>
            <a:r>
              <a:rPr lang="en-US" sz="1000" b="1" dirty="0">
                <a:solidFill>
                  <a:srgbClr val="FFFFFF"/>
                </a:solidFill>
              </a:rPr>
              <a:t>6</a:t>
            </a:r>
            <a:endParaRPr lang="en-US" sz="1000" dirty="0"/>
          </a:p>
        </p:txBody>
      </p:sp>
      <p:sp>
        <p:nvSpPr>
          <p:cNvPr id="24" name="Text 21"/>
          <p:cNvSpPr/>
          <p:nvPr/>
        </p:nvSpPr>
        <p:spPr>
          <a:xfrm>
            <a:off x="822960" y="2834640"/>
            <a:ext cx="3749040" cy="274320"/>
          </a:xfrm>
          <a:prstGeom prst="rect">
            <a:avLst/>
          </a:prstGeom>
          <a:noFill/>
          <a:ln/>
        </p:spPr>
        <p:txBody>
          <a:bodyPr wrap="square" lIns="0" tIns="0" rIns="0" bIns="0" rtlCol="0" anchor="ctr"/>
          <a:lstStyle/>
          <a:p>
            <a:pPr marL="0" indent="0">
              <a:buNone/>
            </a:pPr>
            <a:r>
              <a:rPr lang="en-US" sz="1300" dirty="0">
                <a:solidFill>
                  <a:srgbClr val="C8D6E5"/>
                </a:solidFill>
                <a:latin typeface="Calibri" pitchFamily="34" charset="0"/>
                <a:ea typeface="Calibri" pitchFamily="34" charset="-122"/>
                <a:cs typeface="Calibri" pitchFamily="34" charset="-120"/>
              </a:rPr>
              <a:t>Objectives</a:t>
            </a:r>
            <a:endParaRPr lang="en-US" sz="1300" dirty="0"/>
          </a:p>
        </p:txBody>
      </p:sp>
      <p:sp>
        <p:nvSpPr>
          <p:cNvPr id="25" name="Shape 22"/>
          <p:cNvSpPr/>
          <p:nvPr/>
        </p:nvSpPr>
        <p:spPr>
          <a:xfrm>
            <a:off x="4846320" y="914400"/>
            <a:ext cx="274320" cy="274320"/>
          </a:xfrm>
          <a:prstGeom prst="rect">
            <a:avLst/>
          </a:prstGeom>
          <a:solidFill>
            <a:srgbClr val="E63946"/>
          </a:solidFill>
          <a:ln/>
        </p:spPr>
        <p:txBody>
          <a:bodyPr/>
          <a:lstStyle/>
          <a:p>
            <a:endParaRPr lang="en-IN"/>
          </a:p>
        </p:txBody>
      </p:sp>
      <p:sp>
        <p:nvSpPr>
          <p:cNvPr id="26" name="Text 23"/>
          <p:cNvSpPr/>
          <p:nvPr/>
        </p:nvSpPr>
        <p:spPr>
          <a:xfrm>
            <a:off x="4846320" y="914400"/>
            <a:ext cx="274320" cy="274320"/>
          </a:xfrm>
          <a:prstGeom prst="rect">
            <a:avLst/>
          </a:prstGeom>
          <a:noFill/>
          <a:ln/>
        </p:spPr>
        <p:txBody>
          <a:bodyPr wrap="square" lIns="0" tIns="0" rIns="0" bIns="0" rtlCol="0" anchor="ctr"/>
          <a:lstStyle/>
          <a:p>
            <a:pPr marL="0" indent="0" algn="ctr">
              <a:buNone/>
            </a:pPr>
            <a:r>
              <a:rPr lang="en-US" sz="1000" b="1" dirty="0">
                <a:solidFill>
                  <a:srgbClr val="FFFFFF"/>
                </a:solidFill>
              </a:rPr>
              <a:t>7</a:t>
            </a:r>
            <a:endParaRPr lang="en-US" sz="1000" dirty="0"/>
          </a:p>
        </p:txBody>
      </p:sp>
      <p:sp>
        <p:nvSpPr>
          <p:cNvPr id="27" name="Text 24"/>
          <p:cNvSpPr/>
          <p:nvPr/>
        </p:nvSpPr>
        <p:spPr>
          <a:xfrm>
            <a:off x="5212080" y="914400"/>
            <a:ext cx="3749040" cy="274320"/>
          </a:xfrm>
          <a:prstGeom prst="rect">
            <a:avLst/>
          </a:prstGeom>
          <a:noFill/>
          <a:ln/>
        </p:spPr>
        <p:txBody>
          <a:bodyPr wrap="square" lIns="0" tIns="0" rIns="0" bIns="0" rtlCol="0" anchor="ctr"/>
          <a:lstStyle/>
          <a:p>
            <a:pPr marL="0" indent="0">
              <a:buNone/>
            </a:pPr>
            <a:r>
              <a:rPr lang="en-US" sz="1300" dirty="0">
                <a:solidFill>
                  <a:srgbClr val="C8D6E5"/>
                </a:solidFill>
                <a:latin typeface="Calibri" pitchFamily="34" charset="0"/>
                <a:ea typeface="Calibri" pitchFamily="34" charset="-122"/>
                <a:cs typeface="Calibri" pitchFamily="34" charset="-120"/>
              </a:rPr>
              <a:t>Methodology</a:t>
            </a:r>
            <a:endParaRPr lang="en-US" sz="1300" dirty="0"/>
          </a:p>
        </p:txBody>
      </p:sp>
      <p:sp>
        <p:nvSpPr>
          <p:cNvPr id="28" name="Shape 25"/>
          <p:cNvSpPr/>
          <p:nvPr/>
        </p:nvSpPr>
        <p:spPr>
          <a:xfrm>
            <a:off x="4846320" y="1298448"/>
            <a:ext cx="274320" cy="274320"/>
          </a:xfrm>
          <a:prstGeom prst="rect">
            <a:avLst/>
          </a:prstGeom>
          <a:solidFill>
            <a:srgbClr val="E63946"/>
          </a:solidFill>
          <a:ln/>
        </p:spPr>
        <p:txBody>
          <a:bodyPr/>
          <a:lstStyle/>
          <a:p>
            <a:endParaRPr lang="en-IN"/>
          </a:p>
        </p:txBody>
      </p:sp>
      <p:sp>
        <p:nvSpPr>
          <p:cNvPr id="29" name="Text 26"/>
          <p:cNvSpPr/>
          <p:nvPr/>
        </p:nvSpPr>
        <p:spPr>
          <a:xfrm>
            <a:off x="4846320" y="1298448"/>
            <a:ext cx="274320" cy="274320"/>
          </a:xfrm>
          <a:prstGeom prst="rect">
            <a:avLst/>
          </a:prstGeom>
          <a:noFill/>
          <a:ln/>
        </p:spPr>
        <p:txBody>
          <a:bodyPr wrap="square" lIns="0" tIns="0" rIns="0" bIns="0" rtlCol="0" anchor="ctr"/>
          <a:lstStyle/>
          <a:p>
            <a:pPr marL="0" indent="0" algn="ctr">
              <a:buNone/>
            </a:pPr>
            <a:r>
              <a:rPr lang="en-US" sz="1000" b="1" dirty="0">
                <a:solidFill>
                  <a:srgbClr val="FFFFFF"/>
                </a:solidFill>
              </a:rPr>
              <a:t>8</a:t>
            </a:r>
            <a:endParaRPr lang="en-US" sz="1000" dirty="0"/>
          </a:p>
        </p:txBody>
      </p:sp>
      <p:sp>
        <p:nvSpPr>
          <p:cNvPr id="30" name="Text 27"/>
          <p:cNvSpPr/>
          <p:nvPr/>
        </p:nvSpPr>
        <p:spPr>
          <a:xfrm>
            <a:off x="5212080" y="1298448"/>
            <a:ext cx="3749040" cy="274320"/>
          </a:xfrm>
          <a:prstGeom prst="rect">
            <a:avLst/>
          </a:prstGeom>
          <a:noFill/>
          <a:ln/>
        </p:spPr>
        <p:txBody>
          <a:bodyPr wrap="square" lIns="0" tIns="0" rIns="0" bIns="0" rtlCol="0" anchor="ctr"/>
          <a:lstStyle/>
          <a:p>
            <a:pPr marL="0" indent="0">
              <a:buNone/>
            </a:pPr>
            <a:r>
              <a:rPr lang="en-US" sz="1300" dirty="0">
                <a:solidFill>
                  <a:srgbClr val="C8D6E5"/>
                </a:solidFill>
                <a:latin typeface="Calibri" pitchFamily="34" charset="0"/>
                <a:ea typeface="Calibri" pitchFamily="34" charset="-122"/>
                <a:cs typeface="Calibri" pitchFamily="34" charset="-120"/>
              </a:rPr>
              <a:t>Proposed Tools &amp; Techniques</a:t>
            </a:r>
            <a:endParaRPr lang="en-US" sz="1300" dirty="0"/>
          </a:p>
        </p:txBody>
      </p:sp>
      <p:sp>
        <p:nvSpPr>
          <p:cNvPr id="31" name="Shape 28"/>
          <p:cNvSpPr/>
          <p:nvPr/>
        </p:nvSpPr>
        <p:spPr>
          <a:xfrm>
            <a:off x="4846320" y="1682496"/>
            <a:ext cx="274320" cy="274320"/>
          </a:xfrm>
          <a:prstGeom prst="rect">
            <a:avLst/>
          </a:prstGeom>
          <a:solidFill>
            <a:srgbClr val="E63946"/>
          </a:solidFill>
          <a:ln/>
        </p:spPr>
        <p:txBody>
          <a:bodyPr/>
          <a:lstStyle/>
          <a:p>
            <a:endParaRPr lang="en-IN"/>
          </a:p>
        </p:txBody>
      </p:sp>
      <p:sp>
        <p:nvSpPr>
          <p:cNvPr id="32" name="Text 29"/>
          <p:cNvSpPr/>
          <p:nvPr/>
        </p:nvSpPr>
        <p:spPr>
          <a:xfrm>
            <a:off x="4846320" y="1682496"/>
            <a:ext cx="274320" cy="274320"/>
          </a:xfrm>
          <a:prstGeom prst="rect">
            <a:avLst/>
          </a:prstGeom>
          <a:noFill/>
          <a:ln/>
        </p:spPr>
        <p:txBody>
          <a:bodyPr wrap="square" lIns="0" tIns="0" rIns="0" bIns="0" rtlCol="0" anchor="ctr"/>
          <a:lstStyle/>
          <a:p>
            <a:pPr marL="0" indent="0" algn="ctr">
              <a:buNone/>
            </a:pPr>
            <a:r>
              <a:rPr lang="en-US" sz="1000" b="1" dirty="0">
                <a:solidFill>
                  <a:srgbClr val="FFFFFF"/>
                </a:solidFill>
              </a:rPr>
              <a:t>9</a:t>
            </a:r>
            <a:endParaRPr lang="en-US" sz="1000" dirty="0"/>
          </a:p>
        </p:txBody>
      </p:sp>
      <p:sp>
        <p:nvSpPr>
          <p:cNvPr id="33" name="Text 30"/>
          <p:cNvSpPr/>
          <p:nvPr/>
        </p:nvSpPr>
        <p:spPr>
          <a:xfrm>
            <a:off x="5212080" y="1682496"/>
            <a:ext cx="3749040" cy="274320"/>
          </a:xfrm>
          <a:prstGeom prst="rect">
            <a:avLst/>
          </a:prstGeom>
          <a:noFill/>
          <a:ln/>
        </p:spPr>
        <p:txBody>
          <a:bodyPr wrap="square" lIns="0" tIns="0" rIns="0" bIns="0" rtlCol="0" anchor="ctr"/>
          <a:lstStyle/>
          <a:p>
            <a:pPr marL="0" indent="0">
              <a:buNone/>
            </a:pPr>
            <a:r>
              <a:rPr lang="en-US" sz="1300" dirty="0">
                <a:solidFill>
                  <a:srgbClr val="C8D6E5"/>
                </a:solidFill>
                <a:latin typeface="Calibri" pitchFamily="34" charset="0"/>
                <a:ea typeface="Calibri" pitchFamily="34" charset="-122"/>
                <a:cs typeface="Calibri" pitchFamily="34" charset="-120"/>
              </a:rPr>
              <a:t>Expected Outcome</a:t>
            </a:r>
            <a:endParaRPr lang="en-US" sz="1300" dirty="0"/>
          </a:p>
        </p:txBody>
      </p:sp>
      <p:sp>
        <p:nvSpPr>
          <p:cNvPr id="34" name="Shape 31"/>
          <p:cNvSpPr/>
          <p:nvPr/>
        </p:nvSpPr>
        <p:spPr>
          <a:xfrm>
            <a:off x="4846320" y="2066544"/>
            <a:ext cx="274320" cy="274320"/>
          </a:xfrm>
          <a:prstGeom prst="rect">
            <a:avLst/>
          </a:prstGeom>
          <a:solidFill>
            <a:srgbClr val="E63946"/>
          </a:solidFill>
          <a:ln/>
        </p:spPr>
        <p:txBody>
          <a:bodyPr/>
          <a:lstStyle/>
          <a:p>
            <a:endParaRPr lang="en-IN"/>
          </a:p>
        </p:txBody>
      </p:sp>
      <p:sp>
        <p:nvSpPr>
          <p:cNvPr id="35" name="Text 32"/>
          <p:cNvSpPr/>
          <p:nvPr/>
        </p:nvSpPr>
        <p:spPr>
          <a:xfrm>
            <a:off x="4846320" y="2066544"/>
            <a:ext cx="274320" cy="274320"/>
          </a:xfrm>
          <a:prstGeom prst="rect">
            <a:avLst/>
          </a:prstGeom>
          <a:noFill/>
          <a:ln/>
        </p:spPr>
        <p:txBody>
          <a:bodyPr wrap="square" lIns="0" tIns="0" rIns="0" bIns="0" rtlCol="0" anchor="ctr"/>
          <a:lstStyle/>
          <a:p>
            <a:pPr marL="0" indent="0" algn="ctr">
              <a:buNone/>
            </a:pPr>
            <a:r>
              <a:rPr lang="en-US" sz="1000" b="1" dirty="0">
                <a:solidFill>
                  <a:srgbClr val="FFFFFF"/>
                </a:solidFill>
              </a:rPr>
              <a:t>10</a:t>
            </a:r>
            <a:endParaRPr lang="en-US" sz="1000" dirty="0"/>
          </a:p>
        </p:txBody>
      </p:sp>
      <p:sp>
        <p:nvSpPr>
          <p:cNvPr id="36" name="Text 33"/>
          <p:cNvSpPr/>
          <p:nvPr/>
        </p:nvSpPr>
        <p:spPr>
          <a:xfrm>
            <a:off x="5212080" y="2066544"/>
            <a:ext cx="3749040" cy="274320"/>
          </a:xfrm>
          <a:prstGeom prst="rect">
            <a:avLst/>
          </a:prstGeom>
          <a:noFill/>
          <a:ln/>
        </p:spPr>
        <p:txBody>
          <a:bodyPr wrap="square" lIns="0" tIns="0" rIns="0" bIns="0" rtlCol="0" anchor="ctr"/>
          <a:lstStyle/>
          <a:p>
            <a:pPr marL="0" indent="0">
              <a:buNone/>
            </a:pPr>
            <a:r>
              <a:rPr lang="en-US" sz="1300" dirty="0">
                <a:solidFill>
                  <a:srgbClr val="C8D6E5"/>
                </a:solidFill>
                <a:latin typeface="Calibri" pitchFamily="34" charset="0"/>
                <a:ea typeface="Calibri" pitchFamily="34" charset="-122"/>
                <a:cs typeface="Calibri" pitchFamily="34" charset="-120"/>
              </a:rPr>
              <a:t>Conclusion</a:t>
            </a:r>
            <a:endParaRPr lang="en-US" sz="1300" dirty="0"/>
          </a:p>
        </p:txBody>
      </p:sp>
      <p:sp>
        <p:nvSpPr>
          <p:cNvPr id="37" name="Shape 34"/>
          <p:cNvSpPr/>
          <p:nvPr/>
        </p:nvSpPr>
        <p:spPr>
          <a:xfrm>
            <a:off x="4846320" y="2450592"/>
            <a:ext cx="274320" cy="274320"/>
          </a:xfrm>
          <a:prstGeom prst="rect">
            <a:avLst/>
          </a:prstGeom>
          <a:solidFill>
            <a:srgbClr val="E63946"/>
          </a:solidFill>
          <a:ln/>
        </p:spPr>
        <p:txBody>
          <a:bodyPr/>
          <a:lstStyle/>
          <a:p>
            <a:endParaRPr lang="en-IN"/>
          </a:p>
        </p:txBody>
      </p:sp>
      <p:sp>
        <p:nvSpPr>
          <p:cNvPr id="38" name="Text 35"/>
          <p:cNvSpPr/>
          <p:nvPr/>
        </p:nvSpPr>
        <p:spPr>
          <a:xfrm>
            <a:off x="4846320" y="2450592"/>
            <a:ext cx="274320" cy="274320"/>
          </a:xfrm>
          <a:prstGeom prst="rect">
            <a:avLst/>
          </a:prstGeom>
          <a:noFill/>
          <a:ln/>
        </p:spPr>
        <p:txBody>
          <a:bodyPr wrap="square" lIns="0" tIns="0" rIns="0" bIns="0" rtlCol="0" anchor="ctr"/>
          <a:lstStyle/>
          <a:p>
            <a:pPr marL="0" indent="0" algn="ctr">
              <a:buNone/>
            </a:pPr>
            <a:r>
              <a:rPr lang="en-US" sz="1000" b="1" dirty="0">
                <a:solidFill>
                  <a:srgbClr val="FFFFFF"/>
                </a:solidFill>
              </a:rPr>
              <a:t>11</a:t>
            </a:r>
            <a:endParaRPr lang="en-US" sz="1000" dirty="0"/>
          </a:p>
        </p:txBody>
      </p:sp>
      <p:sp>
        <p:nvSpPr>
          <p:cNvPr id="39" name="Text 36"/>
          <p:cNvSpPr/>
          <p:nvPr/>
        </p:nvSpPr>
        <p:spPr>
          <a:xfrm>
            <a:off x="5212080" y="2450592"/>
            <a:ext cx="3749040" cy="274320"/>
          </a:xfrm>
          <a:prstGeom prst="rect">
            <a:avLst/>
          </a:prstGeom>
          <a:noFill/>
          <a:ln/>
        </p:spPr>
        <p:txBody>
          <a:bodyPr wrap="square" lIns="0" tIns="0" rIns="0" bIns="0" rtlCol="0" anchor="ctr"/>
          <a:lstStyle/>
          <a:p>
            <a:pPr marL="0" indent="0">
              <a:buNone/>
            </a:pPr>
            <a:r>
              <a:rPr lang="en-US" sz="1300" dirty="0">
                <a:solidFill>
                  <a:srgbClr val="C8D6E5"/>
                </a:solidFill>
                <a:latin typeface="Calibri" pitchFamily="34" charset="0"/>
                <a:ea typeface="Calibri" pitchFamily="34" charset="-122"/>
                <a:cs typeface="Calibri" pitchFamily="34" charset="-120"/>
              </a:rPr>
              <a:t>References</a:t>
            </a:r>
            <a:endParaRPr lang="en-US" sz="1300" dirty="0"/>
          </a:p>
        </p:txBody>
      </p:sp>
      <p:pic>
        <p:nvPicPr>
          <p:cNvPr id="40" name="Picture 39">
            <a:extLst>
              <a:ext uri="{FF2B5EF4-FFF2-40B4-BE49-F238E27FC236}">
                <a16:creationId xmlns:a16="http://schemas.microsoft.com/office/drawing/2014/main" id="{174A3448-3B15-7B7D-91A0-5A7DEF91AB81}"/>
              </a:ext>
            </a:extLst>
          </p:cNvPr>
          <p:cNvPicPr>
            <a:picLocks noChangeAspect="1"/>
          </p:cNvPicPr>
          <p:nvPr/>
        </p:nvPicPr>
        <p:blipFill>
          <a:blip r:embed="rId3"/>
          <a:stretch>
            <a:fillRect/>
          </a:stretch>
        </p:blipFill>
        <p:spPr>
          <a:xfrm>
            <a:off x="91440" y="128016"/>
            <a:ext cx="1700784" cy="728907"/>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1A1F2E"/>
        </a:solidFill>
        <a:effectLst/>
      </p:bgPr>
    </p:bg>
    <p:spTree>
      <p:nvGrpSpPr>
        <p:cNvPr id="1" name=""/>
        <p:cNvGrpSpPr/>
        <p:nvPr/>
      </p:nvGrpSpPr>
      <p:grpSpPr>
        <a:xfrm>
          <a:off x="0" y="0"/>
          <a:ext cx="0" cy="0"/>
          <a:chOff x="0" y="0"/>
          <a:chExt cx="0" cy="0"/>
        </a:xfrm>
      </p:grpSpPr>
      <p:sp>
        <p:nvSpPr>
          <p:cNvPr id="2" name="Shape 0"/>
          <p:cNvSpPr/>
          <p:nvPr/>
        </p:nvSpPr>
        <p:spPr>
          <a:xfrm>
            <a:off x="0" y="0"/>
            <a:ext cx="9144000" cy="64008"/>
          </a:xfrm>
          <a:prstGeom prst="rect">
            <a:avLst/>
          </a:prstGeom>
          <a:solidFill>
            <a:srgbClr val="E63946"/>
          </a:solidFill>
          <a:ln/>
        </p:spPr>
        <p:txBody>
          <a:bodyPr/>
          <a:lstStyle/>
          <a:p>
            <a:endParaRPr lang="en-IN"/>
          </a:p>
        </p:txBody>
      </p:sp>
      <p:sp>
        <p:nvSpPr>
          <p:cNvPr id="3" name="Shape 1"/>
          <p:cNvSpPr/>
          <p:nvPr/>
        </p:nvSpPr>
        <p:spPr>
          <a:xfrm>
            <a:off x="0" y="64008"/>
            <a:ext cx="9144000" cy="658368"/>
          </a:xfrm>
          <a:prstGeom prst="rect">
            <a:avLst/>
          </a:prstGeom>
          <a:solidFill>
            <a:srgbClr val="2A3150"/>
          </a:solidFill>
          <a:ln/>
        </p:spPr>
        <p:txBody>
          <a:bodyPr/>
          <a:lstStyle/>
          <a:p>
            <a:endParaRPr lang="en-IN"/>
          </a:p>
        </p:txBody>
      </p:sp>
      <p:sp>
        <p:nvSpPr>
          <p:cNvPr id="5" name="Text 2"/>
          <p:cNvSpPr/>
          <p:nvPr/>
        </p:nvSpPr>
        <p:spPr>
          <a:xfrm>
            <a:off x="2011680" y="91440"/>
            <a:ext cx="5029200" cy="548640"/>
          </a:xfrm>
          <a:prstGeom prst="rect">
            <a:avLst/>
          </a:prstGeom>
          <a:noFill/>
          <a:ln/>
        </p:spPr>
        <p:txBody>
          <a:bodyPr wrap="square" lIns="0" tIns="0" rIns="0" bIns="0" rtlCol="0" anchor="ctr"/>
          <a:lstStyle/>
          <a:p>
            <a:pPr marL="0" indent="0">
              <a:buNone/>
            </a:pPr>
            <a:r>
              <a:rPr lang="en-US" sz="2000" b="1" dirty="0">
                <a:solidFill>
                  <a:srgbClr val="FFFFFF"/>
                </a:solidFill>
                <a:latin typeface="Calibri" pitchFamily="34" charset="0"/>
                <a:ea typeface="Calibri" pitchFamily="34" charset="-122"/>
                <a:cs typeface="Calibri" pitchFamily="34" charset="-120"/>
              </a:rPr>
              <a:t>Introduction</a:t>
            </a:r>
            <a:endParaRPr lang="en-US" sz="2000" dirty="0"/>
          </a:p>
        </p:txBody>
      </p:sp>
      <p:sp>
        <p:nvSpPr>
          <p:cNvPr id="6" name="Text 3"/>
          <p:cNvSpPr/>
          <p:nvPr/>
        </p:nvSpPr>
        <p:spPr>
          <a:xfrm>
            <a:off x="6858000" y="109728"/>
            <a:ext cx="2103120" cy="502920"/>
          </a:xfrm>
          <a:prstGeom prst="rect">
            <a:avLst/>
          </a:prstGeom>
          <a:noFill/>
          <a:ln/>
        </p:spPr>
        <p:txBody>
          <a:bodyPr wrap="square" lIns="0" tIns="0" rIns="0" bIns="0" rtlCol="0" anchor="ctr"/>
          <a:lstStyle/>
          <a:p>
            <a:pPr marL="0" indent="0" algn="r">
              <a:buNone/>
            </a:pPr>
            <a:r>
              <a:rPr lang="en-US" sz="1000" i="1" dirty="0">
                <a:solidFill>
                  <a:srgbClr val="7A8FA6"/>
                </a:solidFill>
                <a:latin typeface="Georgia" pitchFamily="34" charset="0"/>
                <a:ea typeface="Georgia" pitchFamily="34" charset="-122"/>
                <a:cs typeface="Georgia" pitchFamily="34" charset="-120"/>
              </a:rPr>
              <a:t>Go, change the world</a:t>
            </a:r>
            <a:endParaRPr lang="en-US" sz="1000" dirty="0"/>
          </a:p>
        </p:txBody>
      </p:sp>
      <p:sp>
        <p:nvSpPr>
          <p:cNvPr id="7" name="Shape 4"/>
          <p:cNvSpPr/>
          <p:nvPr/>
        </p:nvSpPr>
        <p:spPr>
          <a:xfrm>
            <a:off x="274320" y="914400"/>
            <a:ext cx="2651760" cy="1005840"/>
          </a:xfrm>
          <a:prstGeom prst="rect">
            <a:avLst/>
          </a:prstGeom>
          <a:solidFill>
            <a:srgbClr val="2A3150"/>
          </a:solidFill>
          <a:ln/>
          <a:effectLst>
            <a:outerShdw blurRad="76200" dist="25400" dir="8100000" algn="bl" rotWithShape="0">
              <a:srgbClr val="000000">
                <a:alpha val="20000"/>
              </a:srgbClr>
            </a:outerShdw>
          </a:effectLst>
        </p:spPr>
        <p:txBody>
          <a:bodyPr/>
          <a:lstStyle/>
          <a:p>
            <a:endParaRPr lang="en-IN"/>
          </a:p>
        </p:txBody>
      </p:sp>
      <p:sp>
        <p:nvSpPr>
          <p:cNvPr id="8" name="Shape 5"/>
          <p:cNvSpPr/>
          <p:nvPr/>
        </p:nvSpPr>
        <p:spPr>
          <a:xfrm>
            <a:off x="274320" y="914400"/>
            <a:ext cx="2651760" cy="64008"/>
          </a:xfrm>
          <a:prstGeom prst="rect">
            <a:avLst/>
          </a:prstGeom>
          <a:solidFill>
            <a:srgbClr val="E63946"/>
          </a:solidFill>
          <a:ln/>
        </p:spPr>
        <p:txBody>
          <a:bodyPr/>
          <a:lstStyle/>
          <a:p>
            <a:endParaRPr lang="en-IN"/>
          </a:p>
        </p:txBody>
      </p:sp>
      <p:sp>
        <p:nvSpPr>
          <p:cNvPr id="9" name="Text 6"/>
          <p:cNvSpPr/>
          <p:nvPr/>
        </p:nvSpPr>
        <p:spPr>
          <a:xfrm>
            <a:off x="274320" y="1005840"/>
            <a:ext cx="2651760" cy="502920"/>
          </a:xfrm>
          <a:prstGeom prst="rect">
            <a:avLst/>
          </a:prstGeom>
          <a:noFill/>
          <a:ln/>
        </p:spPr>
        <p:txBody>
          <a:bodyPr wrap="square" lIns="0" tIns="0" rIns="0" bIns="0" rtlCol="0" anchor="ctr"/>
          <a:lstStyle/>
          <a:p>
            <a:pPr marL="0" indent="0" algn="ctr">
              <a:buNone/>
            </a:pPr>
            <a:r>
              <a:rPr lang="en-US" sz="2200" b="1" dirty="0">
                <a:solidFill>
                  <a:srgbClr val="FFFFFF"/>
                </a:solidFill>
                <a:latin typeface="Calibri Black" pitchFamily="34" charset="0"/>
                <a:ea typeface="Calibri Black" pitchFamily="34" charset="-122"/>
                <a:cs typeface="Calibri Black" pitchFamily="34" charset="-120"/>
              </a:rPr>
              <a:t>₹1,47,000 Cr</a:t>
            </a:r>
            <a:endParaRPr lang="en-US" sz="2200" dirty="0"/>
          </a:p>
        </p:txBody>
      </p:sp>
      <p:sp>
        <p:nvSpPr>
          <p:cNvPr id="10" name="Text 7"/>
          <p:cNvSpPr/>
          <p:nvPr/>
        </p:nvSpPr>
        <p:spPr>
          <a:xfrm>
            <a:off x="274320" y="1508760"/>
            <a:ext cx="2651760" cy="384048"/>
          </a:xfrm>
          <a:prstGeom prst="rect">
            <a:avLst/>
          </a:prstGeom>
          <a:noFill/>
          <a:ln/>
        </p:spPr>
        <p:txBody>
          <a:bodyPr wrap="square" lIns="0" tIns="0" rIns="0" bIns="0" rtlCol="0" anchor="ctr"/>
          <a:lstStyle/>
          <a:p>
            <a:pPr marL="0" indent="0" algn="ctr">
              <a:buNone/>
            </a:pPr>
            <a:r>
              <a:rPr lang="en-US" sz="900" dirty="0">
                <a:solidFill>
                  <a:srgbClr val="7A8FA6"/>
                </a:solidFill>
                <a:latin typeface="Calibri" pitchFamily="34" charset="0"/>
                <a:ea typeface="Calibri" pitchFamily="34" charset="-122"/>
                <a:cs typeface="Calibri" pitchFamily="34" charset="-120"/>
              </a:rPr>
              <a:t>Annual economic loss</a:t>
            </a:r>
            <a:endParaRPr lang="en-US" sz="900" dirty="0"/>
          </a:p>
          <a:p>
            <a:pPr marL="0" indent="0" algn="ctr">
              <a:buNone/>
            </a:pPr>
            <a:r>
              <a:rPr lang="en-US" sz="900" dirty="0">
                <a:solidFill>
                  <a:srgbClr val="7A8FA6"/>
                </a:solidFill>
                <a:latin typeface="Calibri" pitchFamily="34" charset="0"/>
                <a:ea typeface="Calibri" pitchFamily="34" charset="-122"/>
                <a:cs typeface="Calibri" pitchFamily="34" charset="-120"/>
              </a:rPr>
              <a:t>to traffic congestion in India</a:t>
            </a:r>
            <a:endParaRPr lang="en-US" sz="900" dirty="0"/>
          </a:p>
        </p:txBody>
      </p:sp>
      <p:sp>
        <p:nvSpPr>
          <p:cNvPr id="11" name="Shape 8"/>
          <p:cNvSpPr/>
          <p:nvPr/>
        </p:nvSpPr>
        <p:spPr>
          <a:xfrm>
            <a:off x="3200400" y="914400"/>
            <a:ext cx="2651760" cy="1005840"/>
          </a:xfrm>
          <a:prstGeom prst="rect">
            <a:avLst/>
          </a:prstGeom>
          <a:solidFill>
            <a:srgbClr val="2A3150"/>
          </a:solidFill>
          <a:ln/>
          <a:effectLst>
            <a:outerShdw blurRad="76200" dist="25400" dir="8100000" algn="bl" rotWithShape="0">
              <a:srgbClr val="000000">
                <a:alpha val="20000"/>
              </a:srgbClr>
            </a:outerShdw>
          </a:effectLst>
        </p:spPr>
        <p:txBody>
          <a:bodyPr/>
          <a:lstStyle/>
          <a:p>
            <a:endParaRPr lang="en-IN"/>
          </a:p>
        </p:txBody>
      </p:sp>
      <p:sp>
        <p:nvSpPr>
          <p:cNvPr id="12" name="Shape 9"/>
          <p:cNvSpPr/>
          <p:nvPr/>
        </p:nvSpPr>
        <p:spPr>
          <a:xfrm>
            <a:off x="3200400" y="914400"/>
            <a:ext cx="2651760" cy="64008"/>
          </a:xfrm>
          <a:prstGeom prst="rect">
            <a:avLst/>
          </a:prstGeom>
          <a:solidFill>
            <a:srgbClr val="457B9D"/>
          </a:solidFill>
          <a:ln/>
        </p:spPr>
        <p:txBody>
          <a:bodyPr/>
          <a:lstStyle/>
          <a:p>
            <a:endParaRPr lang="en-IN"/>
          </a:p>
        </p:txBody>
      </p:sp>
      <p:sp>
        <p:nvSpPr>
          <p:cNvPr id="13" name="Text 10"/>
          <p:cNvSpPr/>
          <p:nvPr/>
        </p:nvSpPr>
        <p:spPr>
          <a:xfrm>
            <a:off x="3200400" y="1005840"/>
            <a:ext cx="2651760" cy="502920"/>
          </a:xfrm>
          <a:prstGeom prst="rect">
            <a:avLst/>
          </a:prstGeom>
          <a:noFill/>
          <a:ln/>
        </p:spPr>
        <p:txBody>
          <a:bodyPr wrap="square" lIns="0" tIns="0" rIns="0" bIns="0" rtlCol="0" anchor="ctr"/>
          <a:lstStyle/>
          <a:p>
            <a:pPr marL="0" indent="0" algn="ctr">
              <a:buNone/>
            </a:pPr>
            <a:r>
              <a:rPr lang="en-US" sz="2200" b="1" dirty="0">
                <a:solidFill>
                  <a:srgbClr val="FFFFFF"/>
                </a:solidFill>
                <a:latin typeface="Calibri Black" pitchFamily="34" charset="0"/>
                <a:ea typeface="Calibri Black" pitchFamily="34" charset="-122"/>
                <a:cs typeface="Calibri Black" pitchFamily="34" charset="-120"/>
              </a:rPr>
              <a:t>Route 378</a:t>
            </a:r>
            <a:endParaRPr lang="en-US" sz="2200" dirty="0"/>
          </a:p>
        </p:txBody>
      </p:sp>
      <p:sp>
        <p:nvSpPr>
          <p:cNvPr id="14" name="Text 11"/>
          <p:cNvSpPr/>
          <p:nvPr/>
        </p:nvSpPr>
        <p:spPr>
          <a:xfrm>
            <a:off x="3200400" y="1508760"/>
            <a:ext cx="2651760" cy="384048"/>
          </a:xfrm>
          <a:prstGeom prst="rect">
            <a:avLst/>
          </a:prstGeom>
          <a:noFill/>
          <a:ln/>
        </p:spPr>
        <p:txBody>
          <a:bodyPr wrap="square" lIns="0" tIns="0" rIns="0" bIns="0" rtlCol="0" anchor="ctr"/>
          <a:lstStyle/>
          <a:p>
            <a:pPr marL="0" indent="0" algn="ctr">
              <a:buNone/>
            </a:pPr>
            <a:r>
              <a:rPr lang="en-US" sz="900" dirty="0">
                <a:solidFill>
                  <a:srgbClr val="7A8FA6"/>
                </a:solidFill>
                <a:latin typeface="Calibri" pitchFamily="34" charset="0"/>
                <a:ea typeface="Calibri" pitchFamily="34" charset="-122"/>
                <a:cs typeface="Calibri" pitchFamily="34" charset="-120"/>
              </a:rPr>
              <a:t>BMTC routes affected</a:t>
            </a:r>
            <a:endParaRPr lang="en-US" sz="900" dirty="0"/>
          </a:p>
          <a:p>
            <a:pPr marL="0" indent="0" algn="ctr">
              <a:buNone/>
            </a:pPr>
            <a:r>
              <a:rPr lang="en-US" sz="900" dirty="0">
                <a:solidFill>
                  <a:srgbClr val="7A8FA6"/>
                </a:solidFill>
                <a:latin typeface="Calibri" pitchFamily="34" charset="0"/>
                <a:ea typeface="Calibri" pitchFamily="34" charset="-122"/>
                <a:cs typeface="Calibri" pitchFamily="34" charset="-120"/>
              </a:rPr>
              <a:t>by bus bunching daily</a:t>
            </a:r>
            <a:endParaRPr lang="en-US" sz="900" dirty="0"/>
          </a:p>
        </p:txBody>
      </p:sp>
      <p:sp>
        <p:nvSpPr>
          <p:cNvPr id="15" name="Shape 12"/>
          <p:cNvSpPr/>
          <p:nvPr/>
        </p:nvSpPr>
        <p:spPr>
          <a:xfrm>
            <a:off x="6126480" y="914400"/>
            <a:ext cx="2651760" cy="1005840"/>
          </a:xfrm>
          <a:prstGeom prst="rect">
            <a:avLst/>
          </a:prstGeom>
          <a:solidFill>
            <a:srgbClr val="2A3150"/>
          </a:solidFill>
          <a:ln/>
          <a:effectLst>
            <a:outerShdw blurRad="76200" dist="25400" dir="8100000" algn="bl" rotWithShape="0">
              <a:srgbClr val="000000">
                <a:alpha val="20000"/>
              </a:srgbClr>
            </a:outerShdw>
          </a:effectLst>
        </p:spPr>
        <p:txBody>
          <a:bodyPr/>
          <a:lstStyle/>
          <a:p>
            <a:endParaRPr lang="en-IN"/>
          </a:p>
        </p:txBody>
      </p:sp>
      <p:sp>
        <p:nvSpPr>
          <p:cNvPr id="16" name="Shape 13"/>
          <p:cNvSpPr/>
          <p:nvPr/>
        </p:nvSpPr>
        <p:spPr>
          <a:xfrm>
            <a:off x="6126480" y="914400"/>
            <a:ext cx="2651760" cy="64008"/>
          </a:xfrm>
          <a:prstGeom prst="rect">
            <a:avLst/>
          </a:prstGeom>
          <a:solidFill>
            <a:srgbClr val="2DC653"/>
          </a:solidFill>
          <a:ln/>
        </p:spPr>
        <p:txBody>
          <a:bodyPr/>
          <a:lstStyle/>
          <a:p>
            <a:endParaRPr lang="en-IN"/>
          </a:p>
        </p:txBody>
      </p:sp>
      <p:sp>
        <p:nvSpPr>
          <p:cNvPr id="17" name="Text 14"/>
          <p:cNvSpPr/>
          <p:nvPr/>
        </p:nvSpPr>
        <p:spPr>
          <a:xfrm>
            <a:off x="6126480" y="1005840"/>
            <a:ext cx="2651760" cy="502920"/>
          </a:xfrm>
          <a:prstGeom prst="rect">
            <a:avLst/>
          </a:prstGeom>
          <a:noFill/>
          <a:ln/>
        </p:spPr>
        <p:txBody>
          <a:bodyPr wrap="square" lIns="0" tIns="0" rIns="0" bIns="0" rtlCol="0" anchor="ctr"/>
          <a:lstStyle/>
          <a:p>
            <a:pPr marL="0" indent="0" algn="ctr">
              <a:buNone/>
            </a:pPr>
            <a:r>
              <a:rPr lang="en-US" sz="2200" b="1" dirty="0">
                <a:solidFill>
                  <a:srgbClr val="FFFFFF"/>
                </a:solidFill>
                <a:latin typeface="Calibri Black" pitchFamily="34" charset="0"/>
                <a:ea typeface="Calibri Black" pitchFamily="34" charset="-122"/>
                <a:cs typeface="Calibri Black" pitchFamily="34" charset="-120"/>
              </a:rPr>
              <a:t>5 Modules</a:t>
            </a:r>
            <a:endParaRPr lang="en-US" sz="2200" dirty="0"/>
          </a:p>
        </p:txBody>
      </p:sp>
      <p:sp>
        <p:nvSpPr>
          <p:cNvPr id="18" name="Text 15"/>
          <p:cNvSpPr/>
          <p:nvPr/>
        </p:nvSpPr>
        <p:spPr>
          <a:xfrm>
            <a:off x="6126480" y="1508760"/>
            <a:ext cx="2651760" cy="384048"/>
          </a:xfrm>
          <a:prstGeom prst="rect">
            <a:avLst/>
          </a:prstGeom>
          <a:noFill/>
          <a:ln/>
        </p:spPr>
        <p:txBody>
          <a:bodyPr wrap="square" lIns="0" tIns="0" rIns="0" bIns="0" rtlCol="0" anchor="ctr"/>
          <a:lstStyle/>
          <a:p>
            <a:pPr marL="0" indent="0" algn="ctr">
              <a:buNone/>
            </a:pPr>
            <a:r>
              <a:rPr lang="en-US" sz="900" dirty="0">
                <a:solidFill>
                  <a:srgbClr val="7A8FA6"/>
                </a:solidFill>
                <a:latin typeface="Calibri" pitchFamily="34" charset="0"/>
                <a:ea typeface="Calibri" pitchFamily="34" charset="-122"/>
                <a:cs typeface="Calibri" pitchFamily="34" charset="-120"/>
              </a:rPr>
              <a:t>Average excess wait</a:t>
            </a:r>
            <a:endParaRPr lang="en-US" sz="900" dirty="0"/>
          </a:p>
          <a:p>
            <a:pPr marL="0" indent="0" algn="ctr">
              <a:buNone/>
            </a:pPr>
            <a:r>
              <a:rPr lang="en-US" sz="900" dirty="0">
                <a:solidFill>
                  <a:srgbClr val="7A8FA6"/>
                </a:solidFill>
                <a:latin typeface="Calibri" pitchFamily="34" charset="0"/>
                <a:ea typeface="Calibri" pitchFamily="34" charset="-122"/>
                <a:cs typeface="Calibri" pitchFamily="34" charset="-120"/>
              </a:rPr>
              <a:t>per bunching event (Bengaluru)</a:t>
            </a:r>
            <a:endParaRPr lang="en-US" sz="900" dirty="0"/>
          </a:p>
        </p:txBody>
      </p:sp>
      <p:sp>
        <p:nvSpPr>
          <p:cNvPr id="19" name="Shape 16"/>
          <p:cNvSpPr/>
          <p:nvPr/>
        </p:nvSpPr>
        <p:spPr>
          <a:xfrm>
            <a:off x="274320" y="2103120"/>
            <a:ext cx="118872" cy="118872"/>
          </a:xfrm>
          <a:prstGeom prst="line">
            <a:avLst/>
          </a:prstGeom>
          <a:solidFill>
            <a:srgbClr val="E63946"/>
          </a:solidFill>
          <a:ln/>
        </p:spPr>
        <p:txBody>
          <a:bodyPr/>
          <a:lstStyle/>
          <a:p>
            <a:endParaRPr lang="en-IN"/>
          </a:p>
        </p:txBody>
      </p:sp>
      <p:sp>
        <p:nvSpPr>
          <p:cNvPr id="20" name="Text 17"/>
          <p:cNvSpPr/>
          <p:nvPr/>
        </p:nvSpPr>
        <p:spPr>
          <a:xfrm>
            <a:off x="502920" y="2029968"/>
            <a:ext cx="8412480" cy="347472"/>
          </a:xfrm>
          <a:prstGeom prst="rect">
            <a:avLst/>
          </a:prstGeom>
          <a:noFill/>
          <a:ln/>
        </p:spPr>
        <p:txBody>
          <a:bodyPr wrap="square" lIns="0" tIns="0" rIns="0" bIns="0" rtlCol="0" anchor="ctr"/>
          <a:lstStyle/>
          <a:p>
            <a:pPr marL="0" indent="0">
              <a:buNone/>
            </a:pPr>
            <a:r>
              <a:rPr lang="en-US" sz="1050" dirty="0">
                <a:solidFill>
                  <a:srgbClr val="C8D6E5"/>
                </a:solidFill>
                <a:latin typeface="Calibri" pitchFamily="34" charset="0"/>
                <a:ea typeface="Calibri" pitchFamily="34" charset="-122"/>
                <a:cs typeface="Calibri" pitchFamily="34" charset="-120"/>
              </a:rPr>
              <a:t>Urban traffic congestion costs India over ₹1.47 lakh crore annually in lost productivity and fuel waste.</a:t>
            </a:r>
            <a:endParaRPr lang="en-US" sz="1050" dirty="0"/>
          </a:p>
        </p:txBody>
      </p:sp>
      <p:sp>
        <p:nvSpPr>
          <p:cNvPr id="21" name="Shape 18"/>
          <p:cNvSpPr/>
          <p:nvPr/>
        </p:nvSpPr>
        <p:spPr>
          <a:xfrm>
            <a:off x="274320" y="2487168"/>
            <a:ext cx="118872" cy="118872"/>
          </a:xfrm>
          <a:prstGeom prst="line">
            <a:avLst/>
          </a:prstGeom>
          <a:solidFill>
            <a:srgbClr val="E63946"/>
          </a:solidFill>
          <a:ln/>
        </p:spPr>
        <p:txBody>
          <a:bodyPr/>
          <a:lstStyle/>
          <a:p>
            <a:endParaRPr lang="en-IN"/>
          </a:p>
        </p:txBody>
      </p:sp>
      <p:sp>
        <p:nvSpPr>
          <p:cNvPr id="22" name="Text 19"/>
          <p:cNvSpPr/>
          <p:nvPr/>
        </p:nvSpPr>
        <p:spPr>
          <a:xfrm>
            <a:off x="502920" y="2414016"/>
            <a:ext cx="8412480" cy="347472"/>
          </a:xfrm>
          <a:prstGeom prst="rect">
            <a:avLst/>
          </a:prstGeom>
          <a:noFill/>
          <a:ln/>
        </p:spPr>
        <p:txBody>
          <a:bodyPr wrap="square" lIns="0" tIns="0" rIns="0" bIns="0" rtlCol="0" anchor="ctr"/>
          <a:lstStyle/>
          <a:p>
            <a:pPr marL="0" indent="0">
              <a:buNone/>
            </a:pPr>
            <a:r>
              <a:rPr lang="en-US" sz="1050" dirty="0">
                <a:solidFill>
                  <a:srgbClr val="C8D6E5"/>
                </a:solidFill>
                <a:latin typeface="Calibri" pitchFamily="34" charset="0"/>
                <a:ea typeface="Calibri" pitchFamily="34" charset="-122"/>
                <a:cs typeface="Calibri" pitchFamily="34" charset="-120"/>
              </a:rPr>
              <a:t>Bus bunching — the cascading failure where buses on the same route clump together — is a primary reliability killer in Bengaluru's BMTC network.</a:t>
            </a:r>
            <a:endParaRPr lang="en-US" sz="1050" dirty="0"/>
          </a:p>
        </p:txBody>
      </p:sp>
      <p:sp>
        <p:nvSpPr>
          <p:cNvPr id="23" name="Shape 20"/>
          <p:cNvSpPr/>
          <p:nvPr/>
        </p:nvSpPr>
        <p:spPr>
          <a:xfrm>
            <a:off x="274320" y="2871216"/>
            <a:ext cx="118872" cy="118872"/>
          </a:xfrm>
          <a:prstGeom prst="line">
            <a:avLst/>
          </a:prstGeom>
          <a:solidFill>
            <a:srgbClr val="E63946"/>
          </a:solidFill>
          <a:ln/>
        </p:spPr>
        <p:txBody>
          <a:bodyPr/>
          <a:lstStyle/>
          <a:p>
            <a:endParaRPr lang="en-IN"/>
          </a:p>
        </p:txBody>
      </p:sp>
      <p:sp>
        <p:nvSpPr>
          <p:cNvPr id="24" name="Text 21"/>
          <p:cNvSpPr/>
          <p:nvPr/>
        </p:nvSpPr>
        <p:spPr>
          <a:xfrm>
            <a:off x="502920" y="2798064"/>
            <a:ext cx="8412480" cy="347472"/>
          </a:xfrm>
          <a:prstGeom prst="rect">
            <a:avLst/>
          </a:prstGeom>
          <a:noFill/>
          <a:ln/>
        </p:spPr>
        <p:txBody>
          <a:bodyPr wrap="square" lIns="0" tIns="0" rIns="0" bIns="0" rtlCol="0" anchor="ctr"/>
          <a:lstStyle/>
          <a:p>
            <a:pPr marL="0" indent="0">
              <a:buNone/>
            </a:pPr>
            <a:r>
              <a:rPr lang="en-US" sz="1050" dirty="0">
                <a:solidFill>
                  <a:srgbClr val="C8D6E5"/>
                </a:solidFill>
                <a:latin typeface="Calibri" pitchFamily="34" charset="0"/>
                <a:ea typeface="Calibri" pitchFamily="34" charset="-122"/>
                <a:cs typeface="Calibri" pitchFamily="34" charset="-120"/>
              </a:rPr>
              <a:t>ECO-SYNC V2X replaces complex ML training with a real-time LLM Agentic Debate — three agents (Bus 1, Bus 2, TMC) negotiate dispatch decisions via the Groq API.</a:t>
            </a:r>
            <a:endParaRPr lang="en-US" sz="1050" dirty="0"/>
          </a:p>
        </p:txBody>
      </p:sp>
      <p:sp>
        <p:nvSpPr>
          <p:cNvPr id="25" name="Shape 22"/>
          <p:cNvSpPr/>
          <p:nvPr/>
        </p:nvSpPr>
        <p:spPr>
          <a:xfrm>
            <a:off x="274320" y="3255264"/>
            <a:ext cx="118872" cy="118872"/>
          </a:xfrm>
          <a:prstGeom prst="line">
            <a:avLst/>
          </a:prstGeom>
          <a:solidFill>
            <a:srgbClr val="E63946"/>
          </a:solidFill>
          <a:ln/>
        </p:spPr>
        <p:txBody>
          <a:bodyPr/>
          <a:lstStyle/>
          <a:p>
            <a:endParaRPr lang="en-IN"/>
          </a:p>
        </p:txBody>
      </p:sp>
      <p:sp>
        <p:nvSpPr>
          <p:cNvPr id="26" name="Text 23"/>
          <p:cNvSpPr/>
          <p:nvPr/>
        </p:nvSpPr>
        <p:spPr>
          <a:xfrm>
            <a:off x="502920" y="3182112"/>
            <a:ext cx="8412480" cy="347472"/>
          </a:xfrm>
          <a:prstGeom prst="rect">
            <a:avLst/>
          </a:prstGeom>
          <a:noFill/>
          <a:ln/>
        </p:spPr>
        <p:txBody>
          <a:bodyPr wrap="square" lIns="0" tIns="0" rIns="0" bIns="0" rtlCol="0" anchor="ctr"/>
          <a:lstStyle/>
          <a:p>
            <a:pPr marL="0" indent="0">
              <a:buNone/>
            </a:pPr>
            <a:r>
              <a:rPr lang="en-US" sz="1050" dirty="0">
                <a:solidFill>
                  <a:srgbClr val="C8D6E5"/>
                </a:solidFill>
                <a:latin typeface="Calibri" pitchFamily="34" charset="0"/>
                <a:ea typeface="Calibri" pitchFamily="34" charset="-122"/>
                <a:cs typeface="Calibri" pitchFamily="34" charset="-120"/>
              </a:rPr>
              <a:t>The system runs on OSRM road geometry, Faker-simulated passenger data, and Llama-3.3 70B inference — all free, CPU-only, no GPU required.</a:t>
            </a:r>
            <a:endParaRPr lang="en-US" sz="1050" dirty="0"/>
          </a:p>
        </p:txBody>
      </p:sp>
      <p:sp>
        <p:nvSpPr>
          <p:cNvPr id="27" name="Shape 24"/>
          <p:cNvSpPr/>
          <p:nvPr/>
        </p:nvSpPr>
        <p:spPr>
          <a:xfrm>
            <a:off x="274320" y="3639312"/>
            <a:ext cx="118872" cy="118872"/>
          </a:xfrm>
          <a:prstGeom prst="line">
            <a:avLst/>
          </a:prstGeom>
          <a:solidFill>
            <a:srgbClr val="E63946"/>
          </a:solidFill>
          <a:ln/>
        </p:spPr>
        <p:txBody>
          <a:bodyPr/>
          <a:lstStyle/>
          <a:p>
            <a:endParaRPr lang="en-IN"/>
          </a:p>
        </p:txBody>
      </p:sp>
      <p:sp>
        <p:nvSpPr>
          <p:cNvPr id="28" name="Text 25"/>
          <p:cNvSpPr/>
          <p:nvPr/>
        </p:nvSpPr>
        <p:spPr>
          <a:xfrm>
            <a:off x="502920" y="3566160"/>
            <a:ext cx="8412480" cy="347472"/>
          </a:xfrm>
          <a:prstGeom prst="rect">
            <a:avLst/>
          </a:prstGeom>
          <a:noFill/>
          <a:ln/>
        </p:spPr>
        <p:txBody>
          <a:bodyPr wrap="square" lIns="0" tIns="0" rIns="0" bIns="0" rtlCol="0" anchor="ctr"/>
          <a:lstStyle/>
          <a:p>
            <a:pPr marL="0" indent="0">
              <a:buNone/>
            </a:pPr>
            <a:r>
              <a:rPr lang="en-US" sz="1050" dirty="0">
                <a:solidFill>
                  <a:srgbClr val="C8D6E5"/>
                </a:solidFill>
                <a:latin typeface="Calibri" pitchFamily="34" charset="0"/>
                <a:ea typeface="Calibri" pitchFamily="34" charset="-122"/>
                <a:cs typeface="Calibri" pitchFamily="34" charset="-120"/>
              </a:rPr>
              <a:t>Three agents form a V2X network: V2V (Bus↔Bus negotiation), V2I (TMC broadcasts traffic events), producing real-time HOLD / SKIP / PROCEED decisions with plain-language reasoning.</a:t>
            </a:r>
            <a:endParaRPr lang="en-US" sz="1050" dirty="0"/>
          </a:p>
        </p:txBody>
      </p:sp>
      <p:sp>
        <p:nvSpPr>
          <p:cNvPr id="29" name="Shape 26"/>
          <p:cNvSpPr/>
          <p:nvPr/>
        </p:nvSpPr>
        <p:spPr>
          <a:xfrm>
            <a:off x="274320" y="4023360"/>
            <a:ext cx="118872" cy="118872"/>
          </a:xfrm>
          <a:prstGeom prst="line">
            <a:avLst/>
          </a:prstGeom>
          <a:solidFill>
            <a:srgbClr val="E63946"/>
          </a:solidFill>
          <a:ln/>
        </p:spPr>
        <p:txBody>
          <a:bodyPr/>
          <a:lstStyle/>
          <a:p>
            <a:endParaRPr lang="en-IN"/>
          </a:p>
        </p:txBody>
      </p:sp>
      <p:sp>
        <p:nvSpPr>
          <p:cNvPr id="30" name="Text 27"/>
          <p:cNvSpPr/>
          <p:nvPr/>
        </p:nvSpPr>
        <p:spPr>
          <a:xfrm>
            <a:off x="502920" y="3950208"/>
            <a:ext cx="8412480" cy="347472"/>
          </a:xfrm>
          <a:prstGeom prst="rect">
            <a:avLst/>
          </a:prstGeom>
          <a:noFill/>
          <a:ln/>
        </p:spPr>
        <p:txBody>
          <a:bodyPr wrap="square" lIns="0" tIns="0" rIns="0" bIns="0" rtlCol="0" anchor="ctr"/>
          <a:lstStyle/>
          <a:p>
            <a:pPr marL="0" indent="0">
              <a:buNone/>
            </a:pPr>
            <a:r>
              <a:rPr lang="en-US" sz="1050" dirty="0">
                <a:solidFill>
                  <a:srgbClr val="C8D6E5"/>
                </a:solidFill>
                <a:latin typeface="Calibri" pitchFamily="34" charset="0"/>
                <a:ea typeface="Calibri" pitchFamily="34" charset="-122"/>
                <a:cs typeface="Calibri" pitchFamily="34" charset="-120"/>
              </a:rPr>
              <a:t>Aligned with SDG 11 (Sustainable Cities) and directly addresses ITS Units III &amp; IV: Advanced Public Transport Systems + V2X Communication Standards.</a:t>
            </a:r>
            <a:endParaRPr lang="en-US" sz="1050" dirty="0"/>
          </a:p>
        </p:txBody>
      </p:sp>
      <p:pic>
        <p:nvPicPr>
          <p:cNvPr id="31" name="Picture 30">
            <a:extLst>
              <a:ext uri="{FF2B5EF4-FFF2-40B4-BE49-F238E27FC236}">
                <a16:creationId xmlns:a16="http://schemas.microsoft.com/office/drawing/2014/main" id="{C7983D59-A09B-E90A-0937-4A0EDE87CE6C}"/>
              </a:ext>
            </a:extLst>
          </p:cNvPr>
          <p:cNvPicPr>
            <a:picLocks noChangeAspect="1"/>
          </p:cNvPicPr>
          <p:nvPr/>
        </p:nvPicPr>
        <p:blipFill>
          <a:blip r:embed="rId3"/>
          <a:stretch>
            <a:fillRect/>
          </a:stretch>
        </p:blipFill>
        <p:spPr>
          <a:xfrm>
            <a:off x="91440" y="128016"/>
            <a:ext cx="1700784" cy="728907"/>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1A1F2E"/>
        </a:solidFill>
        <a:effectLst/>
      </p:bgPr>
    </p:bg>
    <p:spTree>
      <p:nvGrpSpPr>
        <p:cNvPr id="1" name=""/>
        <p:cNvGrpSpPr/>
        <p:nvPr/>
      </p:nvGrpSpPr>
      <p:grpSpPr>
        <a:xfrm>
          <a:off x="0" y="0"/>
          <a:ext cx="0" cy="0"/>
          <a:chOff x="0" y="0"/>
          <a:chExt cx="0" cy="0"/>
        </a:xfrm>
      </p:grpSpPr>
      <p:sp>
        <p:nvSpPr>
          <p:cNvPr id="2" name="Shape 0"/>
          <p:cNvSpPr/>
          <p:nvPr/>
        </p:nvSpPr>
        <p:spPr>
          <a:xfrm>
            <a:off x="0" y="0"/>
            <a:ext cx="9144000" cy="64008"/>
          </a:xfrm>
          <a:prstGeom prst="rect">
            <a:avLst/>
          </a:prstGeom>
          <a:solidFill>
            <a:srgbClr val="E63946"/>
          </a:solidFill>
          <a:ln/>
        </p:spPr>
        <p:txBody>
          <a:bodyPr/>
          <a:lstStyle/>
          <a:p>
            <a:endParaRPr lang="en-IN"/>
          </a:p>
        </p:txBody>
      </p:sp>
      <p:sp>
        <p:nvSpPr>
          <p:cNvPr id="3" name="Shape 1"/>
          <p:cNvSpPr/>
          <p:nvPr/>
        </p:nvSpPr>
        <p:spPr>
          <a:xfrm>
            <a:off x="0" y="64008"/>
            <a:ext cx="9144000" cy="658368"/>
          </a:xfrm>
          <a:prstGeom prst="rect">
            <a:avLst/>
          </a:prstGeom>
          <a:solidFill>
            <a:srgbClr val="2A3150"/>
          </a:solidFill>
          <a:ln/>
        </p:spPr>
        <p:txBody>
          <a:bodyPr/>
          <a:lstStyle/>
          <a:p>
            <a:endParaRPr lang="en-IN"/>
          </a:p>
        </p:txBody>
      </p:sp>
      <p:sp>
        <p:nvSpPr>
          <p:cNvPr id="5" name="Text 2"/>
          <p:cNvSpPr/>
          <p:nvPr/>
        </p:nvSpPr>
        <p:spPr>
          <a:xfrm>
            <a:off x="2011680" y="91440"/>
            <a:ext cx="5029200" cy="548640"/>
          </a:xfrm>
          <a:prstGeom prst="rect">
            <a:avLst/>
          </a:prstGeom>
          <a:noFill/>
          <a:ln/>
        </p:spPr>
        <p:txBody>
          <a:bodyPr wrap="square" lIns="0" tIns="0" rIns="0" bIns="0" rtlCol="0" anchor="ctr"/>
          <a:lstStyle/>
          <a:p>
            <a:pPr marL="0" indent="0">
              <a:buNone/>
            </a:pPr>
            <a:r>
              <a:rPr lang="en-US" sz="2000" b="1" dirty="0">
                <a:solidFill>
                  <a:srgbClr val="FFFFFF"/>
                </a:solidFill>
                <a:latin typeface="Calibri" pitchFamily="34" charset="0"/>
                <a:ea typeface="Calibri" pitchFamily="34" charset="-122"/>
                <a:cs typeface="Calibri" pitchFamily="34" charset="-120"/>
              </a:rPr>
              <a:t>Existing Systems</a:t>
            </a:r>
            <a:endParaRPr lang="en-US" sz="2000" dirty="0"/>
          </a:p>
        </p:txBody>
      </p:sp>
      <p:sp>
        <p:nvSpPr>
          <p:cNvPr id="6" name="Text 3"/>
          <p:cNvSpPr/>
          <p:nvPr/>
        </p:nvSpPr>
        <p:spPr>
          <a:xfrm>
            <a:off x="6858000" y="109728"/>
            <a:ext cx="2103120" cy="502920"/>
          </a:xfrm>
          <a:prstGeom prst="rect">
            <a:avLst/>
          </a:prstGeom>
          <a:noFill/>
          <a:ln/>
        </p:spPr>
        <p:txBody>
          <a:bodyPr wrap="square" lIns="0" tIns="0" rIns="0" bIns="0" rtlCol="0" anchor="ctr"/>
          <a:lstStyle/>
          <a:p>
            <a:pPr marL="0" indent="0" algn="r">
              <a:buNone/>
            </a:pPr>
            <a:r>
              <a:rPr lang="en-US" sz="1000" i="1" dirty="0">
                <a:solidFill>
                  <a:srgbClr val="7A8FA6"/>
                </a:solidFill>
                <a:latin typeface="Georgia" pitchFamily="34" charset="0"/>
                <a:ea typeface="Georgia" pitchFamily="34" charset="-122"/>
                <a:cs typeface="Georgia" pitchFamily="34" charset="-120"/>
              </a:rPr>
              <a:t>Go, change the world</a:t>
            </a:r>
            <a:endParaRPr lang="en-US" sz="1000" dirty="0"/>
          </a:p>
        </p:txBody>
      </p:sp>
      <p:sp>
        <p:nvSpPr>
          <p:cNvPr id="7" name="Shape 4"/>
          <p:cNvSpPr/>
          <p:nvPr/>
        </p:nvSpPr>
        <p:spPr>
          <a:xfrm>
            <a:off x="274320" y="914400"/>
            <a:ext cx="8595360" cy="320040"/>
          </a:xfrm>
          <a:prstGeom prst="rect">
            <a:avLst/>
          </a:prstGeom>
          <a:solidFill>
            <a:srgbClr val="E63946"/>
          </a:solidFill>
          <a:ln/>
        </p:spPr>
        <p:txBody>
          <a:bodyPr/>
          <a:lstStyle/>
          <a:p>
            <a:endParaRPr lang="en-IN"/>
          </a:p>
        </p:txBody>
      </p:sp>
      <p:sp>
        <p:nvSpPr>
          <p:cNvPr id="8" name="Text 5"/>
          <p:cNvSpPr/>
          <p:nvPr/>
        </p:nvSpPr>
        <p:spPr>
          <a:xfrm>
            <a:off x="274320" y="914400"/>
            <a:ext cx="2560320" cy="320040"/>
          </a:xfrm>
          <a:prstGeom prst="rect">
            <a:avLst/>
          </a:prstGeom>
          <a:noFill/>
          <a:ln/>
        </p:spPr>
        <p:txBody>
          <a:bodyPr wrap="square" lIns="50800" tIns="50800" rIns="50800" bIns="50800" rtlCol="0" anchor="ctr"/>
          <a:lstStyle/>
          <a:p>
            <a:pPr marL="0" indent="0">
              <a:buNone/>
            </a:pPr>
            <a:r>
              <a:rPr lang="en-US" sz="1050" b="1" dirty="0">
                <a:solidFill>
                  <a:srgbClr val="FFFFFF"/>
                </a:solidFill>
                <a:latin typeface="Calibri" pitchFamily="34" charset="0"/>
                <a:ea typeface="Calibri" pitchFamily="34" charset="-122"/>
                <a:cs typeface="Calibri" pitchFamily="34" charset="-120"/>
              </a:rPr>
              <a:t>Category</a:t>
            </a:r>
            <a:endParaRPr lang="en-US" sz="1050" dirty="0"/>
          </a:p>
        </p:txBody>
      </p:sp>
      <p:sp>
        <p:nvSpPr>
          <p:cNvPr id="9" name="Text 6"/>
          <p:cNvSpPr/>
          <p:nvPr/>
        </p:nvSpPr>
        <p:spPr>
          <a:xfrm>
            <a:off x="2834640" y="914400"/>
            <a:ext cx="2743200" cy="320040"/>
          </a:xfrm>
          <a:prstGeom prst="rect">
            <a:avLst/>
          </a:prstGeom>
          <a:noFill/>
          <a:ln/>
        </p:spPr>
        <p:txBody>
          <a:bodyPr wrap="square" lIns="50800" tIns="50800" rIns="50800" bIns="50800" rtlCol="0" anchor="ctr"/>
          <a:lstStyle/>
          <a:p>
            <a:pPr marL="0" indent="0">
              <a:buNone/>
            </a:pPr>
            <a:r>
              <a:rPr lang="en-US" sz="1050" b="1" dirty="0">
                <a:solidFill>
                  <a:srgbClr val="FFFFFF"/>
                </a:solidFill>
                <a:latin typeface="Calibri" pitchFamily="34" charset="0"/>
                <a:ea typeface="Calibri" pitchFamily="34" charset="-122"/>
                <a:cs typeface="Calibri" pitchFamily="34" charset="-120"/>
              </a:rPr>
              <a:t>Existing Tool / Method</a:t>
            </a:r>
            <a:endParaRPr lang="en-US" sz="1050" dirty="0"/>
          </a:p>
        </p:txBody>
      </p:sp>
      <p:sp>
        <p:nvSpPr>
          <p:cNvPr id="10" name="Text 7"/>
          <p:cNvSpPr/>
          <p:nvPr/>
        </p:nvSpPr>
        <p:spPr>
          <a:xfrm>
            <a:off x="5577840" y="914400"/>
            <a:ext cx="3291840" cy="320040"/>
          </a:xfrm>
          <a:prstGeom prst="rect">
            <a:avLst/>
          </a:prstGeom>
          <a:noFill/>
          <a:ln/>
        </p:spPr>
        <p:txBody>
          <a:bodyPr wrap="square" lIns="50800" tIns="50800" rIns="50800" bIns="50800" rtlCol="0" anchor="ctr"/>
          <a:lstStyle/>
          <a:p>
            <a:pPr marL="0" indent="0">
              <a:buNone/>
            </a:pPr>
            <a:r>
              <a:rPr lang="en-US" sz="1050" b="1" dirty="0">
                <a:solidFill>
                  <a:srgbClr val="FFFFFF"/>
                </a:solidFill>
                <a:latin typeface="Calibri" pitchFamily="34" charset="0"/>
                <a:ea typeface="Calibri" pitchFamily="34" charset="-122"/>
                <a:cs typeface="Calibri" pitchFamily="34" charset="-120"/>
              </a:rPr>
              <a:t>Limitation</a:t>
            </a:r>
            <a:endParaRPr lang="en-US" sz="1050" dirty="0"/>
          </a:p>
        </p:txBody>
      </p:sp>
      <p:sp>
        <p:nvSpPr>
          <p:cNvPr id="11" name="Shape 8"/>
          <p:cNvSpPr/>
          <p:nvPr/>
        </p:nvSpPr>
        <p:spPr>
          <a:xfrm>
            <a:off x="274320" y="1234440"/>
            <a:ext cx="8595360" cy="457200"/>
          </a:xfrm>
          <a:prstGeom prst="rect">
            <a:avLst/>
          </a:prstGeom>
          <a:solidFill>
            <a:srgbClr val="2A3150"/>
          </a:solidFill>
          <a:ln/>
        </p:spPr>
        <p:txBody>
          <a:bodyPr/>
          <a:lstStyle/>
          <a:p>
            <a:endParaRPr lang="en-IN"/>
          </a:p>
        </p:txBody>
      </p:sp>
      <p:sp>
        <p:nvSpPr>
          <p:cNvPr id="12" name="Text 9"/>
          <p:cNvSpPr/>
          <p:nvPr/>
        </p:nvSpPr>
        <p:spPr>
          <a:xfrm>
            <a:off x="274320" y="1234440"/>
            <a:ext cx="2560320" cy="457200"/>
          </a:xfrm>
          <a:prstGeom prst="rect">
            <a:avLst/>
          </a:prstGeom>
          <a:noFill/>
          <a:ln/>
        </p:spPr>
        <p:txBody>
          <a:bodyPr wrap="square" lIns="50800" tIns="50800" rIns="50800" bIns="50800" rtlCol="0" anchor="ctr"/>
          <a:lstStyle/>
          <a:p>
            <a:pPr marL="0" indent="0">
              <a:buNone/>
            </a:pPr>
            <a:r>
              <a:rPr lang="en-US" sz="950" dirty="0">
                <a:solidFill>
                  <a:srgbClr val="C8D6E5"/>
                </a:solidFill>
                <a:latin typeface="Calibri" pitchFamily="34" charset="0"/>
                <a:ea typeface="Calibri" pitchFamily="34" charset="-122"/>
                <a:cs typeface="Calibri" pitchFamily="34" charset="-120"/>
              </a:rPr>
              <a:t>Static Timetabling</a:t>
            </a:r>
            <a:endParaRPr lang="en-US" sz="950" dirty="0"/>
          </a:p>
        </p:txBody>
      </p:sp>
      <p:sp>
        <p:nvSpPr>
          <p:cNvPr id="13" name="Text 10"/>
          <p:cNvSpPr/>
          <p:nvPr/>
        </p:nvSpPr>
        <p:spPr>
          <a:xfrm>
            <a:off x="2834640" y="1234440"/>
            <a:ext cx="2743200" cy="457200"/>
          </a:xfrm>
          <a:prstGeom prst="rect">
            <a:avLst/>
          </a:prstGeom>
          <a:noFill/>
          <a:ln/>
        </p:spPr>
        <p:txBody>
          <a:bodyPr wrap="square" lIns="50800" tIns="50800" rIns="50800" bIns="50800" rtlCol="0" anchor="ctr"/>
          <a:lstStyle/>
          <a:p>
            <a:pPr marL="0" indent="0">
              <a:buNone/>
            </a:pPr>
            <a:r>
              <a:rPr lang="en-US" sz="950" dirty="0">
                <a:solidFill>
                  <a:srgbClr val="C8D6E5"/>
                </a:solidFill>
                <a:latin typeface="Calibri" pitchFamily="34" charset="0"/>
                <a:ea typeface="Calibri" pitchFamily="34" charset="-122"/>
                <a:cs typeface="Calibri" pitchFamily="34" charset="-120"/>
              </a:rPr>
              <a:t>Primavera, GTFS schedulers</a:t>
            </a:r>
            <a:endParaRPr lang="en-US" sz="950" dirty="0"/>
          </a:p>
        </p:txBody>
      </p:sp>
      <p:sp>
        <p:nvSpPr>
          <p:cNvPr id="14" name="Text 11"/>
          <p:cNvSpPr/>
          <p:nvPr/>
        </p:nvSpPr>
        <p:spPr>
          <a:xfrm>
            <a:off x="5577840" y="1234440"/>
            <a:ext cx="3291840" cy="457200"/>
          </a:xfrm>
          <a:prstGeom prst="rect">
            <a:avLst/>
          </a:prstGeom>
          <a:noFill/>
          <a:ln/>
        </p:spPr>
        <p:txBody>
          <a:bodyPr wrap="square" lIns="50800" tIns="50800" rIns="50800" bIns="50800" rtlCol="0" anchor="ctr"/>
          <a:lstStyle/>
          <a:p>
            <a:pPr marL="0" indent="0">
              <a:buNone/>
            </a:pPr>
            <a:r>
              <a:rPr lang="en-US" sz="950" dirty="0">
                <a:solidFill>
                  <a:srgbClr val="F4A261"/>
                </a:solidFill>
                <a:latin typeface="Calibri" pitchFamily="34" charset="0"/>
                <a:ea typeface="Calibri" pitchFamily="34" charset="-122"/>
                <a:cs typeface="Calibri" pitchFamily="34" charset="-120"/>
              </a:rPr>
              <a:t>No real-time adaptation; fails under stochastic demand</a:t>
            </a:r>
            <a:endParaRPr lang="en-US" sz="950" dirty="0"/>
          </a:p>
        </p:txBody>
      </p:sp>
      <p:sp>
        <p:nvSpPr>
          <p:cNvPr id="15" name="Shape 12"/>
          <p:cNvSpPr/>
          <p:nvPr/>
        </p:nvSpPr>
        <p:spPr>
          <a:xfrm>
            <a:off x="274320" y="1691640"/>
            <a:ext cx="8595360" cy="457200"/>
          </a:xfrm>
          <a:prstGeom prst="rect">
            <a:avLst/>
          </a:prstGeom>
          <a:solidFill>
            <a:srgbClr val="1E2640"/>
          </a:solidFill>
          <a:ln/>
        </p:spPr>
        <p:txBody>
          <a:bodyPr/>
          <a:lstStyle/>
          <a:p>
            <a:endParaRPr lang="en-IN"/>
          </a:p>
        </p:txBody>
      </p:sp>
      <p:sp>
        <p:nvSpPr>
          <p:cNvPr id="16" name="Text 13"/>
          <p:cNvSpPr/>
          <p:nvPr/>
        </p:nvSpPr>
        <p:spPr>
          <a:xfrm>
            <a:off x="274320" y="1691640"/>
            <a:ext cx="2560320" cy="457200"/>
          </a:xfrm>
          <a:prstGeom prst="rect">
            <a:avLst/>
          </a:prstGeom>
          <a:noFill/>
          <a:ln/>
        </p:spPr>
        <p:txBody>
          <a:bodyPr wrap="square" lIns="50800" tIns="50800" rIns="50800" bIns="50800" rtlCol="0" anchor="ctr"/>
          <a:lstStyle/>
          <a:p>
            <a:pPr marL="0" indent="0">
              <a:buNone/>
            </a:pPr>
            <a:r>
              <a:rPr lang="en-US" sz="950" dirty="0">
                <a:solidFill>
                  <a:srgbClr val="C8D6E5"/>
                </a:solidFill>
                <a:latin typeface="Calibri" pitchFamily="34" charset="0"/>
                <a:ea typeface="Calibri" pitchFamily="34" charset="-122"/>
                <a:cs typeface="Calibri" pitchFamily="34" charset="-120"/>
              </a:rPr>
              <a:t>Headway-Based RL</a:t>
            </a:r>
            <a:endParaRPr lang="en-US" sz="950" dirty="0"/>
          </a:p>
        </p:txBody>
      </p:sp>
      <p:sp>
        <p:nvSpPr>
          <p:cNvPr id="17" name="Text 14"/>
          <p:cNvSpPr/>
          <p:nvPr/>
        </p:nvSpPr>
        <p:spPr>
          <a:xfrm>
            <a:off x="2834640" y="1691640"/>
            <a:ext cx="2743200" cy="457200"/>
          </a:xfrm>
          <a:prstGeom prst="rect">
            <a:avLst/>
          </a:prstGeom>
          <a:noFill/>
          <a:ln/>
        </p:spPr>
        <p:txBody>
          <a:bodyPr wrap="square" lIns="50800" tIns="50800" rIns="50800" bIns="50800" rtlCol="0" anchor="ctr"/>
          <a:lstStyle/>
          <a:p>
            <a:pPr marL="0" indent="0">
              <a:buNone/>
            </a:pPr>
            <a:r>
              <a:rPr lang="en-US" sz="950" dirty="0">
                <a:solidFill>
                  <a:srgbClr val="C8D6E5"/>
                </a:solidFill>
                <a:latin typeface="Calibri" pitchFamily="34" charset="0"/>
                <a:ea typeface="Calibri" pitchFamily="34" charset="-122"/>
                <a:cs typeface="Calibri" pitchFamily="34" charset="-120"/>
              </a:rPr>
              <a:t>zhandongxu/RL-BusBunching (GitHub)</a:t>
            </a:r>
            <a:endParaRPr lang="en-US" sz="950" dirty="0"/>
          </a:p>
        </p:txBody>
      </p:sp>
      <p:sp>
        <p:nvSpPr>
          <p:cNvPr id="18" name="Text 15"/>
          <p:cNvSpPr/>
          <p:nvPr/>
        </p:nvSpPr>
        <p:spPr>
          <a:xfrm>
            <a:off x="5577840" y="1691640"/>
            <a:ext cx="3291840" cy="457200"/>
          </a:xfrm>
          <a:prstGeom prst="rect">
            <a:avLst/>
          </a:prstGeom>
          <a:noFill/>
          <a:ln/>
        </p:spPr>
        <p:txBody>
          <a:bodyPr wrap="square" lIns="50800" tIns="50800" rIns="50800" bIns="50800" rtlCol="0" anchor="ctr"/>
          <a:lstStyle/>
          <a:p>
            <a:pPr marL="0" indent="0">
              <a:buNone/>
            </a:pPr>
            <a:r>
              <a:rPr lang="en-US" sz="950" dirty="0">
                <a:solidFill>
                  <a:srgbClr val="F4A261"/>
                </a:solidFill>
                <a:latin typeface="Calibri" pitchFamily="34" charset="0"/>
                <a:ea typeface="Calibri" pitchFamily="34" charset="-122"/>
                <a:cs typeface="Calibri" pitchFamily="34" charset="-120"/>
              </a:rPr>
              <a:t>Optimizes time-variance only; ignores economic cost</a:t>
            </a:r>
            <a:endParaRPr lang="en-US" sz="950" dirty="0"/>
          </a:p>
        </p:txBody>
      </p:sp>
      <p:sp>
        <p:nvSpPr>
          <p:cNvPr id="19" name="Shape 16"/>
          <p:cNvSpPr/>
          <p:nvPr/>
        </p:nvSpPr>
        <p:spPr>
          <a:xfrm>
            <a:off x="274320" y="2148840"/>
            <a:ext cx="8595360" cy="457200"/>
          </a:xfrm>
          <a:prstGeom prst="rect">
            <a:avLst/>
          </a:prstGeom>
          <a:solidFill>
            <a:srgbClr val="2A3150"/>
          </a:solidFill>
          <a:ln/>
        </p:spPr>
        <p:txBody>
          <a:bodyPr/>
          <a:lstStyle/>
          <a:p>
            <a:endParaRPr lang="en-IN"/>
          </a:p>
        </p:txBody>
      </p:sp>
      <p:sp>
        <p:nvSpPr>
          <p:cNvPr id="20" name="Text 17"/>
          <p:cNvSpPr/>
          <p:nvPr/>
        </p:nvSpPr>
        <p:spPr>
          <a:xfrm>
            <a:off x="274320" y="2148840"/>
            <a:ext cx="2560320" cy="457200"/>
          </a:xfrm>
          <a:prstGeom prst="rect">
            <a:avLst/>
          </a:prstGeom>
          <a:noFill/>
          <a:ln/>
        </p:spPr>
        <p:txBody>
          <a:bodyPr wrap="square" lIns="50800" tIns="50800" rIns="50800" bIns="50800" rtlCol="0" anchor="ctr"/>
          <a:lstStyle/>
          <a:p>
            <a:pPr marL="0" indent="0">
              <a:buNone/>
            </a:pPr>
            <a:r>
              <a:rPr lang="en-US" sz="950" dirty="0">
                <a:solidFill>
                  <a:srgbClr val="C8D6E5"/>
                </a:solidFill>
                <a:latin typeface="Calibri" pitchFamily="34" charset="0"/>
                <a:ea typeface="Calibri" pitchFamily="34" charset="-122"/>
                <a:cs typeface="Calibri" pitchFamily="34" charset="-120"/>
              </a:rPr>
              <a:t>Congestion Pricing</a:t>
            </a:r>
            <a:endParaRPr lang="en-US" sz="950" dirty="0"/>
          </a:p>
        </p:txBody>
      </p:sp>
      <p:sp>
        <p:nvSpPr>
          <p:cNvPr id="21" name="Text 18"/>
          <p:cNvSpPr/>
          <p:nvPr/>
        </p:nvSpPr>
        <p:spPr>
          <a:xfrm>
            <a:off x="2834640" y="2148840"/>
            <a:ext cx="2743200" cy="457200"/>
          </a:xfrm>
          <a:prstGeom prst="rect">
            <a:avLst/>
          </a:prstGeom>
          <a:noFill/>
          <a:ln/>
        </p:spPr>
        <p:txBody>
          <a:bodyPr wrap="square" lIns="50800" tIns="50800" rIns="50800" bIns="50800" rtlCol="0" anchor="ctr"/>
          <a:lstStyle/>
          <a:p>
            <a:pPr marL="0" indent="0">
              <a:buNone/>
            </a:pPr>
            <a:r>
              <a:rPr lang="en-US" sz="950" dirty="0">
                <a:solidFill>
                  <a:srgbClr val="C8D6E5"/>
                </a:solidFill>
                <a:latin typeface="Calibri" pitchFamily="34" charset="0"/>
                <a:ea typeface="Calibri" pitchFamily="34" charset="-122"/>
                <a:cs typeface="Calibri" pitchFamily="34" charset="-120"/>
              </a:rPr>
              <a:t>Stockholm/Singapore dynamic tolls</a:t>
            </a:r>
            <a:endParaRPr lang="en-US" sz="950" dirty="0"/>
          </a:p>
        </p:txBody>
      </p:sp>
      <p:sp>
        <p:nvSpPr>
          <p:cNvPr id="22" name="Text 19"/>
          <p:cNvSpPr/>
          <p:nvPr/>
        </p:nvSpPr>
        <p:spPr>
          <a:xfrm>
            <a:off x="5577840" y="2148840"/>
            <a:ext cx="3291840" cy="457200"/>
          </a:xfrm>
          <a:prstGeom prst="rect">
            <a:avLst/>
          </a:prstGeom>
          <a:noFill/>
          <a:ln/>
        </p:spPr>
        <p:txBody>
          <a:bodyPr wrap="square" lIns="50800" tIns="50800" rIns="50800" bIns="50800" rtlCol="0" anchor="ctr"/>
          <a:lstStyle/>
          <a:p>
            <a:pPr marL="0" indent="0">
              <a:buNone/>
            </a:pPr>
            <a:r>
              <a:rPr lang="en-US" sz="950" dirty="0">
                <a:solidFill>
                  <a:srgbClr val="F4A261"/>
                </a:solidFill>
                <a:latin typeface="Calibri" pitchFamily="34" charset="0"/>
                <a:ea typeface="Calibri" pitchFamily="34" charset="-122"/>
                <a:cs typeface="Calibri" pitchFamily="34" charset="-120"/>
              </a:rPr>
              <a:t>Does not model bus-level agent behaviour</a:t>
            </a:r>
            <a:endParaRPr lang="en-US" sz="950" dirty="0"/>
          </a:p>
        </p:txBody>
      </p:sp>
      <p:sp>
        <p:nvSpPr>
          <p:cNvPr id="23" name="Shape 20"/>
          <p:cNvSpPr/>
          <p:nvPr/>
        </p:nvSpPr>
        <p:spPr>
          <a:xfrm>
            <a:off x="274320" y="2606040"/>
            <a:ext cx="8595360" cy="457200"/>
          </a:xfrm>
          <a:prstGeom prst="rect">
            <a:avLst/>
          </a:prstGeom>
          <a:solidFill>
            <a:srgbClr val="1E2640"/>
          </a:solidFill>
          <a:ln/>
        </p:spPr>
        <p:txBody>
          <a:bodyPr/>
          <a:lstStyle/>
          <a:p>
            <a:endParaRPr lang="en-IN"/>
          </a:p>
        </p:txBody>
      </p:sp>
      <p:sp>
        <p:nvSpPr>
          <p:cNvPr id="24" name="Text 21"/>
          <p:cNvSpPr/>
          <p:nvPr/>
        </p:nvSpPr>
        <p:spPr>
          <a:xfrm>
            <a:off x="274320" y="2606040"/>
            <a:ext cx="2560320" cy="457200"/>
          </a:xfrm>
          <a:prstGeom prst="rect">
            <a:avLst/>
          </a:prstGeom>
          <a:noFill/>
          <a:ln/>
        </p:spPr>
        <p:txBody>
          <a:bodyPr wrap="square" lIns="50800" tIns="50800" rIns="50800" bIns="50800" rtlCol="0" anchor="ctr"/>
          <a:lstStyle/>
          <a:p>
            <a:pPr marL="0" indent="0">
              <a:buNone/>
            </a:pPr>
            <a:r>
              <a:rPr lang="en-US" sz="950" dirty="0">
                <a:solidFill>
                  <a:srgbClr val="C8D6E5"/>
                </a:solidFill>
                <a:latin typeface="Calibri" pitchFamily="34" charset="0"/>
                <a:ea typeface="Calibri" pitchFamily="34" charset="-122"/>
                <a:cs typeface="Calibri" pitchFamily="34" charset="-120"/>
              </a:rPr>
              <a:t>Passenger Info Systems</a:t>
            </a:r>
            <a:endParaRPr lang="en-US" sz="950" dirty="0"/>
          </a:p>
        </p:txBody>
      </p:sp>
      <p:sp>
        <p:nvSpPr>
          <p:cNvPr id="25" name="Text 22"/>
          <p:cNvSpPr/>
          <p:nvPr/>
        </p:nvSpPr>
        <p:spPr>
          <a:xfrm>
            <a:off x="2834640" y="2606040"/>
            <a:ext cx="2743200" cy="457200"/>
          </a:xfrm>
          <a:prstGeom prst="rect">
            <a:avLst/>
          </a:prstGeom>
          <a:noFill/>
          <a:ln/>
        </p:spPr>
        <p:txBody>
          <a:bodyPr wrap="square" lIns="50800" tIns="50800" rIns="50800" bIns="50800" rtlCol="0" anchor="ctr"/>
          <a:lstStyle/>
          <a:p>
            <a:pPr marL="0" indent="0">
              <a:buNone/>
            </a:pPr>
            <a:r>
              <a:rPr lang="en-US" sz="950" dirty="0">
                <a:solidFill>
                  <a:srgbClr val="C8D6E5"/>
                </a:solidFill>
                <a:latin typeface="Calibri" pitchFamily="34" charset="0"/>
                <a:ea typeface="Calibri" pitchFamily="34" charset="-122"/>
                <a:cs typeface="Calibri" pitchFamily="34" charset="-120"/>
              </a:rPr>
              <a:t>BMTC app, Google Maps Transit</a:t>
            </a:r>
            <a:endParaRPr lang="en-US" sz="950" dirty="0"/>
          </a:p>
        </p:txBody>
      </p:sp>
      <p:sp>
        <p:nvSpPr>
          <p:cNvPr id="26" name="Text 23"/>
          <p:cNvSpPr/>
          <p:nvPr/>
        </p:nvSpPr>
        <p:spPr>
          <a:xfrm>
            <a:off x="5577840" y="2606040"/>
            <a:ext cx="3291840" cy="457200"/>
          </a:xfrm>
          <a:prstGeom prst="rect">
            <a:avLst/>
          </a:prstGeom>
          <a:noFill/>
          <a:ln/>
        </p:spPr>
        <p:txBody>
          <a:bodyPr wrap="square" lIns="50800" tIns="50800" rIns="50800" bIns="50800" rtlCol="0" anchor="ctr"/>
          <a:lstStyle/>
          <a:p>
            <a:pPr marL="0" indent="0">
              <a:buNone/>
            </a:pPr>
            <a:r>
              <a:rPr lang="en-US" sz="950" dirty="0">
                <a:solidFill>
                  <a:srgbClr val="F4A261"/>
                </a:solidFill>
                <a:latin typeface="Calibri" pitchFamily="34" charset="0"/>
                <a:ea typeface="Calibri" pitchFamily="34" charset="-122"/>
                <a:cs typeface="Calibri" pitchFamily="34" charset="-120"/>
              </a:rPr>
              <a:t>Reactive only; no predictive dispatch control</a:t>
            </a:r>
            <a:endParaRPr lang="en-US" sz="950" dirty="0"/>
          </a:p>
        </p:txBody>
      </p:sp>
      <p:sp>
        <p:nvSpPr>
          <p:cNvPr id="27" name="Shape 24"/>
          <p:cNvSpPr/>
          <p:nvPr/>
        </p:nvSpPr>
        <p:spPr>
          <a:xfrm>
            <a:off x="274320" y="3063240"/>
            <a:ext cx="8595360" cy="457200"/>
          </a:xfrm>
          <a:prstGeom prst="rect">
            <a:avLst/>
          </a:prstGeom>
          <a:solidFill>
            <a:srgbClr val="2A3150"/>
          </a:solidFill>
          <a:ln/>
        </p:spPr>
        <p:txBody>
          <a:bodyPr/>
          <a:lstStyle/>
          <a:p>
            <a:endParaRPr lang="en-IN"/>
          </a:p>
        </p:txBody>
      </p:sp>
      <p:sp>
        <p:nvSpPr>
          <p:cNvPr id="28" name="Text 25"/>
          <p:cNvSpPr/>
          <p:nvPr/>
        </p:nvSpPr>
        <p:spPr>
          <a:xfrm>
            <a:off x="274320" y="3063240"/>
            <a:ext cx="2560320" cy="457200"/>
          </a:xfrm>
          <a:prstGeom prst="rect">
            <a:avLst/>
          </a:prstGeom>
          <a:noFill/>
          <a:ln/>
        </p:spPr>
        <p:txBody>
          <a:bodyPr wrap="square" lIns="50800" tIns="50800" rIns="50800" bIns="50800" rtlCol="0" anchor="ctr"/>
          <a:lstStyle/>
          <a:p>
            <a:pPr marL="0" indent="0">
              <a:buNone/>
            </a:pPr>
            <a:r>
              <a:rPr lang="en-US" sz="950" dirty="0">
                <a:solidFill>
                  <a:srgbClr val="C8D6E5"/>
                </a:solidFill>
                <a:latin typeface="Calibri" pitchFamily="34" charset="0"/>
                <a:ea typeface="Calibri" pitchFamily="34" charset="-122"/>
                <a:cs typeface="Calibri" pitchFamily="34" charset="-120"/>
              </a:rPr>
              <a:t>Physics-Informed DRL</a:t>
            </a:r>
            <a:endParaRPr lang="en-US" sz="950" dirty="0"/>
          </a:p>
        </p:txBody>
      </p:sp>
      <p:sp>
        <p:nvSpPr>
          <p:cNvPr id="29" name="Text 26"/>
          <p:cNvSpPr/>
          <p:nvPr/>
        </p:nvSpPr>
        <p:spPr>
          <a:xfrm>
            <a:off x="2834640" y="3063240"/>
            <a:ext cx="2743200" cy="457200"/>
          </a:xfrm>
          <a:prstGeom prst="rect">
            <a:avLst/>
          </a:prstGeom>
          <a:noFill/>
          <a:ln/>
        </p:spPr>
        <p:txBody>
          <a:bodyPr wrap="square" lIns="50800" tIns="50800" rIns="50800" bIns="50800" rtlCol="0" anchor="ctr"/>
          <a:lstStyle/>
          <a:p>
            <a:pPr marL="0" indent="0">
              <a:buNone/>
            </a:pPr>
            <a:r>
              <a:rPr lang="en-US" sz="950" dirty="0">
                <a:solidFill>
                  <a:srgbClr val="C8D6E5"/>
                </a:solidFill>
                <a:latin typeface="Calibri" pitchFamily="34" charset="0"/>
                <a:ea typeface="Calibri" pitchFamily="34" charset="-122"/>
                <a:cs typeface="Calibri" pitchFamily="34" charset="-120"/>
              </a:rPr>
              <a:t>Chen et al. 2024 (ScienceDirect)</a:t>
            </a:r>
            <a:endParaRPr lang="en-US" sz="950" dirty="0"/>
          </a:p>
        </p:txBody>
      </p:sp>
      <p:sp>
        <p:nvSpPr>
          <p:cNvPr id="30" name="Text 27"/>
          <p:cNvSpPr/>
          <p:nvPr/>
        </p:nvSpPr>
        <p:spPr>
          <a:xfrm>
            <a:off x="5577840" y="3063240"/>
            <a:ext cx="3291840" cy="457200"/>
          </a:xfrm>
          <a:prstGeom prst="rect">
            <a:avLst/>
          </a:prstGeom>
          <a:noFill/>
          <a:ln/>
        </p:spPr>
        <p:txBody>
          <a:bodyPr wrap="square" lIns="50800" tIns="50800" rIns="50800" bIns="50800" rtlCol="0" anchor="ctr"/>
          <a:lstStyle/>
          <a:p>
            <a:pPr marL="0" indent="0">
              <a:buNone/>
            </a:pPr>
            <a:r>
              <a:rPr lang="en-US" sz="950" dirty="0">
                <a:solidFill>
                  <a:srgbClr val="F4A261"/>
                </a:solidFill>
                <a:latin typeface="Calibri" pitchFamily="34" charset="0"/>
                <a:ea typeface="Calibri" pitchFamily="34" charset="-122"/>
                <a:cs typeface="Calibri" pitchFamily="34" charset="-120"/>
              </a:rPr>
              <a:t>CPU-intensive; no economic reward signal</a:t>
            </a:r>
            <a:endParaRPr lang="en-US" sz="950" dirty="0"/>
          </a:p>
        </p:txBody>
      </p:sp>
      <p:sp>
        <p:nvSpPr>
          <p:cNvPr id="31" name="Shape 28"/>
          <p:cNvSpPr/>
          <p:nvPr/>
        </p:nvSpPr>
        <p:spPr>
          <a:xfrm>
            <a:off x="274320" y="3520440"/>
            <a:ext cx="8595360" cy="457200"/>
          </a:xfrm>
          <a:prstGeom prst="rect">
            <a:avLst/>
          </a:prstGeom>
          <a:solidFill>
            <a:srgbClr val="1E2640"/>
          </a:solidFill>
          <a:ln/>
        </p:spPr>
        <p:txBody>
          <a:bodyPr/>
          <a:lstStyle/>
          <a:p>
            <a:endParaRPr lang="en-IN"/>
          </a:p>
        </p:txBody>
      </p:sp>
      <p:sp>
        <p:nvSpPr>
          <p:cNvPr id="32" name="Text 29"/>
          <p:cNvSpPr/>
          <p:nvPr/>
        </p:nvSpPr>
        <p:spPr>
          <a:xfrm>
            <a:off x="274320" y="3520440"/>
            <a:ext cx="2560320" cy="457200"/>
          </a:xfrm>
          <a:prstGeom prst="rect">
            <a:avLst/>
          </a:prstGeom>
          <a:noFill/>
          <a:ln/>
        </p:spPr>
        <p:txBody>
          <a:bodyPr wrap="square" lIns="50800" tIns="50800" rIns="50800" bIns="50800" rtlCol="0" anchor="ctr"/>
          <a:lstStyle/>
          <a:p>
            <a:pPr marL="0" indent="0">
              <a:buNone/>
            </a:pPr>
            <a:r>
              <a:rPr lang="en-US" sz="950" dirty="0">
                <a:solidFill>
                  <a:srgbClr val="C8D6E5"/>
                </a:solidFill>
                <a:latin typeface="Calibri" pitchFamily="34" charset="0"/>
                <a:ea typeface="Calibri" pitchFamily="34" charset="-122"/>
                <a:cs typeface="Calibri" pitchFamily="34" charset="-120"/>
              </a:rPr>
              <a:t>Multi-Agent MARL (HMARL)</a:t>
            </a:r>
            <a:endParaRPr lang="en-US" sz="950" dirty="0"/>
          </a:p>
        </p:txBody>
      </p:sp>
      <p:sp>
        <p:nvSpPr>
          <p:cNvPr id="33" name="Text 30"/>
          <p:cNvSpPr/>
          <p:nvPr/>
        </p:nvSpPr>
        <p:spPr>
          <a:xfrm>
            <a:off x="2834640" y="3520440"/>
            <a:ext cx="2743200" cy="457200"/>
          </a:xfrm>
          <a:prstGeom prst="rect">
            <a:avLst/>
          </a:prstGeom>
          <a:noFill/>
          <a:ln/>
        </p:spPr>
        <p:txBody>
          <a:bodyPr wrap="square" lIns="50800" tIns="50800" rIns="50800" bIns="50800" rtlCol="0" anchor="ctr"/>
          <a:lstStyle/>
          <a:p>
            <a:pPr marL="0" indent="0">
              <a:buNone/>
            </a:pPr>
            <a:r>
              <a:rPr lang="en-US" sz="950" dirty="0">
                <a:solidFill>
                  <a:srgbClr val="C8D6E5"/>
                </a:solidFill>
                <a:latin typeface="Calibri" pitchFamily="34" charset="0"/>
                <a:ea typeface="Calibri" pitchFamily="34" charset="-122"/>
                <a:cs typeface="Calibri" pitchFamily="34" charset="-120"/>
              </a:rPr>
              <a:t>IEEE ITS 2024 — Hierarchical RL</a:t>
            </a:r>
            <a:endParaRPr lang="en-US" sz="950" dirty="0"/>
          </a:p>
        </p:txBody>
      </p:sp>
      <p:sp>
        <p:nvSpPr>
          <p:cNvPr id="34" name="Text 31"/>
          <p:cNvSpPr/>
          <p:nvPr/>
        </p:nvSpPr>
        <p:spPr>
          <a:xfrm>
            <a:off x="5577840" y="3520440"/>
            <a:ext cx="3291840" cy="457200"/>
          </a:xfrm>
          <a:prstGeom prst="rect">
            <a:avLst/>
          </a:prstGeom>
          <a:noFill/>
          <a:ln/>
        </p:spPr>
        <p:txBody>
          <a:bodyPr wrap="square" lIns="50800" tIns="50800" rIns="50800" bIns="50800" rtlCol="0" anchor="ctr"/>
          <a:lstStyle/>
          <a:p>
            <a:pPr marL="0" indent="0">
              <a:buNone/>
            </a:pPr>
            <a:r>
              <a:rPr lang="en-US" sz="950" dirty="0">
                <a:solidFill>
                  <a:srgbClr val="F4A261"/>
                </a:solidFill>
                <a:latin typeface="Calibri" pitchFamily="34" charset="0"/>
                <a:ea typeface="Calibri" pitchFamily="34" charset="-122"/>
                <a:cs typeface="Calibri" pitchFamily="34" charset="-120"/>
              </a:rPr>
              <a:t>Requires GPU; no micro-economic passenger modelling</a:t>
            </a:r>
            <a:endParaRPr lang="en-US" sz="950" dirty="0"/>
          </a:p>
        </p:txBody>
      </p:sp>
      <p:sp>
        <p:nvSpPr>
          <p:cNvPr id="35" name="Shape 32"/>
          <p:cNvSpPr/>
          <p:nvPr/>
        </p:nvSpPr>
        <p:spPr>
          <a:xfrm>
            <a:off x="274320" y="4206240"/>
            <a:ext cx="8595360" cy="566928"/>
          </a:xfrm>
          <a:prstGeom prst="rect">
            <a:avLst/>
          </a:prstGeom>
          <a:solidFill>
            <a:srgbClr val="2D1A00"/>
          </a:solidFill>
          <a:ln/>
        </p:spPr>
        <p:txBody>
          <a:bodyPr/>
          <a:lstStyle/>
          <a:p>
            <a:endParaRPr lang="en-IN"/>
          </a:p>
        </p:txBody>
      </p:sp>
      <p:sp>
        <p:nvSpPr>
          <p:cNvPr id="36" name="Shape 33"/>
          <p:cNvSpPr/>
          <p:nvPr/>
        </p:nvSpPr>
        <p:spPr>
          <a:xfrm>
            <a:off x="274320" y="4206240"/>
            <a:ext cx="45720" cy="566928"/>
          </a:xfrm>
          <a:prstGeom prst="rect">
            <a:avLst/>
          </a:prstGeom>
          <a:solidFill>
            <a:srgbClr val="F4A261"/>
          </a:solidFill>
          <a:ln/>
        </p:spPr>
        <p:txBody>
          <a:bodyPr/>
          <a:lstStyle/>
          <a:p>
            <a:endParaRPr lang="en-IN"/>
          </a:p>
        </p:txBody>
      </p:sp>
      <p:sp>
        <p:nvSpPr>
          <p:cNvPr id="37" name="Text 34"/>
          <p:cNvSpPr/>
          <p:nvPr/>
        </p:nvSpPr>
        <p:spPr>
          <a:xfrm>
            <a:off x="411480" y="4224528"/>
            <a:ext cx="8321040" cy="530352"/>
          </a:xfrm>
          <a:prstGeom prst="rect">
            <a:avLst/>
          </a:prstGeom>
          <a:noFill/>
          <a:ln/>
        </p:spPr>
        <p:txBody>
          <a:bodyPr wrap="square" lIns="0" tIns="0" rIns="0" bIns="0" rtlCol="0" anchor="ctr"/>
          <a:lstStyle/>
          <a:p>
            <a:pPr marL="0" indent="0">
              <a:buNone/>
            </a:pPr>
            <a:r>
              <a:rPr lang="en-US" sz="950" i="1" dirty="0">
                <a:solidFill>
                  <a:srgbClr val="F4A261"/>
                </a:solidFill>
                <a:latin typeface="Calibri" pitchFamily="34" charset="0"/>
                <a:ea typeface="Calibri" pitchFamily="34" charset="-122"/>
                <a:cs typeface="Calibri" pitchFamily="34" charset="-120"/>
              </a:rPr>
              <a:t>Key Gap: No existing open-source ITS combines V2X multi-agent LLM debate with real road geometry and live passenger simulation — all on a CPU-only, zero-cost stack targeting Bengaluru’s BMTC routes.</a:t>
            </a:r>
            <a:endParaRPr lang="en-US" sz="950" dirty="0"/>
          </a:p>
        </p:txBody>
      </p:sp>
      <p:pic>
        <p:nvPicPr>
          <p:cNvPr id="38" name="Picture 37">
            <a:extLst>
              <a:ext uri="{FF2B5EF4-FFF2-40B4-BE49-F238E27FC236}">
                <a16:creationId xmlns:a16="http://schemas.microsoft.com/office/drawing/2014/main" id="{28DE3359-B9CC-856B-77A7-F8B86DE585E3}"/>
              </a:ext>
            </a:extLst>
          </p:cNvPr>
          <p:cNvPicPr>
            <a:picLocks noChangeAspect="1"/>
          </p:cNvPicPr>
          <p:nvPr/>
        </p:nvPicPr>
        <p:blipFill>
          <a:blip r:embed="rId3"/>
          <a:stretch>
            <a:fillRect/>
          </a:stretch>
        </p:blipFill>
        <p:spPr>
          <a:xfrm>
            <a:off x="91440" y="128016"/>
            <a:ext cx="1700784" cy="728907"/>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1A1F2E"/>
        </a:solidFill>
        <a:effectLst/>
      </p:bgPr>
    </p:bg>
    <p:spTree>
      <p:nvGrpSpPr>
        <p:cNvPr id="1" name=""/>
        <p:cNvGrpSpPr/>
        <p:nvPr/>
      </p:nvGrpSpPr>
      <p:grpSpPr>
        <a:xfrm>
          <a:off x="0" y="0"/>
          <a:ext cx="0" cy="0"/>
          <a:chOff x="0" y="0"/>
          <a:chExt cx="0" cy="0"/>
        </a:xfrm>
      </p:grpSpPr>
      <p:sp>
        <p:nvSpPr>
          <p:cNvPr id="2" name="Shape 0"/>
          <p:cNvSpPr/>
          <p:nvPr/>
        </p:nvSpPr>
        <p:spPr>
          <a:xfrm>
            <a:off x="0" y="0"/>
            <a:ext cx="9144000" cy="64008"/>
          </a:xfrm>
          <a:prstGeom prst="rect">
            <a:avLst/>
          </a:prstGeom>
          <a:solidFill>
            <a:srgbClr val="E63946"/>
          </a:solidFill>
          <a:ln/>
        </p:spPr>
        <p:txBody>
          <a:bodyPr/>
          <a:lstStyle/>
          <a:p>
            <a:endParaRPr lang="en-IN"/>
          </a:p>
        </p:txBody>
      </p:sp>
      <p:sp>
        <p:nvSpPr>
          <p:cNvPr id="3" name="Shape 1"/>
          <p:cNvSpPr/>
          <p:nvPr/>
        </p:nvSpPr>
        <p:spPr>
          <a:xfrm>
            <a:off x="0" y="64008"/>
            <a:ext cx="9144000" cy="658368"/>
          </a:xfrm>
          <a:prstGeom prst="rect">
            <a:avLst/>
          </a:prstGeom>
          <a:solidFill>
            <a:srgbClr val="2A3150"/>
          </a:solidFill>
          <a:ln/>
        </p:spPr>
        <p:txBody>
          <a:bodyPr/>
          <a:lstStyle/>
          <a:p>
            <a:endParaRPr lang="en-IN"/>
          </a:p>
        </p:txBody>
      </p:sp>
      <p:sp>
        <p:nvSpPr>
          <p:cNvPr id="5" name="Text 2"/>
          <p:cNvSpPr/>
          <p:nvPr/>
        </p:nvSpPr>
        <p:spPr>
          <a:xfrm>
            <a:off x="2011680" y="91440"/>
            <a:ext cx="5029200" cy="548640"/>
          </a:xfrm>
          <a:prstGeom prst="rect">
            <a:avLst/>
          </a:prstGeom>
          <a:noFill/>
          <a:ln/>
        </p:spPr>
        <p:txBody>
          <a:bodyPr wrap="square" lIns="0" tIns="0" rIns="0" bIns="0" rtlCol="0" anchor="ctr"/>
          <a:lstStyle/>
          <a:p>
            <a:pPr marL="0" indent="0">
              <a:buNone/>
            </a:pPr>
            <a:r>
              <a:rPr lang="en-US" sz="2000" b="1" dirty="0">
                <a:solidFill>
                  <a:srgbClr val="FFFFFF"/>
                </a:solidFill>
                <a:latin typeface="Calibri" pitchFamily="34" charset="0"/>
                <a:ea typeface="Calibri" pitchFamily="34" charset="-122"/>
                <a:cs typeface="Calibri" pitchFamily="34" charset="-120"/>
              </a:rPr>
              <a:t>Identification of Problem</a:t>
            </a:r>
            <a:endParaRPr lang="en-US" sz="2000" dirty="0"/>
          </a:p>
        </p:txBody>
      </p:sp>
      <p:sp>
        <p:nvSpPr>
          <p:cNvPr id="6" name="Text 3"/>
          <p:cNvSpPr/>
          <p:nvPr/>
        </p:nvSpPr>
        <p:spPr>
          <a:xfrm>
            <a:off x="6858000" y="109728"/>
            <a:ext cx="2103120" cy="502920"/>
          </a:xfrm>
          <a:prstGeom prst="rect">
            <a:avLst/>
          </a:prstGeom>
          <a:noFill/>
          <a:ln/>
        </p:spPr>
        <p:txBody>
          <a:bodyPr wrap="square" lIns="0" tIns="0" rIns="0" bIns="0" rtlCol="0" anchor="ctr"/>
          <a:lstStyle/>
          <a:p>
            <a:pPr marL="0" indent="0" algn="r">
              <a:buNone/>
            </a:pPr>
            <a:r>
              <a:rPr lang="en-US" sz="1000" i="1" dirty="0">
                <a:solidFill>
                  <a:srgbClr val="7A8FA6"/>
                </a:solidFill>
                <a:latin typeface="Georgia" pitchFamily="34" charset="0"/>
                <a:ea typeface="Georgia" pitchFamily="34" charset="-122"/>
                <a:cs typeface="Georgia" pitchFamily="34" charset="-120"/>
              </a:rPr>
              <a:t>Go, change the world</a:t>
            </a:r>
            <a:endParaRPr lang="en-US" sz="1000" dirty="0"/>
          </a:p>
        </p:txBody>
      </p:sp>
      <p:sp>
        <p:nvSpPr>
          <p:cNvPr id="7" name="Shape 4"/>
          <p:cNvSpPr/>
          <p:nvPr/>
        </p:nvSpPr>
        <p:spPr>
          <a:xfrm>
            <a:off x="731520" y="1920240"/>
            <a:ext cx="7863840" cy="0"/>
          </a:xfrm>
          <a:prstGeom prst="line">
            <a:avLst/>
          </a:prstGeom>
          <a:noFill/>
          <a:ln w="25400">
            <a:solidFill>
              <a:srgbClr val="7A8FA6"/>
            </a:solidFill>
            <a:prstDash val="dash"/>
          </a:ln>
        </p:spPr>
        <p:txBody>
          <a:bodyPr/>
          <a:lstStyle/>
          <a:p>
            <a:endParaRPr lang="en-IN"/>
          </a:p>
        </p:txBody>
      </p:sp>
      <p:sp>
        <p:nvSpPr>
          <p:cNvPr id="8" name="Shape 5"/>
          <p:cNvSpPr/>
          <p:nvPr/>
        </p:nvSpPr>
        <p:spPr>
          <a:xfrm>
            <a:off x="804672" y="1810512"/>
            <a:ext cx="219456" cy="219456"/>
          </a:xfrm>
          <a:prstGeom prst="line">
            <a:avLst/>
          </a:prstGeom>
          <a:solidFill>
            <a:srgbClr val="457B9D"/>
          </a:solidFill>
          <a:ln/>
        </p:spPr>
        <p:txBody>
          <a:bodyPr/>
          <a:lstStyle/>
          <a:p>
            <a:endParaRPr lang="en-IN"/>
          </a:p>
        </p:txBody>
      </p:sp>
      <p:sp>
        <p:nvSpPr>
          <p:cNvPr id="9" name="Text 6"/>
          <p:cNvSpPr/>
          <p:nvPr/>
        </p:nvSpPr>
        <p:spPr>
          <a:xfrm>
            <a:off x="731520" y="2057400"/>
            <a:ext cx="365760" cy="182880"/>
          </a:xfrm>
          <a:prstGeom prst="rect">
            <a:avLst/>
          </a:prstGeom>
          <a:noFill/>
          <a:ln/>
        </p:spPr>
        <p:txBody>
          <a:bodyPr wrap="square" lIns="0" tIns="0" rIns="0" bIns="0" rtlCol="0" anchor="ctr"/>
          <a:lstStyle/>
          <a:p>
            <a:pPr marL="0" indent="0" algn="ctr">
              <a:buNone/>
            </a:pPr>
            <a:r>
              <a:rPr lang="en-US" sz="750" dirty="0">
                <a:solidFill>
                  <a:srgbClr val="7A8FA6"/>
                </a:solidFill>
              </a:rPr>
              <a:t>S1</a:t>
            </a:r>
            <a:endParaRPr lang="en-US" sz="750" dirty="0"/>
          </a:p>
        </p:txBody>
      </p:sp>
      <p:sp>
        <p:nvSpPr>
          <p:cNvPr id="10" name="Shape 7"/>
          <p:cNvSpPr/>
          <p:nvPr/>
        </p:nvSpPr>
        <p:spPr>
          <a:xfrm>
            <a:off x="2633472" y="1810512"/>
            <a:ext cx="219456" cy="219456"/>
          </a:xfrm>
          <a:prstGeom prst="line">
            <a:avLst/>
          </a:prstGeom>
          <a:solidFill>
            <a:srgbClr val="457B9D"/>
          </a:solidFill>
          <a:ln/>
        </p:spPr>
        <p:txBody>
          <a:bodyPr/>
          <a:lstStyle/>
          <a:p>
            <a:endParaRPr lang="en-IN"/>
          </a:p>
        </p:txBody>
      </p:sp>
      <p:sp>
        <p:nvSpPr>
          <p:cNvPr id="11" name="Text 8"/>
          <p:cNvSpPr/>
          <p:nvPr/>
        </p:nvSpPr>
        <p:spPr>
          <a:xfrm>
            <a:off x="2560320" y="2057400"/>
            <a:ext cx="365760" cy="182880"/>
          </a:xfrm>
          <a:prstGeom prst="rect">
            <a:avLst/>
          </a:prstGeom>
          <a:noFill/>
          <a:ln/>
        </p:spPr>
        <p:txBody>
          <a:bodyPr wrap="square" lIns="0" tIns="0" rIns="0" bIns="0" rtlCol="0" anchor="ctr"/>
          <a:lstStyle/>
          <a:p>
            <a:pPr marL="0" indent="0" algn="ctr">
              <a:buNone/>
            </a:pPr>
            <a:r>
              <a:rPr lang="en-US" sz="750" dirty="0">
                <a:solidFill>
                  <a:srgbClr val="7A8FA6"/>
                </a:solidFill>
              </a:rPr>
              <a:t>S2</a:t>
            </a:r>
            <a:endParaRPr lang="en-US" sz="750" dirty="0"/>
          </a:p>
        </p:txBody>
      </p:sp>
      <p:sp>
        <p:nvSpPr>
          <p:cNvPr id="12" name="Shape 9"/>
          <p:cNvSpPr/>
          <p:nvPr/>
        </p:nvSpPr>
        <p:spPr>
          <a:xfrm>
            <a:off x="4462272" y="1810512"/>
            <a:ext cx="219456" cy="219456"/>
          </a:xfrm>
          <a:prstGeom prst="line">
            <a:avLst/>
          </a:prstGeom>
          <a:solidFill>
            <a:srgbClr val="457B9D"/>
          </a:solidFill>
          <a:ln/>
        </p:spPr>
        <p:txBody>
          <a:bodyPr/>
          <a:lstStyle/>
          <a:p>
            <a:endParaRPr lang="en-IN"/>
          </a:p>
        </p:txBody>
      </p:sp>
      <p:sp>
        <p:nvSpPr>
          <p:cNvPr id="13" name="Text 10"/>
          <p:cNvSpPr/>
          <p:nvPr/>
        </p:nvSpPr>
        <p:spPr>
          <a:xfrm>
            <a:off x="4389120" y="2057400"/>
            <a:ext cx="365760" cy="182880"/>
          </a:xfrm>
          <a:prstGeom prst="rect">
            <a:avLst/>
          </a:prstGeom>
          <a:noFill/>
          <a:ln/>
        </p:spPr>
        <p:txBody>
          <a:bodyPr wrap="square" lIns="0" tIns="0" rIns="0" bIns="0" rtlCol="0" anchor="ctr"/>
          <a:lstStyle/>
          <a:p>
            <a:pPr marL="0" indent="0" algn="ctr">
              <a:buNone/>
            </a:pPr>
            <a:r>
              <a:rPr lang="en-US" sz="750" dirty="0">
                <a:solidFill>
                  <a:srgbClr val="7A8FA6"/>
                </a:solidFill>
              </a:rPr>
              <a:t>S3</a:t>
            </a:r>
            <a:endParaRPr lang="en-US" sz="750" dirty="0"/>
          </a:p>
        </p:txBody>
      </p:sp>
      <p:sp>
        <p:nvSpPr>
          <p:cNvPr id="14" name="Shape 11"/>
          <p:cNvSpPr/>
          <p:nvPr/>
        </p:nvSpPr>
        <p:spPr>
          <a:xfrm>
            <a:off x="6291072" y="1810512"/>
            <a:ext cx="219456" cy="219456"/>
          </a:xfrm>
          <a:prstGeom prst="line">
            <a:avLst/>
          </a:prstGeom>
          <a:solidFill>
            <a:srgbClr val="457B9D"/>
          </a:solidFill>
          <a:ln/>
        </p:spPr>
        <p:txBody>
          <a:bodyPr/>
          <a:lstStyle/>
          <a:p>
            <a:endParaRPr lang="en-IN"/>
          </a:p>
        </p:txBody>
      </p:sp>
      <p:sp>
        <p:nvSpPr>
          <p:cNvPr id="15" name="Text 12"/>
          <p:cNvSpPr/>
          <p:nvPr/>
        </p:nvSpPr>
        <p:spPr>
          <a:xfrm>
            <a:off x="6217920" y="2057400"/>
            <a:ext cx="365760" cy="182880"/>
          </a:xfrm>
          <a:prstGeom prst="rect">
            <a:avLst/>
          </a:prstGeom>
          <a:noFill/>
          <a:ln/>
        </p:spPr>
        <p:txBody>
          <a:bodyPr wrap="square" lIns="0" tIns="0" rIns="0" bIns="0" rtlCol="0" anchor="ctr"/>
          <a:lstStyle/>
          <a:p>
            <a:pPr marL="0" indent="0" algn="ctr">
              <a:buNone/>
            </a:pPr>
            <a:r>
              <a:rPr lang="en-US" sz="750" dirty="0">
                <a:solidFill>
                  <a:srgbClr val="7A8FA6"/>
                </a:solidFill>
              </a:rPr>
              <a:t>S4</a:t>
            </a:r>
            <a:endParaRPr lang="en-US" sz="750" dirty="0"/>
          </a:p>
        </p:txBody>
      </p:sp>
      <p:sp>
        <p:nvSpPr>
          <p:cNvPr id="16" name="Shape 13"/>
          <p:cNvSpPr/>
          <p:nvPr/>
        </p:nvSpPr>
        <p:spPr>
          <a:xfrm>
            <a:off x="8119872" y="1810512"/>
            <a:ext cx="219456" cy="219456"/>
          </a:xfrm>
          <a:prstGeom prst="line">
            <a:avLst/>
          </a:prstGeom>
          <a:solidFill>
            <a:srgbClr val="457B9D"/>
          </a:solidFill>
          <a:ln/>
        </p:spPr>
        <p:txBody>
          <a:bodyPr/>
          <a:lstStyle/>
          <a:p>
            <a:endParaRPr lang="en-IN"/>
          </a:p>
        </p:txBody>
      </p:sp>
      <p:sp>
        <p:nvSpPr>
          <p:cNvPr id="17" name="Text 14"/>
          <p:cNvSpPr/>
          <p:nvPr/>
        </p:nvSpPr>
        <p:spPr>
          <a:xfrm>
            <a:off x="8046720" y="2057400"/>
            <a:ext cx="365760" cy="182880"/>
          </a:xfrm>
          <a:prstGeom prst="rect">
            <a:avLst/>
          </a:prstGeom>
          <a:noFill/>
          <a:ln/>
        </p:spPr>
        <p:txBody>
          <a:bodyPr wrap="square" lIns="0" tIns="0" rIns="0" bIns="0" rtlCol="0" anchor="ctr"/>
          <a:lstStyle/>
          <a:p>
            <a:pPr marL="0" indent="0" algn="ctr">
              <a:buNone/>
            </a:pPr>
            <a:r>
              <a:rPr lang="en-US" sz="750" dirty="0">
                <a:solidFill>
                  <a:srgbClr val="7A8FA6"/>
                </a:solidFill>
              </a:rPr>
              <a:t>S5</a:t>
            </a:r>
            <a:endParaRPr lang="en-US" sz="750" dirty="0"/>
          </a:p>
        </p:txBody>
      </p:sp>
      <p:sp>
        <p:nvSpPr>
          <p:cNvPr id="18" name="Text 15"/>
          <p:cNvSpPr/>
          <p:nvPr/>
        </p:nvSpPr>
        <p:spPr>
          <a:xfrm>
            <a:off x="4114800" y="1463040"/>
            <a:ext cx="457200" cy="365760"/>
          </a:xfrm>
          <a:prstGeom prst="rect">
            <a:avLst/>
          </a:prstGeom>
          <a:noFill/>
          <a:ln/>
        </p:spPr>
        <p:txBody>
          <a:bodyPr wrap="square" lIns="0" tIns="0" rIns="0" bIns="0" rtlCol="0" anchor="ctr"/>
          <a:lstStyle/>
          <a:p>
            <a:pPr marL="0" indent="0" algn="ctr">
              <a:buNone/>
            </a:pPr>
            <a:r>
              <a:rPr lang="en-US" sz="1800" dirty="0">
                <a:solidFill>
                  <a:srgbClr val="000000"/>
                </a:solidFill>
              </a:rPr>
              <a:t>🚌</a:t>
            </a:r>
            <a:endParaRPr lang="en-US" sz="1800" dirty="0"/>
          </a:p>
        </p:txBody>
      </p:sp>
      <p:sp>
        <p:nvSpPr>
          <p:cNvPr id="19" name="Text 16"/>
          <p:cNvSpPr/>
          <p:nvPr/>
        </p:nvSpPr>
        <p:spPr>
          <a:xfrm>
            <a:off x="4434840" y="1463040"/>
            <a:ext cx="457200" cy="365760"/>
          </a:xfrm>
          <a:prstGeom prst="rect">
            <a:avLst/>
          </a:prstGeom>
          <a:noFill/>
          <a:ln/>
        </p:spPr>
        <p:txBody>
          <a:bodyPr wrap="square" lIns="0" tIns="0" rIns="0" bIns="0" rtlCol="0" anchor="ctr"/>
          <a:lstStyle/>
          <a:p>
            <a:pPr marL="0" indent="0" algn="ctr">
              <a:buNone/>
            </a:pPr>
            <a:r>
              <a:rPr lang="en-US" sz="1800" dirty="0">
                <a:solidFill>
                  <a:srgbClr val="000000"/>
                </a:solidFill>
              </a:rPr>
              <a:t>🚌</a:t>
            </a:r>
            <a:endParaRPr lang="en-US" sz="1800" dirty="0"/>
          </a:p>
        </p:txBody>
      </p:sp>
      <p:sp>
        <p:nvSpPr>
          <p:cNvPr id="20" name="Text 17"/>
          <p:cNvSpPr/>
          <p:nvPr/>
        </p:nvSpPr>
        <p:spPr>
          <a:xfrm>
            <a:off x="4754880" y="1463040"/>
            <a:ext cx="457200" cy="365760"/>
          </a:xfrm>
          <a:prstGeom prst="rect">
            <a:avLst/>
          </a:prstGeom>
          <a:noFill/>
          <a:ln/>
        </p:spPr>
        <p:txBody>
          <a:bodyPr wrap="square" lIns="0" tIns="0" rIns="0" bIns="0" rtlCol="0" anchor="ctr"/>
          <a:lstStyle/>
          <a:p>
            <a:pPr marL="0" indent="0" algn="ctr">
              <a:buNone/>
            </a:pPr>
            <a:r>
              <a:rPr lang="en-US" sz="1800" dirty="0">
                <a:solidFill>
                  <a:srgbClr val="000000"/>
                </a:solidFill>
              </a:rPr>
              <a:t>🚌</a:t>
            </a:r>
            <a:endParaRPr lang="en-US" sz="1800" dirty="0"/>
          </a:p>
        </p:txBody>
      </p:sp>
      <p:sp>
        <p:nvSpPr>
          <p:cNvPr id="21" name="Shape 18"/>
          <p:cNvSpPr/>
          <p:nvPr/>
        </p:nvSpPr>
        <p:spPr>
          <a:xfrm>
            <a:off x="3931920" y="1353312"/>
            <a:ext cx="1463040" cy="109728"/>
          </a:xfrm>
          <a:prstGeom prst="rect">
            <a:avLst/>
          </a:prstGeom>
          <a:solidFill>
            <a:srgbClr val="E63946"/>
          </a:solidFill>
          <a:ln/>
        </p:spPr>
        <p:txBody>
          <a:bodyPr/>
          <a:lstStyle/>
          <a:p>
            <a:endParaRPr lang="en-IN"/>
          </a:p>
        </p:txBody>
      </p:sp>
      <p:sp>
        <p:nvSpPr>
          <p:cNvPr id="22" name="Text 19"/>
          <p:cNvSpPr/>
          <p:nvPr/>
        </p:nvSpPr>
        <p:spPr>
          <a:xfrm>
            <a:off x="3931920" y="1353312"/>
            <a:ext cx="1463040" cy="109728"/>
          </a:xfrm>
          <a:prstGeom prst="rect">
            <a:avLst/>
          </a:prstGeom>
          <a:noFill/>
          <a:ln/>
        </p:spPr>
        <p:txBody>
          <a:bodyPr wrap="square" lIns="0" tIns="0" rIns="0" bIns="0" rtlCol="0" anchor="ctr"/>
          <a:lstStyle/>
          <a:p>
            <a:pPr marL="0" indent="0" algn="ctr">
              <a:buNone/>
            </a:pPr>
            <a:r>
              <a:rPr lang="en-US" sz="700" b="1" dirty="0">
                <a:solidFill>
                  <a:srgbClr val="FFFFFF"/>
                </a:solidFill>
              </a:rPr>
              <a:t>BUNCHED</a:t>
            </a:r>
            <a:endParaRPr lang="en-US" sz="700" dirty="0"/>
          </a:p>
        </p:txBody>
      </p:sp>
      <p:sp>
        <p:nvSpPr>
          <p:cNvPr id="23" name="Text 20"/>
          <p:cNvSpPr/>
          <p:nvPr/>
        </p:nvSpPr>
        <p:spPr>
          <a:xfrm>
            <a:off x="1371600" y="1463040"/>
            <a:ext cx="457200" cy="365760"/>
          </a:xfrm>
          <a:prstGeom prst="rect">
            <a:avLst/>
          </a:prstGeom>
          <a:noFill/>
          <a:ln/>
        </p:spPr>
        <p:txBody>
          <a:bodyPr wrap="square" lIns="0" tIns="0" rIns="0" bIns="0" rtlCol="0" anchor="ctr"/>
          <a:lstStyle/>
          <a:p>
            <a:pPr marL="0" indent="0" algn="ctr">
              <a:buNone/>
            </a:pPr>
            <a:r>
              <a:rPr lang="en-US" sz="1800" dirty="0">
                <a:solidFill>
                  <a:srgbClr val="000000"/>
                </a:solidFill>
              </a:rPr>
              <a:t>🚌</a:t>
            </a:r>
            <a:endParaRPr lang="en-US" sz="1800" dirty="0"/>
          </a:p>
        </p:txBody>
      </p:sp>
      <p:sp>
        <p:nvSpPr>
          <p:cNvPr id="24" name="Shape 21"/>
          <p:cNvSpPr/>
          <p:nvPr/>
        </p:nvSpPr>
        <p:spPr>
          <a:xfrm>
            <a:off x="1188720" y="1353312"/>
            <a:ext cx="914400" cy="109728"/>
          </a:xfrm>
          <a:prstGeom prst="rect">
            <a:avLst/>
          </a:prstGeom>
          <a:solidFill>
            <a:srgbClr val="2DC653"/>
          </a:solidFill>
          <a:ln/>
        </p:spPr>
        <p:txBody>
          <a:bodyPr/>
          <a:lstStyle/>
          <a:p>
            <a:endParaRPr lang="en-IN"/>
          </a:p>
        </p:txBody>
      </p:sp>
      <p:sp>
        <p:nvSpPr>
          <p:cNvPr id="25" name="Text 22"/>
          <p:cNvSpPr/>
          <p:nvPr/>
        </p:nvSpPr>
        <p:spPr>
          <a:xfrm>
            <a:off x="1188720" y="1353312"/>
            <a:ext cx="914400" cy="109728"/>
          </a:xfrm>
          <a:prstGeom prst="rect">
            <a:avLst/>
          </a:prstGeom>
          <a:noFill/>
          <a:ln/>
        </p:spPr>
        <p:txBody>
          <a:bodyPr wrap="square" lIns="0" tIns="0" rIns="0" bIns="0" rtlCol="0" anchor="ctr"/>
          <a:lstStyle/>
          <a:p>
            <a:pPr marL="0" indent="0" algn="ctr">
              <a:buNone/>
            </a:pPr>
            <a:r>
              <a:rPr lang="en-US" sz="700" b="1" dirty="0">
                <a:solidFill>
                  <a:srgbClr val="FFFFFF"/>
                </a:solidFill>
              </a:rPr>
              <a:t>OK</a:t>
            </a:r>
            <a:endParaRPr lang="en-US" sz="700" dirty="0"/>
          </a:p>
        </p:txBody>
      </p:sp>
      <p:sp>
        <p:nvSpPr>
          <p:cNvPr id="26" name="Shape 23"/>
          <p:cNvSpPr/>
          <p:nvPr/>
        </p:nvSpPr>
        <p:spPr>
          <a:xfrm>
            <a:off x="274320" y="2423160"/>
            <a:ext cx="1993392" cy="1417320"/>
          </a:xfrm>
          <a:prstGeom prst="rect">
            <a:avLst/>
          </a:prstGeom>
          <a:solidFill>
            <a:srgbClr val="2A3150"/>
          </a:solidFill>
          <a:ln/>
          <a:effectLst>
            <a:outerShdw blurRad="76200" dist="25400" dir="8100000" algn="bl" rotWithShape="0">
              <a:srgbClr val="000000">
                <a:alpha val="18000"/>
              </a:srgbClr>
            </a:outerShdw>
          </a:effectLst>
        </p:spPr>
        <p:txBody>
          <a:bodyPr/>
          <a:lstStyle/>
          <a:p>
            <a:endParaRPr lang="en-IN"/>
          </a:p>
        </p:txBody>
      </p:sp>
      <p:sp>
        <p:nvSpPr>
          <p:cNvPr id="27" name="Shape 24"/>
          <p:cNvSpPr/>
          <p:nvPr/>
        </p:nvSpPr>
        <p:spPr>
          <a:xfrm>
            <a:off x="274320" y="2423160"/>
            <a:ext cx="1993392" cy="64008"/>
          </a:xfrm>
          <a:prstGeom prst="rect">
            <a:avLst/>
          </a:prstGeom>
          <a:solidFill>
            <a:srgbClr val="E63946"/>
          </a:solidFill>
          <a:ln/>
        </p:spPr>
        <p:txBody>
          <a:bodyPr/>
          <a:lstStyle/>
          <a:p>
            <a:endParaRPr lang="en-IN"/>
          </a:p>
        </p:txBody>
      </p:sp>
      <p:sp>
        <p:nvSpPr>
          <p:cNvPr id="28" name="Text 25"/>
          <p:cNvSpPr/>
          <p:nvPr/>
        </p:nvSpPr>
        <p:spPr>
          <a:xfrm>
            <a:off x="347472" y="2532888"/>
            <a:ext cx="1847088" cy="292608"/>
          </a:xfrm>
          <a:prstGeom prst="rect">
            <a:avLst/>
          </a:prstGeom>
          <a:noFill/>
          <a:ln/>
        </p:spPr>
        <p:txBody>
          <a:bodyPr wrap="square" lIns="0" tIns="0" rIns="0" bIns="0" rtlCol="0" anchor="ctr"/>
          <a:lstStyle/>
          <a:p>
            <a:pPr marL="0" indent="0">
              <a:buNone/>
            </a:pPr>
            <a:r>
              <a:rPr lang="en-US" sz="1050" b="1" dirty="0">
                <a:solidFill>
                  <a:srgbClr val="FFFFFF"/>
                </a:solidFill>
                <a:latin typeface="Calibri" pitchFamily="34" charset="0"/>
                <a:ea typeface="Calibri" pitchFamily="34" charset="-122"/>
                <a:cs typeface="Calibri" pitchFamily="34" charset="-120"/>
              </a:rPr>
              <a:t>Cascading Delay Loop</a:t>
            </a:r>
            <a:endParaRPr lang="en-US" sz="1050" dirty="0"/>
          </a:p>
        </p:txBody>
      </p:sp>
      <p:sp>
        <p:nvSpPr>
          <p:cNvPr id="29" name="Text 26"/>
          <p:cNvSpPr/>
          <p:nvPr/>
        </p:nvSpPr>
        <p:spPr>
          <a:xfrm>
            <a:off x="347472" y="2843784"/>
            <a:ext cx="1847088" cy="914400"/>
          </a:xfrm>
          <a:prstGeom prst="rect">
            <a:avLst/>
          </a:prstGeom>
          <a:noFill/>
          <a:ln/>
        </p:spPr>
        <p:txBody>
          <a:bodyPr wrap="square" lIns="0" tIns="0" rIns="0" bIns="0" rtlCol="0" anchor="ctr"/>
          <a:lstStyle/>
          <a:p>
            <a:pPr marL="0" indent="0">
              <a:buNone/>
            </a:pPr>
            <a:r>
              <a:rPr lang="en-US" sz="900" dirty="0">
                <a:solidFill>
                  <a:srgbClr val="C8D6E5"/>
                </a:solidFill>
                <a:latin typeface="Calibri" pitchFamily="34" charset="0"/>
                <a:ea typeface="Calibri" pitchFamily="34" charset="-122"/>
                <a:cs typeface="Calibri" pitchFamily="34" charset="-120"/>
              </a:rPr>
              <a:t>Minor delays → more passengers accumulate → longer dwell → worse delay for following buses</a:t>
            </a:r>
            <a:endParaRPr lang="en-US" sz="900" dirty="0"/>
          </a:p>
        </p:txBody>
      </p:sp>
      <p:sp>
        <p:nvSpPr>
          <p:cNvPr id="30" name="Shape 27"/>
          <p:cNvSpPr/>
          <p:nvPr/>
        </p:nvSpPr>
        <p:spPr>
          <a:xfrm>
            <a:off x="2450592" y="2423160"/>
            <a:ext cx="1993392" cy="1417320"/>
          </a:xfrm>
          <a:prstGeom prst="rect">
            <a:avLst/>
          </a:prstGeom>
          <a:solidFill>
            <a:srgbClr val="2A3150"/>
          </a:solidFill>
          <a:ln/>
          <a:effectLst>
            <a:outerShdw blurRad="76200" dist="25400" dir="8100000" algn="bl" rotWithShape="0">
              <a:srgbClr val="000000">
                <a:alpha val="18000"/>
              </a:srgbClr>
            </a:outerShdw>
          </a:effectLst>
        </p:spPr>
        <p:txBody>
          <a:bodyPr/>
          <a:lstStyle/>
          <a:p>
            <a:endParaRPr lang="en-IN"/>
          </a:p>
        </p:txBody>
      </p:sp>
      <p:sp>
        <p:nvSpPr>
          <p:cNvPr id="31" name="Shape 28"/>
          <p:cNvSpPr/>
          <p:nvPr/>
        </p:nvSpPr>
        <p:spPr>
          <a:xfrm>
            <a:off x="2450592" y="2423160"/>
            <a:ext cx="1993392" cy="64008"/>
          </a:xfrm>
          <a:prstGeom prst="rect">
            <a:avLst/>
          </a:prstGeom>
          <a:solidFill>
            <a:srgbClr val="457B9D"/>
          </a:solidFill>
          <a:ln/>
        </p:spPr>
        <p:txBody>
          <a:bodyPr/>
          <a:lstStyle/>
          <a:p>
            <a:endParaRPr lang="en-IN"/>
          </a:p>
        </p:txBody>
      </p:sp>
      <p:sp>
        <p:nvSpPr>
          <p:cNvPr id="32" name="Text 29"/>
          <p:cNvSpPr/>
          <p:nvPr/>
        </p:nvSpPr>
        <p:spPr>
          <a:xfrm>
            <a:off x="2523744" y="2532888"/>
            <a:ext cx="1847088" cy="292608"/>
          </a:xfrm>
          <a:prstGeom prst="rect">
            <a:avLst/>
          </a:prstGeom>
          <a:noFill/>
          <a:ln/>
        </p:spPr>
        <p:txBody>
          <a:bodyPr wrap="square" lIns="0" tIns="0" rIns="0" bIns="0" rtlCol="0" anchor="ctr"/>
          <a:lstStyle/>
          <a:p>
            <a:pPr marL="0" indent="0">
              <a:buNone/>
            </a:pPr>
            <a:r>
              <a:rPr lang="en-US" sz="1050" b="1" dirty="0">
                <a:solidFill>
                  <a:srgbClr val="FFFFFF"/>
                </a:solidFill>
                <a:latin typeface="Calibri" pitchFamily="34" charset="0"/>
                <a:ea typeface="Calibri" pitchFamily="34" charset="-122"/>
                <a:cs typeface="Calibri" pitchFamily="34" charset="-120"/>
              </a:rPr>
              <a:t>Static Rules Fail</a:t>
            </a:r>
            <a:endParaRPr lang="en-US" sz="1050" dirty="0"/>
          </a:p>
        </p:txBody>
      </p:sp>
      <p:sp>
        <p:nvSpPr>
          <p:cNvPr id="33" name="Text 30"/>
          <p:cNvSpPr/>
          <p:nvPr/>
        </p:nvSpPr>
        <p:spPr>
          <a:xfrm>
            <a:off x="2523744" y="2843784"/>
            <a:ext cx="1847088" cy="914400"/>
          </a:xfrm>
          <a:prstGeom prst="rect">
            <a:avLst/>
          </a:prstGeom>
          <a:noFill/>
          <a:ln/>
        </p:spPr>
        <p:txBody>
          <a:bodyPr wrap="square" lIns="0" tIns="0" rIns="0" bIns="0" rtlCol="0" anchor="ctr"/>
          <a:lstStyle/>
          <a:p>
            <a:pPr marL="0" indent="0">
              <a:buNone/>
            </a:pPr>
            <a:r>
              <a:rPr lang="en-US" sz="900" dirty="0">
                <a:solidFill>
                  <a:srgbClr val="C8D6E5"/>
                </a:solidFill>
                <a:latin typeface="Calibri" pitchFamily="34" charset="0"/>
                <a:ea typeface="Calibri" pitchFamily="34" charset="-122"/>
                <a:cs typeface="Calibri" pitchFamily="34" charset="-120"/>
              </a:rPr>
              <a:t>Fixed timetables cannot adapt to Bengaluru's highly stochastic morning/evening traffic surges</a:t>
            </a:r>
            <a:endParaRPr lang="en-US" sz="900" dirty="0"/>
          </a:p>
        </p:txBody>
      </p:sp>
      <p:sp>
        <p:nvSpPr>
          <p:cNvPr id="34" name="Shape 31"/>
          <p:cNvSpPr/>
          <p:nvPr/>
        </p:nvSpPr>
        <p:spPr>
          <a:xfrm>
            <a:off x="4626864" y="2423160"/>
            <a:ext cx="1993392" cy="1417320"/>
          </a:xfrm>
          <a:prstGeom prst="rect">
            <a:avLst/>
          </a:prstGeom>
          <a:solidFill>
            <a:srgbClr val="2A3150"/>
          </a:solidFill>
          <a:ln/>
          <a:effectLst>
            <a:outerShdw blurRad="76200" dist="25400" dir="8100000" algn="bl" rotWithShape="0">
              <a:srgbClr val="000000">
                <a:alpha val="18000"/>
              </a:srgbClr>
            </a:outerShdw>
          </a:effectLst>
        </p:spPr>
        <p:txBody>
          <a:bodyPr/>
          <a:lstStyle/>
          <a:p>
            <a:endParaRPr lang="en-IN"/>
          </a:p>
        </p:txBody>
      </p:sp>
      <p:sp>
        <p:nvSpPr>
          <p:cNvPr id="35" name="Shape 32"/>
          <p:cNvSpPr/>
          <p:nvPr/>
        </p:nvSpPr>
        <p:spPr>
          <a:xfrm>
            <a:off x="4626864" y="2423160"/>
            <a:ext cx="1993392" cy="64008"/>
          </a:xfrm>
          <a:prstGeom prst="rect">
            <a:avLst/>
          </a:prstGeom>
          <a:solidFill>
            <a:srgbClr val="F4A261"/>
          </a:solidFill>
          <a:ln/>
        </p:spPr>
        <p:txBody>
          <a:bodyPr/>
          <a:lstStyle/>
          <a:p>
            <a:endParaRPr lang="en-IN"/>
          </a:p>
        </p:txBody>
      </p:sp>
      <p:sp>
        <p:nvSpPr>
          <p:cNvPr id="36" name="Text 33"/>
          <p:cNvSpPr/>
          <p:nvPr/>
        </p:nvSpPr>
        <p:spPr>
          <a:xfrm>
            <a:off x="4700016" y="2532888"/>
            <a:ext cx="1847088" cy="292608"/>
          </a:xfrm>
          <a:prstGeom prst="rect">
            <a:avLst/>
          </a:prstGeom>
          <a:noFill/>
          <a:ln/>
        </p:spPr>
        <p:txBody>
          <a:bodyPr wrap="square" lIns="0" tIns="0" rIns="0" bIns="0" rtlCol="0" anchor="ctr"/>
          <a:lstStyle/>
          <a:p>
            <a:pPr marL="0" indent="0">
              <a:buNone/>
            </a:pPr>
            <a:r>
              <a:rPr lang="en-US" sz="1050" b="1" dirty="0">
                <a:solidFill>
                  <a:srgbClr val="FFFFFF"/>
                </a:solidFill>
                <a:latin typeface="Calibri" pitchFamily="34" charset="0"/>
                <a:ea typeface="Calibri" pitchFamily="34" charset="-122"/>
                <a:cs typeface="Calibri" pitchFamily="34" charset="-120"/>
              </a:rPr>
              <a:t>No V2X Communication</a:t>
            </a:r>
            <a:endParaRPr lang="en-US" sz="1050" dirty="0"/>
          </a:p>
        </p:txBody>
      </p:sp>
      <p:sp>
        <p:nvSpPr>
          <p:cNvPr id="37" name="Text 34"/>
          <p:cNvSpPr/>
          <p:nvPr/>
        </p:nvSpPr>
        <p:spPr>
          <a:xfrm>
            <a:off x="4700016" y="2843784"/>
            <a:ext cx="1847088" cy="914400"/>
          </a:xfrm>
          <a:prstGeom prst="rect">
            <a:avLst/>
          </a:prstGeom>
          <a:noFill/>
          <a:ln/>
        </p:spPr>
        <p:txBody>
          <a:bodyPr wrap="square" lIns="0" tIns="0" rIns="0" bIns="0" rtlCol="0" anchor="ctr"/>
          <a:lstStyle/>
          <a:p>
            <a:pPr marL="0" indent="0">
              <a:buNone/>
            </a:pPr>
            <a:r>
              <a:rPr lang="en-US" sz="900" dirty="0">
                <a:solidFill>
                  <a:srgbClr val="C8D6E5"/>
                </a:solidFill>
                <a:latin typeface="Calibri" pitchFamily="34" charset="0"/>
                <a:ea typeface="Calibri" pitchFamily="34" charset="-122"/>
                <a:cs typeface="Calibri" pitchFamily="34" charset="-120"/>
              </a:rPr>
              <a:t>No existing ITS signals the ₹-cost of skipping vs. holding to the bus controller in real time</a:t>
            </a:r>
            <a:endParaRPr lang="en-US" sz="900" dirty="0"/>
          </a:p>
        </p:txBody>
      </p:sp>
      <p:sp>
        <p:nvSpPr>
          <p:cNvPr id="38" name="Shape 35"/>
          <p:cNvSpPr/>
          <p:nvPr/>
        </p:nvSpPr>
        <p:spPr>
          <a:xfrm>
            <a:off x="6803136" y="2423160"/>
            <a:ext cx="1993392" cy="1417320"/>
          </a:xfrm>
          <a:prstGeom prst="rect">
            <a:avLst/>
          </a:prstGeom>
          <a:solidFill>
            <a:srgbClr val="2A3150"/>
          </a:solidFill>
          <a:ln/>
          <a:effectLst>
            <a:outerShdw blurRad="76200" dist="25400" dir="8100000" algn="bl" rotWithShape="0">
              <a:srgbClr val="000000">
                <a:alpha val="18000"/>
              </a:srgbClr>
            </a:outerShdw>
          </a:effectLst>
        </p:spPr>
        <p:txBody>
          <a:bodyPr/>
          <a:lstStyle/>
          <a:p>
            <a:endParaRPr lang="en-IN"/>
          </a:p>
        </p:txBody>
      </p:sp>
      <p:sp>
        <p:nvSpPr>
          <p:cNvPr id="39" name="Shape 36"/>
          <p:cNvSpPr/>
          <p:nvPr/>
        </p:nvSpPr>
        <p:spPr>
          <a:xfrm>
            <a:off x="6803136" y="2423160"/>
            <a:ext cx="1993392" cy="64008"/>
          </a:xfrm>
          <a:prstGeom prst="rect">
            <a:avLst/>
          </a:prstGeom>
          <a:solidFill>
            <a:srgbClr val="2DC653"/>
          </a:solidFill>
          <a:ln/>
        </p:spPr>
        <p:txBody>
          <a:bodyPr/>
          <a:lstStyle/>
          <a:p>
            <a:endParaRPr lang="en-IN"/>
          </a:p>
        </p:txBody>
      </p:sp>
      <p:sp>
        <p:nvSpPr>
          <p:cNvPr id="40" name="Text 37"/>
          <p:cNvSpPr/>
          <p:nvPr/>
        </p:nvSpPr>
        <p:spPr>
          <a:xfrm>
            <a:off x="6876288" y="2532888"/>
            <a:ext cx="1847088" cy="292608"/>
          </a:xfrm>
          <a:prstGeom prst="rect">
            <a:avLst/>
          </a:prstGeom>
          <a:noFill/>
          <a:ln/>
        </p:spPr>
        <p:txBody>
          <a:bodyPr wrap="square" lIns="0" tIns="0" rIns="0" bIns="0" rtlCol="0" anchor="ctr"/>
          <a:lstStyle/>
          <a:p>
            <a:pPr marL="0" indent="0">
              <a:buNone/>
            </a:pPr>
            <a:r>
              <a:rPr lang="en-US" sz="1050" b="1" dirty="0">
                <a:solidFill>
                  <a:srgbClr val="FFFFFF"/>
                </a:solidFill>
                <a:latin typeface="Calibri" pitchFamily="34" charset="0"/>
                <a:ea typeface="Calibri" pitchFamily="34" charset="-122"/>
                <a:cs typeface="Calibri" pitchFamily="34" charset="-120"/>
              </a:rPr>
              <a:t>No Explainable Decisions</a:t>
            </a:r>
            <a:endParaRPr lang="en-US" sz="1050" dirty="0"/>
          </a:p>
        </p:txBody>
      </p:sp>
      <p:sp>
        <p:nvSpPr>
          <p:cNvPr id="41" name="Text 38"/>
          <p:cNvSpPr/>
          <p:nvPr/>
        </p:nvSpPr>
        <p:spPr>
          <a:xfrm>
            <a:off x="6876288" y="2843784"/>
            <a:ext cx="1847088" cy="914400"/>
          </a:xfrm>
          <a:prstGeom prst="rect">
            <a:avLst/>
          </a:prstGeom>
          <a:noFill/>
          <a:ln/>
        </p:spPr>
        <p:txBody>
          <a:bodyPr wrap="square" lIns="0" tIns="0" rIns="0" bIns="0" rtlCol="0" anchor="ctr"/>
          <a:lstStyle/>
          <a:p>
            <a:pPr marL="0" indent="0">
              <a:buNone/>
            </a:pPr>
            <a:r>
              <a:rPr lang="en-US" sz="900" dirty="0">
                <a:solidFill>
                  <a:srgbClr val="C8D6E5"/>
                </a:solidFill>
                <a:latin typeface="Calibri" pitchFamily="34" charset="0"/>
                <a:ea typeface="Calibri" pitchFamily="34" charset="-122"/>
                <a:cs typeface="Calibri" pitchFamily="34" charset="-120"/>
              </a:rPr>
              <a:t>Low-income commuters at peripheral stops suffer longest wait times — an untracked social cost</a:t>
            </a:r>
            <a:endParaRPr lang="en-US" sz="900" dirty="0"/>
          </a:p>
        </p:txBody>
      </p:sp>
      <p:sp>
        <p:nvSpPr>
          <p:cNvPr id="42" name="Shape 39"/>
          <p:cNvSpPr/>
          <p:nvPr/>
        </p:nvSpPr>
        <p:spPr>
          <a:xfrm>
            <a:off x="274320" y="3977640"/>
            <a:ext cx="8595360" cy="777240"/>
          </a:xfrm>
          <a:prstGeom prst="rect">
            <a:avLst/>
          </a:prstGeom>
          <a:solidFill>
            <a:srgbClr val="1E2640"/>
          </a:solidFill>
          <a:ln/>
        </p:spPr>
        <p:txBody>
          <a:bodyPr/>
          <a:lstStyle/>
          <a:p>
            <a:endParaRPr lang="en-IN"/>
          </a:p>
        </p:txBody>
      </p:sp>
      <p:sp>
        <p:nvSpPr>
          <p:cNvPr id="43" name="Shape 40"/>
          <p:cNvSpPr/>
          <p:nvPr/>
        </p:nvSpPr>
        <p:spPr>
          <a:xfrm>
            <a:off x="274320" y="3977640"/>
            <a:ext cx="54864" cy="777240"/>
          </a:xfrm>
          <a:prstGeom prst="rect">
            <a:avLst/>
          </a:prstGeom>
          <a:solidFill>
            <a:srgbClr val="2DC653"/>
          </a:solidFill>
          <a:ln/>
        </p:spPr>
        <p:txBody>
          <a:bodyPr/>
          <a:lstStyle/>
          <a:p>
            <a:endParaRPr lang="en-IN"/>
          </a:p>
        </p:txBody>
      </p:sp>
      <p:sp>
        <p:nvSpPr>
          <p:cNvPr id="44" name="Text 41"/>
          <p:cNvSpPr/>
          <p:nvPr/>
        </p:nvSpPr>
        <p:spPr>
          <a:xfrm>
            <a:off x="420624" y="4005072"/>
            <a:ext cx="8321040" cy="722376"/>
          </a:xfrm>
          <a:prstGeom prst="rect">
            <a:avLst/>
          </a:prstGeom>
          <a:noFill/>
          <a:ln/>
        </p:spPr>
        <p:txBody>
          <a:bodyPr wrap="square" lIns="0" tIns="0" rIns="0" bIns="0" rtlCol="0" anchor="ctr"/>
          <a:lstStyle/>
          <a:p>
            <a:pPr marL="0" indent="0">
              <a:buNone/>
            </a:pPr>
            <a:r>
              <a:rPr lang="en-US" sz="1000" dirty="0">
                <a:solidFill>
                  <a:srgbClr val="C8D6E5"/>
                </a:solidFill>
                <a:latin typeface="Calibri" pitchFamily="34" charset="0"/>
                <a:ea typeface="Calibri" pitchFamily="34" charset="-122"/>
                <a:cs typeface="Calibri" pitchFamily="34" charset="-120"/>
              </a:rPr>
              <a:t>The core gap: No ITS simultaneously controls dispatch in real-time AND calculates micro-economic passenger welfare costs AND macro-economic fleet efficiency — leaving billions in annual losses unaddressed.</a:t>
            </a:r>
            <a:endParaRPr lang="en-US" sz="1000" dirty="0"/>
          </a:p>
        </p:txBody>
      </p:sp>
      <p:pic>
        <p:nvPicPr>
          <p:cNvPr id="45" name="Picture 44">
            <a:extLst>
              <a:ext uri="{FF2B5EF4-FFF2-40B4-BE49-F238E27FC236}">
                <a16:creationId xmlns:a16="http://schemas.microsoft.com/office/drawing/2014/main" id="{0FC39428-473C-4E60-97FE-3E9205CAD852}"/>
              </a:ext>
            </a:extLst>
          </p:cNvPr>
          <p:cNvPicPr>
            <a:picLocks noChangeAspect="1"/>
          </p:cNvPicPr>
          <p:nvPr/>
        </p:nvPicPr>
        <p:blipFill>
          <a:blip r:embed="rId3"/>
          <a:stretch>
            <a:fillRect/>
          </a:stretch>
        </p:blipFill>
        <p:spPr>
          <a:xfrm>
            <a:off x="91440" y="128016"/>
            <a:ext cx="1700784" cy="728907"/>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1A1F2E"/>
        </a:solidFill>
        <a:effectLst/>
      </p:bgPr>
    </p:bg>
    <p:spTree>
      <p:nvGrpSpPr>
        <p:cNvPr id="1" name=""/>
        <p:cNvGrpSpPr/>
        <p:nvPr/>
      </p:nvGrpSpPr>
      <p:grpSpPr>
        <a:xfrm>
          <a:off x="0" y="0"/>
          <a:ext cx="0" cy="0"/>
          <a:chOff x="0" y="0"/>
          <a:chExt cx="0" cy="0"/>
        </a:xfrm>
      </p:grpSpPr>
      <p:sp>
        <p:nvSpPr>
          <p:cNvPr id="2" name="Shape 0"/>
          <p:cNvSpPr/>
          <p:nvPr/>
        </p:nvSpPr>
        <p:spPr>
          <a:xfrm>
            <a:off x="0" y="0"/>
            <a:ext cx="9144000" cy="64008"/>
          </a:xfrm>
          <a:prstGeom prst="rect">
            <a:avLst/>
          </a:prstGeom>
          <a:solidFill>
            <a:srgbClr val="E63946"/>
          </a:solidFill>
          <a:ln/>
        </p:spPr>
        <p:txBody>
          <a:bodyPr/>
          <a:lstStyle/>
          <a:p>
            <a:endParaRPr lang="en-IN"/>
          </a:p>
        </p:txBody>
      </p:sp>
      <p:sp>
        <p:nvSpPr>
          <p:cNvPr id="3" name="Shape 1"/>
          <p:cNvSpPr/>
          <p:nvPr/>
        </p:nvSpPr>
        <p:spPr>
          <a:xfrm>
            <a:off x="0" y="64008"/>
            <a:ext cx="9144000" cy="658368"/>
          </a:xfrm>
          <a:prstGeom prst="rect">
            <a:avLst/>
          </a:prstGeom>
          <a:solidFill>
            <a:srgbClr val="2A3150"/>
          </a:solidFill>
          <a:ln/>
        </p:spPr>
        <p:txBody>
          <a:bodyPr/>
          <a:lstStyle/>
          <a:p>
            <a:endParaRPr lang="en-IN"/>
          </a:p>
        </p:txBody>
      </p:sp>
      <p:sp>
        <p:nvSpPr>
          <p:cNvPr id="5" name="Text 2"/>
          <p:cNvSpPr/>
          <p:nvPr/>
        </p:nvSpPr>
        <p:spPr>
          <a:xfrm>
            <a:off x="2011680" y="91440"/>
            <a:ext cx="5029200" cy="548640"/>
          </a:xfrm>
          <a:prstGeom prst="rect">
            <a:avLst/>
          </a:prstGeom>
          <a:noFill/>
          <a:ln/>
        </p:spPr>
        <p:txBody>
          <a:bodyPr wrap="square" lIns="0" tIns="0" rIns="0" bIns="0" rtlCol="0" anchor="ctr"/>
          <a:lstStyle/>
          <a:p>
            <a:pPr marL="0" indent="0">
              <a:buNone/>
            </a:pPr>
            <a:r>
              <a:rPr lang="en-US" sz="2000" b="1" dirty="0">
                <a:solidFill>
                  <a:srgbClr val="FFFFFF"/>
                </a:solidFill>
                <a:latin typeface="Calibri" pitchFamily="34" charset="0"/>
                <a:ea typeface="Calibri" pitchFamily="34" charset="-122"/>
                <a:cs typeface="Calibri" pitchFamily="34" charset="-120"/>
              </a:rPr>
              <a:t>Literature Review</a:t>
            </a:r>
            <a:endParaRPr lang="en-US" sz="2000" dirty="0"/>
          </a:p>
        </p:txBody>
      </p:sp>
      <p:sp>
        <p:nvSpPr>
          <p:cNvPr id="6" name="Text 3"/>
          <p:cNvSpPr/>
          <p:nvPr/>
        </p:nvSpPr>
        <p:spPr>
          <a:xfrm>
            <a:off x="6858000" y="109728"/>
            <a:ext cx="2103120" cy="502920"/>
          </a:xfrm>
          <a:prstGeom prst="rect">
            <a:avLst/>
          </a:prstGeom>
          <a:noFill/>
          <a:ln/>
        </p:spPr>
        <p:txBody>
          <a:bodyPr wrap="square" lIns="0" tIns="0" rIns="0" bIns="0" rtlCol="0" anchor="ctr"/>
          <a:lstStyle/>
          <a:p>
            <a:pPr marL="0" indent="0" algn="r">
              <a:buNone/>
            </a:pPr>
            <a:r>
              <a:rPr lang="en-US" sz="1000" i="1" dirty="0">
                <a:solidFill>
                  <a:srgbClr val="7A8FA6"/>
                </a:solidFill>
                <a:latin typeface="Georgia" pitchFamily="34" charset="0"/>
                <a:ea typeface="Georgia" pitchFamily="34" charset="-122"/>
                <a:cs typeface="Georgia" pitchFamily="34" charset="-120"/>
              </a:rPr>
              <a:t>Go, change the world</a:t>
            </a:r>
            <a:endParaRPr lang="en-US" sz="1000" dirty="0"/>
          </a:p>
        </p:txBody>
      </p:sp>
      <p:sp>
        <p:nvSpPr>
          <p:cNvPr id="7" name="Shape 4"/>
          <p:cNvSpPr/>
          <p:nvPr/>
        </p:nvSpPr>
        <p:spPr>
          <a:xfrm>
            <a:off x="274320" y="914400"/>
            <a:ext cx="8595360" cy="320040"/>
          </a:xfrm>
          <a:prstGeom prst="rect">
            <a:avLst/>
          </a:prstGeom>
          <a:solidFill>
            <a:srgbClr val="E63946"/>
          </a:solidFill>
          <a:ln/>
        </p:spPr>
        <p:txBody>
          <a:bodyPr/>
          <a:lstStyle/>
          <a:p>
            <a:endParaRPr lang="en-IN"/>
          </a:p>
        </p:txBody>
      </p:sp>
      <p:sp>
        <p:nvSpPr>
          <p:cNvPr id="8" name="Text 5"/>
          <p:cNvSpPr/>
          <p:nvPr/>
        </p:nvSpPr>
        <p:spPr>
          <a:xfrm>
            <a:off x="274320" y="914400"/>
            <a:ext cx="2743200" cy="320040"/>
          </a:xfrm>
          <a:prstGeom prst="rect">
            <a:avLst/>
          </a:prstGeom>
          <a:noFill/>
          <a:ln/>
        </p:spPr>
        <p:txBody>
          <a:bodyPr wrap="square" lIns="38100" tIns="38100" rIns="38100" bIns="38100" rtlCol="0" anchor="ctr"/>
          <a:lstStyle/>
          <a:p>
            <a:pPr marL="0" indent="0">
              <a:buNone/>
            </a:pPr>
            <a:r>
              <a:rPr lang="en-US" sz="950" b="1" dirty="0">
                <a:solidFill>
                  <a:srgbClr val="FFFFFF"/>
                </a:solidFill>
                <a:latin typeface="Calibri" pitchFamily="34" charset="0"/>
                <a:ea typeface="Calibri" pitchFamily="34" charset="-122"/>
                <a:cs typeface="Calibri" pitchFamily="34" charset="-120"/>
              </a:rPr>
              <a:t>Title &amp; Authors</a:t>
            </a:r>
            <a:endParaRPr lang="en-US" sz="950" dirty="0"/>
          </a:p>
        </p:txBody>
      </p:sp>
      <p:sp>
        <p:nvSpPr>
          <p:cNvPr id="9" name="Text 6"/>
          <p:cNvSpPr/>
          <p:nvPr/>
        </p:nvSpPr>
        <p:spPr>
          <a:xfrm>
            <a:off x="3017520" y="914400"/>
            <a:ext cx="1371600" cy="320040"/>
          </a:xfrm>
          <a:prstGeom prst="rect">
            <a:avLst/>
          </a:prstGeom>
          <a:noFill/>
          <a:ln/>
        </p:spPr>
        <p:txBody>
          <a:bodyPr wrap="square" lIns="38100" tIns="38100" rIns="38100" bIns="38100" rtlCol="0" anchor="ctr"/>
          <a:lstStyle/>
          <a:p>
            <a:pPr marL="0" indent="0">
              <a:buNone/>
            </a:pPr>
            <a:r>
              <a:rPr lang="en-US" sz="950" b="1" dirty="0">
                <a:solidFill>
                  <a:srgbClr val="FFFFFF"/>
                </a:solidFill>
                <a:latin typeface="Calibri" pitchFamily="34" charset="0"/>
                <a:ea typeface="Calibri" pitchFamily="34" charset="-122"/>
                <a:cs typeface="Calibri" pitchFamily="34" charset="-120"/>
              </a:rPr>
              <a:t>Year / Venue</a:t>
            </a:r>
            <a:endParaRPr lang="en-US" sz="950" dirty="0"/>
          </a:p>
        </p:txBody>
      </p:sp>
      <p:sp>
        <p:nvSpPr>
          <p:cNvPr id="10" name="Text 7"/>
          <p:cNvSpPr/>
          <p:nvPr/>
        </p:nvSpPr>
        <p:spPr>
          <a:xfrm>
            <a:off x="4389120" y="914400"/>
            <a:ext cx="2377440" cy="320040"/>
          </a:xfrm>
          <a:prstGeom prst="rect">
            <a:avLst/>
          </a:prstGeom>
          <a:noFill/>
          <a:ln/>
        </p:spPr>
        <p:txBody>
          <a:bodyPr wrap="square" lIns="38100" tIns="38100" rIns="38100" bIns="38100" rtlCol="0" anchor="ctr"/>
          <a:lstStyle/>
          <a:p>
            <a:pPr marL="0" indent="0">
              <a:buNone/>
            </a:pPr>
            <a:r>
              <a:rPr lang="en-US" sz="950" b="1" dirty="0">
                <a:solidFill>
                  <a:srgbClr val="FFFFFF"/>
                </a:solidFill>
                <a:latin typeface="Calibri" pitchFamily="34" charset="0"/>
                <a:ea typeface="Calibri" pitchFamily="34" charset="-122"/>
                <a:cs typeface="Calibri" pitchFamily="34" charset="-120"/>
              </a:rPr>
              <a:t>Key Contribution</a:t>
            </a:r>
            <a:endParaRPr lang="en-US" sz="950" dirty="0"/>
          </a:p>
        </p:txBody>
      </p:sp>
      <p:sp>
        <p:nvSpPr>
          <p:cNvPr id="11" name="Text 8"/>
          <p:cNvSpPr/>
          <p:nvPr/>
        </p:nvSpPr>
        <p:spPr>
          <a:xfrm>
            <a:off x="6766560" y="914400"/>
            <a:ext cx="2377440" cy="320040"/>
          </a:xfrm>
          <a:prstGeom prst="rect">
            <a:avLst/>
          </a:prstGeom>
          <a:noFill/>
          <a:ln/>
        </p:spPr>
        <p:txBody>
          <a:bodyPr wrap="square" lIns="38100" tIns="38100" rIns="38100" bIns="38100" rtlCol="0" anchor="ctr"/>
          <a:lstStyle/>
          <a:p>
            <a:pPr marL="0" indent="0">
              <a:buNone/>
            </a:pPr>
            <a:r>
              <a:rPr lang="en-US" sz="950" b="1" dirty="0">
                <a:solidFill>
                  <a:srgbClr val="FFFFFF"/>
                </a:solidFill>
                <a:latin typeface="Calibri" pitchFamily="34" charset="0"/>
                <a:ea typeface="Calibri" pitchFamily="34" charset="-122"/>
                <a:cs typeface="Calibri" pitchFamily="34" charset="-120"/>
              </a:rPr>
              <a:t>Relevance to Eco-Sync</a:t>
            </a:r>
            <a:endParaRPr lang="en-US" sz="950" dirty="0"/>
          </a:p>
        </p:txBody>
      </p:sp>
      <p:sp>
        <p:nvSpPr>
          <p:cNvPr id="12" name="Shape 9"/>
          <p:cNvSpPr/>
          <p:nvPr/>
        </p:nvSpPr>
        <p:spPr>
          <a:xfrm>
            <a:off x="274320" y="1234440"/>
            <a:ext cx="8595360" cy="475488"/>
          </a:xfrm>
          <a:prstGeom prst="rect">
            <a:avLst/>
          </a:prstGeom>
          <a:solidFill>
            <a:srgbClr val="2A3150"/>
          </a:solidFill>
          <a:ln/>
        </p:spPr>
        <p:txBody>
          <a:bodyPr/>
          <a:lstStyle/>
          <a:p>
            <a:endParaRPr lang="en-IN"/>
          </a:p>
        </p:txBody>
      </p:sp>
      <p:sp>
        <p:nvSpPr>
          <p:cNvPr id="13" name="Text 10"/>
          <p:cNvSpPr/>
          <p:nvPr/>
        </p:nvSpPr>
        <p:spPr>
          <a:xfrm>
            <a:off x="320040" y="1252728"/>
            <a:ext cx="2651760" cy="438912"/>
          </a:xfrm>
          <a:prstGeom prst="rect">
            <a:avLst/>
          </a:prstGeom>
          <a:noFill/>
          <a:ln/>
        </p:spPr>
        <p:txBody>
          <a:bodyPr wrap="square" lIns="25400" tIns="25400" rIns="25400" bIns="25400" rtlCol="0" anchor="ctr"/>
          <a:lstStyle/>
          <a:p>
            <a:pPr marL="0" indent="0">
              <a:buNone/>
            </a:pPr>
            <a:r>
              <a:rPr lang="en-US" sz="850" dirty="0">
                <a:solidFill>
                  <a:srgbClr val="FFFFFF"/>
                </a:solidFill>
                <a:latin typeface="Calibri" pitchFamily="34" charset="0"/>
                <a:ea typeface="Calibri" pitchFamily="34" charset="-122"/>
                <a:cs typeface="Calibri" pitchFamily="34" charset="-120"/>
              </a:rPr>
              <a:t>RL for Bus Bunching Mitigation</a:t>
            </a:r>
            <a:endParaRPr lang="en-US" sz="850" dirty="0"/>
          </a:p>
          <a:p>
            <a:pPr marL="0" indent="0">
              <a:buNone/>
            </a:pPr>
            <a:r>
              <a:rPr lang="en-US" sz="850" dirty="0">
                <a:solidFill>
                  <a:srgbClr val="FFFFFF"/>
                </a:solidFill>
                <a:latin typeface="Calibri" pitchFamily="34" charset="0"/>
                <a:ea typeface="Calibri" pitchFamily="34" charset="-122"/>
                <a:cs typeface="Calibri" pitchFamily="34" charset="-120"/>
              </a:rPr>
              <a:t>Xu et al.</a:t>
            </a:r>
            <a:endParaRPr lang="en-US" sz="850" dirty="0"/>
          </a:p>
        </p:txBody>
      </p:sp>
      <p:sp>
        <p:nvSpPr>
          <p:cNvPr id="14" name="Text 11"/>
          <p:cNvSpPr/>
          <p:nvPr/>
        </p:nvSpPr>
        <p:spPr>
          <a:xfrm>
            <a:off x="3063240" y="1252728"/>
            <a:ext cx="1005840" cy="438912"/>
          </a:xfrm>
          <a:prstGeom prst="rect">
            <a:avLst/>
          </a:prstGeom>
          <a:noFill/>
          <a:ln/>
        </p:spPr>
        <p:txBody>
          <a:bodyPr wrap="square" lIns="25400" tIns="25400" rIns="25400" bIns="25400" rtlCol="0" anchor="ctr"/>
          <a:lstStyle/>
          <a:p>
            <a:pPr marL="0" indent="0" algn="ctr">
              <a:buNone/>
            </a:pPr>
            <a:r>
              <a:rPr lang="en-US" sz="850" dirty="0">
                <a:solidFill>
                  <a:srgbClr val="457B9D"/>
                </a:solidFill>
                <a:latin typeface="Calibri" pitchFamily="34" charset="0"/>
                <a:ea typeface="Calibri" pitchFamily="34" charset="-122"/>
                <a:cs typeface="Calibri" pitchFamily="34" charset="-120"/>
              </a:rPr>
              <a:t>2025</a:t>
            </a:r>
            <a:endParaRPr lang="en-US" sz="850" dirty="0"/>
          </a:p>
          <a:p>
            <a:pPr marL="0" indent="0" algn="ctr">
              <a:buNone/>
            </a:pPr>
            <a:r>
              <a:rPr lang="en-US" sz="850" dirty="0">
                <a:solidFill>
                  <a:srgbClr val="457B9D"/>
                </a:solidFill>
                <a:latin typeface="Calibri" pitchFamily="34" charset="0"/>
                <a:ea typeface="Calibri" pitchFamily="34" charset="-122"/>
                <a:cs typeface="Calibri" pitchFamily="34" charset="-120"/>
              </a:rPr>
              <a:t>IEEE T-ITS</a:t>
            </a:r>
            <a:endParaRPr lang="en-US" sz="850" dirty="0"/>
          </a:p>
        </p:txBody>
      </p:sp>
      <p:sp>
        <p:nvSpPr>
          <p:cNvPr id="15" name="Text 12"/>
          <p:cNvSpPr/>
          <p:nvPr/>
        </p:nvSpPr>
        <p:spPr>
          <a:xfrm>
            <a:off x="4114800" y="1252728"/>
            <a:ext cx="2331720" cy="438912"/>
          </a:xfrm>
          <a:prstGeom prst="rect">
            <a:avLst/>
          </a:prstGeom>
          <a:noFill/>
          <a:ln/>
        </p:spPr>
        <p:txBody>
          <a:bodyPr wrap="square" lIns="25400" tIns="25400" rIns="25400" bIns="25400" rtlCol="0" anchor="ctr"/>
          <a:lstStyle/>
          <a:p>
            <a:pPr marL="0" indent="0">
              <a:buNone/>
            </a:pPr>
            <a:r>
              <a:rPr lang="en-US" sz="800" dirty="0">
                <a:solidFill>
                  <a:srgbClr val="C8D6E5"/>
                </a:solidFill>
                <a:latin typeface="Calibri" pitchFamily="34" charset="0"/>
                <a:ea typeface="Calibri" pitchFamily="34" charset="-122"/>
                <a:cs typeface="Calibri" pitchFamily="34" charset="-120"/>
              </a:rPr>
              <a:t>Open-source RL benchmark (PS-DQN); simpler headway state beats complex stop-level features</a:t>
            </a:r>
            <a:endParaRPr lang="en-US" sz="800" dirty="0"/>
          </a:p>
        </p:txBody>
      </p:sp>
      <p:sp>
        <p:nvSpPr>
          <p:cNvPr id="16" name="Text 13"/>
          <p:cNvSpPr/>
          <p:nvPr/>
        </p:nvSpPr>
        <p:spPr>
          <a:xfrm>
            <a:off x="6537960" y="1252728"/>
            <a:ext cx="2240280" cy="438912"/>
          </a:xfrm>
          <a:prstGeom prst="rect">
            <a:avLst/>
          </a:prstGeom>
          <a:noFill/>
          <a:ln/>
        </p:spPr>
        <p:txBody>
          <a:bodyPr wrap="square" lIns="25400" tIns="25400" rIns="25400" bIns="25400" rtlCol="0" anchor="ctr"/>
          <a:lstStyle/>
          <a:p>
            <a:pPr marL="0" indent="0">
              <a:buNone/>
            </a:pPr>
            <a:r>
              <a:rPr lang="en-US" sz="800" dirty="0">
                <a:solidFill>
                  <a:srgbClr val="2DC653"/>
                </a:solidFill>
                <a:latin typeface="Calibri" pitchFamily="34" charset="0"/>
                <a:ea typeface="Calibri" pitchFamily="34" charset="-122"/>
                <a:cs typeface="Calibri" pitchFamily="34" charset="-120"/>
              </a:rPr>
              <a:t>Confirms bunching is solvable; we replace RL reward with LLM V2X debate</a:t>
            </a:r>
            <a:endParaRPr lang="en-US" sz="800" dirty="0"/>
          </a:p>
        </p:txBody>
      </p:sp>
      <p:sp>
        <p:nvSpPr>
          <p:cNvPr id="17" name="Shape 14"/>
          <p:cNvSpPr/>
          <p:nvPr/>
        </p:nvSpPr>
        <p:spPr>
          <a:xfrm>
            <a:off x="274320" y="1709928"/>
            <a:ext cx="8595360" cy="475488"/>
          </a:xfrm>
          <a:prstGeom prst="rect">
            <a:avLst/>
          </a:prstGeom>
          <a:solidFill>
            <a:srgbClr val="1E2640"/>
          </a:solidFill>
          <a:ln/>
        </p:spPr>
        <p:txBody>
          <a:bodyPr/>
          <a:lstStyle/>
          <a:p>
            <a:endParaRPr lang="en-IN"/>
          </a:p>
        </p:txBody>
      </p:sp>
      <p:sp>
        <p:nvSpPr>
          <p:cNvPr id="18" name="Text 15"/>
          <p:cNvSpPr/>
          <p:nvPr/>
        </p:nvSpPr>
        <p:spPr>
          <a:xfrm>
            <a:off x="320040" y="1728216"/>
            <a:ext cx="2651760" cy="438912"/>
          </a:xfrm>
          <a:prstGeom prst="rect">
            <a:avLst/>
          </a:prstGeom>
          <a:noFill/>
          <a:ln/>
        </p:spPr>
        <p:txBody>
          <a:bodyPr wrap="square" lIns="25400" tIns="25400" rIns="25400" bIns="25400" rtlCol="0" anchor="ctr"/>
          <a:lstStyle/>
          <a:p>
            <a:pPr marL="0" indent="0">
              <a:buNone/>
            </a:pPr>
            <a:r>
              <a:rPr lang="en-US" sz="850" dirty="0">
                <a:solidFill>
                  <a:srgbClr val="FFFFFF"/>
                </a:solidFill>
                <a:latin typeface="Calibri" pitchFamily="34" charset="0"/>
                <a:ea typeface="Calibri" pitchFamily="34" charset="-122"/>
                <a:cs typeface="Calibri" pitchFamily="34" charset="-120"/>
              </a:rPr>
              <a:t>Single-Agent Robust DRL for Bus Fleet</a:t>
            </a:r>
            <a:endParaRPr lang="en-US" sz="850" dirty="0"/>
          </a:p>
          <a:p>
            <a:pPr marL="0" indent="0">
              <a:buNone/>
            </a:pPr>
            <a:r>
              <a:rPr lang="en-US" sz="850" dirty="0">
                <a:solidFill>
                  <a:srgbClr val="FFFFFF"/>
                </a:solidFill>
                <a:latin typeface="Calibri" pitchFamily="34" charset="0"/>
                <a:ea typeface="Calibri" pitchFamily="34" charset="-122"/>
                <a:cs typeface="Calibri" pitchFamily="34" charset="-120"/>
              </a:rPr>
              <a:t>Zhang et al.</a:t>
            </a:r>
            <a:endParaRPr lang="en-US" sz="850" dirty="0"/>
          </a:p>
        </p:txBody>
      </p:sp>
      <p:sp>
        <p:nvSpPr>
          <p:cNvPr id="19" name="Text 16"/>
          <p:cNvSpPr/>
          <p:nvPr/>
        </p:nvSpPr>
        <p:spPr>
          <a:xfrm>
            <a:off x="3063240" y="1728216"/>
            <a:ext cx="1005840" cy="438912"/>
          </a:xfrm>
          <a:prstGeom prst="rect">
            <a:avLst/>
          </a:prstGeom>
          <a:noFill/>
          <a:ln/>
        </p:spPr>
        <p:txBody>
          <a:bodyPr wrap="square" lIns="25400" tIns="25400" rIns="25400" bIns="25400" rtlCol="0" anchor="ctr"/>
          <a:lstStyle/>
          <a:p>
            <a:pPr marL="0" indent="0" algn="ctr">
              <a:buNone/>
            </a:pPr>
            <a:r>
              <a:rPr lang="en-US" sz="850" dirty="0">
                <a:solidFill>
                  <a:srgbClr val="457B9D"/>
                </a:solidFill>
                <a:latin typeface="Calibri" pitchFamily="34" charset="0"/>
                <a:ea typeface="Calibri" pitchFamily="34" charset="-122"/>
                <a:cs typeface="Calibri" pitchFamily="34" charset="-120"/>
              </a:rPr>
              <a:t>2025</a:t>
            </a:r>
            <a:endParaRPr lang="en-US" sz="850" dirty="0"/>
          </a:p>
          <a:p>
            <a:pPr marL="0" indent="0" algn="ctr">
              <a:buNone/>
            </a:pPr>
            <a:r>
              <a:rPr lang="en-US" sz="850" dirty="0">
                <a:solidFill>
                  <a:srgbClr val="457B9D"/>
                </a:solidFill>
                <a:latin typeface="Calibri" pitchFamily="34" charset="0"/>
                <a:ea typeface="Calibri" pitchFamily="34" charset="-122"/>
                <a:cs typeface="Calibri" pitchFamily="34" charset="-120"/>
              </a:rPr>
              <a:t>arXiv 2508.20784</a:t>
            </a:r>
            <a:endParaRPr lang="en-US" sz="850" dirty="0"/>
          </a:p>
        </p:txBody>
      </p:sp>
      <p:sp>
        <p:nvSpPr>
          <p:cNvPr id="20" name="Text 17"/>
          <p:cNvSpPr/>
          <p:nvPr/>
        </p:nvSpPr>
        <p:spPr>
          <a:xfrm>
            <a:off x="4114800" y="1728216"/>
            <a:ext cx="2331720" cy="438912"/>
          </a:xfrm>
          <a:prstGeom prst="rect">
            <a:avLst/>
          </a:prstGeom>
          <a:noFill/>
          <a:ln/>
        </p:spPr>
        <p:txBody>
          <a:bodyPr wrap="square" lIns="25400" tIns="25400" rIns="25400" bIns="25400" rtlCol="0" anchor="ctr"/>
          <a:lstStyle/>
          <a:p>
            <a:pPr marL="0" indent="0">
              <a:buNone/>
            </a:pPr>
            <a:r>
              <a:rPr lang="en-US" sz="800" dirty="0">
                <a:solidFill>
                  <a:srgbClr val="C8D6E5"/>
                </a:solidFill>
                <a:latin typeface="Calibri" pitchFamily="34" charset="0"/>
                <a:ea typeface="Calibri" pitchFamily="34" charset="-122"/>
                <a:cs typeface="Calibri" pitchFamily="34" charset="-120"/>
              </a:rPr>
              <a:t>Reformulates MARL as single-agent via categorical state encoding; avoids convergence issues on CPU</a:t>
            </a:r>
            <a:endParaRPr lang="en-US" sz="800" dirty="0"/>
          </a:p>
        </p:txBody>
      </p:sp>
      <p:sp>
        <p:nvSpPr>
          <p:cNvPr id="21" name="Text 18"/>
          <p:cNvSpPr/>
          <p:nvPr/>
        </p:nvSpPr>
        <p:spPr>
          <a:xfrm>
            <a:off x="6537960" y="1728216"/>
            <a:ext cx="2240280" cy="438912"/>
          </a:xfrm>
          <a:prstGeom prst="rect">
            <a:avLst/>
          </a:prstGeom>
          <a:noFill/>
          <a:ln/>
        </p:spPr>
        <p:txBody>
          <a:bodyPr wrap="square" lIns="25400" tIns="25400" rIns="25400" bIns="25400" rtlCol="0" anchor="ctr"/>
          <a:lstStyle/>
          <a:p>
            <a:pPr marL="0" indent="0">
              <a:buNone/>
            </a:pPr>
            <a:r>
              <a:rPr lang="en-US" sz="800" dirty="0">
                <a:solidFill>
                  <a:srgbClr val="2DC653"/>
                </a:solidFill>
                <a:latin typeface="Calibri" pitchFamily="34" charset="0"/>
                <a:ea typeface="Calibri" pitchFamily="34" charset="-122"/>
                <a:cs typeface="Calibri" pitchFamily="34" charset="-120"/>
              </a:rPr>
              <a:t>Validates CPU-only approach; our multi-agent V2X layer adds explainability</a:t>
            </a:r>
            <a:endParaRPr lang="en-US" sz="800" dirty="0"/>
          </a:p>
        </p:txBody>
      </p:sp>
      <p:sp>
        <p:nvSpPr>
          <p:cNvPr id="22" name="Shape 19"/>
          <p:cNvSpPr/>
          <p:nvPr/>
        </p:nvSpPr>
        <p:spPr>
          <a:xfrm>
            <a:off x="274320" y="2185416"/>
            <a:ext cx="8595360" cy="475488"/>
          </a:xfrm>
          <a:prstGeom prst="rect">
            <a:avLst/>
          </a:prstGeom>
          <a:solidFill>
            <a:srgbClr val="2A3150"/>
          </a:solidFill>
          <a:ln/>
        </p:spPr>
        <p:txBody>
          <a:bodyPr/>
          <a:lstStyle/>
          <a:p>
            <a:endParaRPr lang="en-IN"/>
          </a:p>
        </p:txBody>
      </p:sp>
      <p:sp>
        <p:nvSpPr>
          <p:cNvPr id="23" name="Text 20"/>
          <p:cNvSpPr/>
          <p:nvPr/>
        </p:nvSpPr>
        <p:spPr>
          <a:xfrm>
            <a:off x="320040" y="2203704"/>
            <a:ext cx="2651760" cy="438912"/>
          </a:xfrm>
          <a:prstGeom prst="rect">
            <a:avLst/>
          </a:prstGeom>
          <a:noFill/>
          <a:ln/>
        </p:spPr>
        <p:txBody>
          <a:bodyPr wrap="square" lIns="25400" tIns="25400" rIns="25400" bIns="25400" rtlCol="0" anchor="ctr"/>
          <a:lstStyle/>
          <a:p>
            <a:pPr marL="0" indent="0">
              <a:buNone/>
            </a:pPr>
            <a:r>
              <a:rPr lang="en-US" sz="850" dirty="0">
                <a:solidFill>
                  <a:srgbClr val="FFFFFF"/>
                </a:solidFill>
                <a:latin typeface="Calibri" pitchFamily="34" charset="0"/>
                <a:ea typeface="Calibri" pitchFamily="34" charset="-122"/>
                <a:cs typeface="Calibri" pitchFamily="34" charset="-120"/>
              </a:rPr>
              <a:t>Multi-Objective MARL for Shared Corridor</a:t>
            </a:r>
            <a:endParaRPr lang="en-US" sz="850" dirty="0"/>
          </a:p>
          <a:p>
            <a:pPr marL="0" indent="0">
              <a:buNone/>
            </a:pPr>
            <a:r>
              <a:rPr lang="en-US" sz="850" dirty="0">
                <a:solidFill>
                  <a:srgbClr val="FFFFFF"/>
                </a:solidFill>
                <a:latin typeface="Calibri" pitchFamily="34" charset="0"/>
                <a:ea typeface="Calibri" pitchFamily="34" charset="-122"/>
                <a:cs typeface="Calibri" pitchFamily="34" charset="-120"/>
              </a:rPr>
              <a:t>Wang &amp; Sun</a:t>
            </a:r>
            <a:endParaRPr lang="en-US" sz="850" dirty="0"/>
          </a:p>
        </p:txBody>
      </p:sp>
      <p:sp>
        <p:nvSpPr>
          <p:cNvPr id="24" name="Text 21"/>
          <p:cNvSpPr/>
          <p:nvPr/>
        </p:nvSpPr>
        <p:spPr>
          <a:xfrm>
            <a:off x="3063240" y="2203704"/>
            <a:ext cx="1005840" cy="438912"/>
          </a:xfrm>
          <a:prstGeom prst="rect">
            <a:avLst/>
          </a:prstGeom>
          <a:noFill/>
          <a:ln/>
        </p:spPr>
        <p:txBody>
          <a:bodyPr wrap="square" lIns="25400" tIns="25400" rIns="25400" bIns="25400" rtlCol="0" anchor="ctr"/>
          <a:lstStyle/>
          <a:p>
            <a:pPr marL="0" indent="0" algn="ctr">
              <a:buNone/>
            </a:pPr>
            <a:r>
              <a:rPr lang="en-US" sz="850" dirty="0">
                <a:solidFill>
                  <a:srgbClr val="457B9D"/>
                </a:solidFill>
                <a:latin typeface="Calibri" pitchFamily="34" charset="0"/>
                <a:ea typeface="Calibri" pitchFamily="34" charset="-122"/>
                <a:cs typeface="Calibri" pitchFamily="34" charset="-120"/>
              </a:rPr>
              <a:t>2023</a:t>
            </a:r>
            <a:endParaRPr lang="en-US" sz="850" dirty="0"/>
          </a:p>
          <a:p>
            <a:pPr marL="0" indent="0" algn="ctr">
              <a:buNone/>
            </a:pPr>
            <a:r>
              <a:rPr lang="en-US" sz="850" dirty="0">
                <a:solidFill>
                  <a:srgbClr val="457B9D"/>
                </a:solidFill>
                <a:latin typeface="Calibri" pitchFamily="34" charset="0"/>
                <a:ea typeface="Calibri" pitchFamily="34" charset="-122"/>
                <a:cs typeface="Calibri" pitchFamily="34" charset="-120"/>
              </a:rPr>
              <a:t>Trans. Res. Part E</a:t>
            </a:r>
            <a:endParaRPr lang="en-US" sz="850" dirty="0"/>
          </a:p>
        </p:txBody>
      </p:sp>
      <p:sp>
        <p:nvSpPr>
          <p:cNvPr id="25" name="Text 22"/>
          <p:cNvSpPr/>
          <p:nvPr/>
        </p:nvSpPr>
        <p:spPr>
          <a:xfrm>
            <a:off x="4114800" y="2203704"/>
            <a:ext cx="2331720" cy="438912"/>
          </a:xfrm>
          <a:prstGeom prst="rect">
            <a:avLst/>
          </a:prstGeom>
          <a:noFill/>
          <a:ln/>
        </p:spPr>
        <p:txBody>
          <a:bodyPr wrap="square" lIns="25400" tIns="25400" rIns="25400" bIns="25400" rtlCol="0" anchor="ctr"/>
          <a:lstStyle/>
          <a:p>
            <a:pPr marL="0" indent="0">
              <a:buNone/>
            </a:pPr>
            <a:r>
              <a:rPr lang="en-US" sz="800" dirty="0">
                <a:solidFill>
                  <a:srgbClr val="C8D6E5"/>
                </a:solidFill>
                <a:latin typeface="Calibri" pitchFamily="34" charset="0"/>
                <a:ea typeface="Calibri" pitchFamily="34" charset="-122"/>
                <a:cs typeface="Calibri" pitchFamily="34" charset="-120"/>
              </a:rPr>
              <a:t>MARL framework for multi-line shared corridors; cost-based competitive coverage model</a:t>
            </a:r>
            <a:endParaRPr lang="en-US" sz="800" dirty="0"/>
          </a:p>
        </p:txBody>
      </p:sp>
      <p:sp>
        <p:nvSpPr>
          <p:cNvPr id="26" name="Text 23"/>
          <p:cNvSpPr/>
          <p:nvPr/>
        </p:nvSpPr>
        <p:spPr>
          <a:xfrm>
            <a:off x="6537960" y="2203704"/>
            <a:ext cx="2240280" cy="438912"/>
          </a:xfrm>
          <a:prstGeom prst="rect">
            <a:avLst/>
          </a:prstGeom>
          <a:noFill/>
          <a:ln/>
        </p:spPr>
        <p:txBody>
          <a:bodyPr wrap="square" lIns="25400" tIns="25400" rIns="25400" bIns="25400" rtlCol="0" anchor="ctr"/>
          <a:lstStyle/>
          <a:p>
            <a:pPr marL="0" indent="0">
              <a:buNone/>
            </a:pPr>
            <a:r>
              <a:rPr lang="en-US" sz="800" dirty="0">
                <a:solidFill>
                  <a:srgbClr val="2DC653"/>
                </a:solidFill>
                <a:latin typeface="Calibri" pitchFamily="34" charset="0"/>
                <a:ea typeface="Calibri" pitchFamily="34" charset="-122"/>
                <a:cs typeface="Calibri" pitchFamily="34" charset="-120"/>
              </a:rPr>
              <a:t>Informs multi-bus corridor design for Route 378</a:t>
            </a:r>
            <a:endParaRPr lang="en-US" sz="800" dirty="0"/>
          </a:p>
        </p:txBody>
      </p:sp>
      <p:sp>
        <p:nvSpPr>
          <p:cNvPr id="27" name="Shape 24"/>
          <p:cNvSpPr/>
          <p:nvPr/>
        </p:nvSpPr>
        <p:spPr>
          <a:xfrm>
            <a:off x="274320" y="2660904"/>
            <a:ext cx="8595360" cy="475488"/>
          </a:xfrm>
          <a:prstGeom prst="rect">
            <a:avLst/>
          </a:prstGeom>
          <a:solidFill>
            <a:srgbClr val="1E2640"/>
          </a:solidFill>
          <a:ln/>
        </p:spPr>
        <p:txBody>
          <a:bodyPr/>
          <a:lstStyle/>
          <a:p>
            <a:endParaRPr lang="en-IN"/>
          </a:p>
        </p:txBody>
      </p:sp>
      <p:sp>
        <p:nvSpPr>
          <p:cNvPr id="28" name="Text 25"/>
          <p:cNvSpPr/>
          <p:nvPr/>
        </p:nvSpPr>
        <p:spPr>
          <a:xfrm>
            <a:off x="320040" y="2679192"/>
            <a:ext cx="2651760" cy="438912"/>
          </a:xfrm>
          <a:prstGeom prst="rect">
            <a:avLst/>
          </a:prstGeom>
          <a:noFill/>
          <a:ln/>
        </p:spPr>
        <p:txBody>
          <a:bodyPr wrap="square" lIns="25400" tIns="25400" rIns="25400" bIns="25400" rtlCol="0" anchor="ctr"/>
          <a:lstStyle/>
          <a:p>
            <a:pPr marL="0" indent="0">
              <a:buNone/>
            </a:pPr>
            <a:r>
              <a:rPr lang="en-US" sz="850" dirty="0">
                <a:solidFill>
                  <a:srgbClr val="FFFFFF"/>
                </a:solidFill>
                <a:latin typeface="Calibri" pitchFamily="34" charset="0"/>
                <a:ea typeface="Calibri" pitchFamily="34" charset="-122"/>
                <a:cs typeface="Calibri" pitchFamily="34" charset="-120"/>
              </a:rPr>
              <a:t>Hierarchical MARL (HMARL)</a:t>
            </a:r>
            <a:endParaRPr lang="en-US" sz="850" dirty="0"/>
          </a:p>
          <a:p>
            <a:pPr marL="0" indent="0">
              <a:buNone/>
            </a:pPr>
            <a:r>
              <a:rPr lang="en-US" sz="850" dirty="0">
                <a:solidFill>
                  <a:srgbClr val="FFFFFF"/>
                </a:solidFill>
                <a:latin typeface="Calibri" pitchFamily="34" charset="0"/>
                <a:ea typeface="Calibri" pitchFamily="34" charset="-122"/>
                <a:cs typeface="Calibri" pitchFamily="34" charset="-120"/>
              </a:rPr>
              <a:t>IEEE ITS</a:t>
            </a:r>
            <a:endParaRPr lang="en-US" sz="850" dirty="0"/>
          </a:p>
        </p:txBody>
      </p:sp>
      <p:sp>
        <p:nvSpPr>
          <p:cNvPr id="29" name="Text 26"/>
          <p:cNvSpPr/>
          <p:nvPr/>
        </p:nvSpPr>
        <p:spPr>
          <a:xfrm>
            <a:off x="3063240" y="2679192"/>
            <a:ext cx="1005840" cy="438912"/>
          </a:xfrm>
          <a:prstGeom prst="rect">
            <a:avLst/>
          </a:prstGeom>
          <a:noFill/>
          <a:ln/>
        </p:spPr>
        <p:txBody>
          <a:bodyPr wrap="square" lIns="25400" tIns="25400" rIns="25400" bIns="25400" rtlCol="0" anchor="ctr"/>
          <a:lstStyle/>
          <a:p>
            <a:pPr marL="0" indent="0" algn="ctr">
              <a:buNone/>
            </a:pPr>
            <a:r>
              <a:rPr lang="en-US" sz="850" dirty="0">
                <a:solidFill>
                  <a:srgbClr val="457B9D"/>
                </a:solidFill>
                <a:latin typeface="Calibri" pitchFamily="34" charset="0"/>
                <a:ea typeface="Calibri" pitchFamily="34" charset="-122"/>
                <a:cs typeface="Calibri" pitchFamily="34" charset="-120"/>
              </a:rPr>
              <a:t>2024</a:t>
            </a:r>
            <a:endParaRPr lang="en-US" sz="850" dirty="0"/>
          </a:p>
          <a:p>
            <a:pPr marL="0" indent="0" algn="ctr">
              <a:buNone/>
            </a:pPr>
            <a:r>
              <a:rPr lang="en-US" sz="850" dirty="0">
                <a:solidFill>
                  <a:srgbClr val="457B9D"/>
                </a:solidFill>
                <a:latin typeface="Calibri" pitchFamily="34" charset="0"/>
                <a:ea typeface="Calibri" pitchFamily="34" charset="-122"/>
                <a:cs typeface="Calibri" pitchFamily="34" charset="-120"/>
              </a:rPr>
              <a:t>IEEE Xplore</a:t>
            </a:r>
            <a:endParaRPr lang="en-US" sz="850" dirty="0"/>
          </a:p>
        </p:txBody>
      </p:sp>
      <p:sp>
        <p:nvSpPr>
          <p:cNvPr id="30" name="Text 27"/>
          <p:cNvSpPr/>
          <p:nvPr/>
        </p:nvSpPr>
        <p:spPr>
          <a:xfrm>
            <a:off x="4114800" y="2679192"/>
            <a:ext cx="2331720" cy="438912"/>
          </a:xfrm>
          <a:prstGeom prst="rect">
            <a:avLst/>
          </a:prstGeom>
          <a:noFill/>
          <a:ln/>
        </p:spPr>
        <p:txBody>
          <a:bodyPr wrap="square" lIns="25400" tIns="25400" rIns="25400" bIns="25400" rtlCol="0" anchor="ctr"/>
          <a:lstStyle/>
          <a:p>
            <a:pPr marL="0" indent="0">
              <a:buNone/>
            </a:pPr>
            <a:r>
              <a:rPr lang="en-US" sz="800" dirty="0">
                <a:solidFill>
                  <a:srgbClr val="C8D6E5"/>
                </a:solidFill>
                <a:latin typeface="Calibri" pitchFamily="34" charset="0"/>
                <a:ea typeface="Calibri" pitchFamily="34" charset="-122"/>
                <a:cs typeface="Calibri" pitchFamily="34" charset="-120"/>
              </a:rPr>
              <a:t>Combines holding + dedicated-lane acceleration in two-layer policy; reduces bunching 30%+</a:t>
            </a:r>
            <a:endParaRPr lang="en-US" sz="800" dirty="0"/>
          </a:p>
        </p:txBody>
      </p:sp>
      <p:sp>
        <p:nvSpPr>
          <p:cNvPr id="31" name="Text 28"/>
          <p:cNvSpPr/>
          <p:nvPr/>
        </p:nvSpPr>
        <p:spPr>
          <a:xfrm>
            <a:off x="6537960" y="2679192"/>
            <a:ext cx="2240280" cy="438912"/>
          </a:xfrm>
          <a:prstGeom prst="rect">
            <a:avLst/>
          </a:prstGeom>
          <a:noFill/>
          <a:ln/>
        </p:spPr>
        <p:txBody>
          <a:bodyPr wrap="square" lIns="25400" tIns="25400" rIns="25400" bIns="25400" rtlCol="0" anchor="ctr"/>
          <a:lstStyle/>
          <a:p>
            <a:pPr marL="0" indent="0">
              <a:buNone/>
            </a:pPr>
            <a:r>
              <a:rPr lang="en-US" sz="800" dirty="0">
                <a:solidFill>
                  <a:srgbClr val="2DC653"/>
                </a:solidFill>
                <a:latin typeface="Calibri" pitchFamily="34" charset="0"/>
                <a:ea typeface="Calibri" pitchFamily="34" charset="-122"/>
                <a:cs typeface="Calibri" pitchFamily="34" charset="-120"/>
              </a:rPr>
              <a:t>Inspires HOLD/SKIP actions in our V2X Bus Agents</a:t>
            </a:r>
            <a:endParaRPr lang="en-US" sz="800" dirty="0"/>
          </a:p>
        </p:txBody>
      </p:sp>
      <p:sp>
        <p:nvSpPr>
          <p:cNvPr id="32" name="Shape 29"/>
          <p:cNvSpPr/>
          <p:nvPr/>
        </p:nvSpPr>
        <p:spPr>
          <a:xfrm>
            <a:off x="274320" y="3136392"/>
            <a:ext cx="8595360" cy="475488"/>
          </a:xfrm>
          <a:prstGeom prst="rect">
            <a:avLst/>
          </a:prstGeom>
          <a:solidFill>
            <a:srgbClr val="2A3150"/>
          </a:solidFill>
          <a:ln/>
        </p:spPr>
        <p:txBody>
          <a:bodyPr/>
          <a:lstStyle/>
          <a:p>
            <a:endParaRPr lang="en-IN"/>
          </a:p>
        </p:txBody>
      </p:sp>
      <p:sp>
        <p:nvSpPr>
          <p:cNvPr id="33" name="Text 30"/>
          <p:cNvSpPr/>
          <p:nvPr/>
        </p:nvSpPr>
        <p:spPr>
          <a:xfrm>
            <a:off x="320040" y="3154680"/>
            <a:ext cx="2651760" cy="438912"/>
          </a:xfrm>
          <a:prstGeom prst="rect">
            <a:avLst/>
          </a:prstGeom>
          <a:noFill/>
          <a:ln/>
        </p:spPr>
        <p:txBody>
          <a:bodyPr wrap="square" lIns="25400" tIns="25400" rIns="25400" bIns="25400" rtlCol="0" anchor="ctr"/>
          <a:lstStyle/>
          <a:p>
            <a:pPr marL="0" indent="0">
              <a:buNone/>
            </a:pPr>
            <a:r>
              <a:rPr lang="en-US" sz="850" dirty="0">
                <a:solidFill>
                  <a:srgbClr val="FFFFFF"/>
                </a:solidFill>
                <a:latin typeface="Calibri" pitchFamily="34" charset="0"/>
                <a:ea typeface="Calibri" pitchFamily="34" charset="-122"/>
                <a:cs typeface="Calibri" pitchFamily="34" charset="-120"/>
              </a:rPr>
              <a:t>Smart Cities: Robust RL + Curriculum</a:t>
            </a:r>
            <a:endParaRPr lang="en-US" sz="850" dirty="0"/>
          </a:p>
          <a:p>
            <a:pPr marL="0" indent="0">
              <a:buNone/>
            </a:pPr>
            <a:r>
              <a:rPr lang="en-US" sz="850" dirty="0">
                <a:solidFill>
                  <a:srgbClr val="FFFFFF"/>
                </a:solidFill>
                <a:latin typeface="Calibri" pitchFamily="34" charset="0"/>
                <a:ea typeface="Calibri" pitchFamily="34" charset="-122"/>
                <a:cs typeface="Calibri" pitchFamily="34" charset="-120"/>
              </a:rPr>
              <a:t>MIT DSpace</a:t>
            </a:r>
            <a:endParaRPr lang="en-US" sz="850" dirty="0"/>
          </a:p>
        </p:txBody>
      </p:sp>
      <p:sp>
        <p:nvSpPr>
          <p:cNvPr id="34" name="Text 31"/>
          <p:cNvSpPr/>
          <p:nvPr/>
        </p:nvSpPr>
        <p:spPr>
          <a:xfrm>
            <a:off x="3063240" y="3154680"/>
            <a:ext cx="1005840" cy="438912"/>
          </a:xfrm>
          <a:prstGeom prst="rect">
            <a:avLst/>
          </a:prstGeom>
          <a:noFill/>
          <a:ln/>
        </p:spPr>
        <p:txBody>
          <a:bodyPr wrap="square" lIns="25400" tIns="25400" rIns="25400" bIns="25400" rtlCol="0" anchor="ctr"/>
          <a:lstStyle/>
          <a:p>
            <a:pPr marL="0" indent="0" algn="ctr">
              <a:buNone/>
            </a:pPr>
            <a:r>
              <a:rPr lang="en-US" sz="850" dirty="0">
                <a:solidFill>
                  <a:srgbClr val="457B9D"/>
                </a:solidFill>
                <a:latin typeface="Calibri" pitchFamily="34" charset="0"/>
                <a:ea typeface="Calibri" pitchFamily="34" charset="-122"/>
                <a:cs typeface="Calibri" pitchFamily="34" charset="-120"/>
              </a:rPr>
              <a:t>2024</a:t>
            </a:r>
            <a:endParaRPr lang="en-US" sz="850" dirty="0"/>
          </a:p>
          <a:p>
            <a:pPr marL="0" indent="0" algn="ctr">
              <a:buNone/>
            </a:pPr>
            <a:r>
              <a:rPr lang="en-US" sz="850" dirty="0">
                <a:solidFill>
                  <a:srgbClr val="457B9D"/>
                </a:solidFill>
                <a:latin typeface="Calibri" pitchFamily="34" charset="0"/>
                <a:ea typeface="Calibri" pitchFamily="34" charset="-122"/>
                <a:cs typeface="Calibri" pitchFamily="34" charset="-120"/>
              </a:rPr>
              <a:t>Smart Cities MDPI</a:t>
            </a:r>
            <a:endParaRPr lang="en-US" sz="850" dirty="0"/>
          </a:p>
        </p:txBody>
      </p:sp>
      <p:sp>
        <p:nvSpPr>
          <p:cNvPr id="35" name="Text 32"/>
          <p:cNvSpPr/>
          <p:nvPr/>
        </p:nvSpPr>
        <p:spPr>
          <a:xfrm>
            <a:off x="4114800" y="3154680"/>
            <a:ext cx="2331720" cy="438912"/>
          </a:xfrm>
          <a:prstGeom prst="rect">
            <a:avLst/>
          </a:prstGeom>
          <a:noFill/>
          <a:ln/>
        </p:spPr>
        <p:txBody>
          <a:bodyPr wrap="square" lIns="25400" tIns="25400" rIns="25400" bIns="25400" rtlCol="0" anchor="ctr"/>
          <a:lstStyle/>
          <a:p>
            <a:pPr marL="0" indent="0">
              <a:buNone/>
            </a:pPr>
            <a:r>
              <a:rPr lang="en-US" sz="800" dirty="0">
                <a:solidFill>
                  <a:srgbClr val="C8D6E5"/>
                </a:solidFill>
                <a:latin typeface="Calibri" pitchFamily="34" charset="0"/>
                <a:ea typeface="Calibri" pitchFamily="34" charset="-122"/>
                <a:cs typeface="Calibri" pitchFamily="34" charset="-120"/>
              </a:rPr>
              <a:t>Curriculum RL reduces wait time by 15%+ in non-stationary environments; handles demand spikes</a:t>
            </a:r>
            <a:endParaRPr lang="en-US" sz="800" dirty="0"/>
          </a:p>
        </p:txBody>
      </p:sp>
      <p:sp>
        <p:nvSpPr>
          <p:cNvPr id="36" name="Text 33"/>
          <p:cNvSpPr/>
          <p:nvPr/>
        </p:nvSpPr>
        <p:spPr>
          <a:xfrm>
            <a:off x="6537960" y="3154680"/>
            <a:ext cx="2240280" cy="438912"/>
          </a:xfrm>
          <a:prstGeom prst="rect">
            <a:avLst/>
          </a:prstGeom>
          <a:noFill/>
          <a:ln/>
        </p:spPr>
        <p:txBody>
          <a:bodyPr wrap="square" lIns="25400" tIns="25400" rIns="25400" bIns="25400" rtlCol="0" anchor="ctr"/>
          <a:lstStyle/>
          <a:p>
            <a:pPr marL="0" indent="0">
              <a:buNone/>
            </a:pPr>
            <a:r>
              <a:rPr lang="en-US" sz="800" dirty="0">
                <a:solidFill>
                  <a:srgbClr val="2DC653"/>
                </a:solidFill>
                <a:latin typeface="Calibri" pitchFamily="34" charset="0"/>
                <a:ea typeface="Calibri" pitchFamily="34" charset="-122"/>
                <a:cs typeface="Calibri" pitchFamily="34" charset="-120"/>
              </a:rPr>
              <a:t>Grounds our Faker-based stochastic traffic event injection</a:t>
            </a:r>
            <a:endParaRPr lang="en-US" sz="800" dirty="0"/>
          </a:p>
        </p:txBody>
      </p:sp>
      <p:sp>
        <p:nvSpPr>
          <p:cNvPr id="37" name="Shape 34"/>
          <p:cNvSpPr/>
          <p:nvPr/>
        </p:nvSpPr>
        <p:spPr>
          <a:xfrm>
            <a:off x="274320" y="3611880"/>
            <a:ext cx="8595360" cy="475488"/>
          </a:xfrm>
          <a:prstGeom prst="rect">
            <a:avLst/>
          </a:prstGeom>
          <a:solidFill>
            <a:srgbClr val="1E2640"/>
          </a:solidFill>
          <a:ln/>
        </p:spPr>
        <p:txBody>
          <a:bodyPr/>
          <a:lstStyle/>
          <a:p>
            <a:endParaRPr lang="en-IN"/>
          </a:p>
        </p:txBody>
      </p:sp>
      <p:sp>
        <p:nvSpPr>
          <p:cNvPr id="38" name="Text 35"/>
          <p:cNvSpPr/>
          <p:nvPr/>
        </p:nvSpPr>
        <p:spPr>
          <a:xfrm>
            <a:off x="320040" y="3630168"/>
            <a:ext cx="2651760" cy="438912"/>
          </a:xfrm>
          <a:prstGeom prst="rect">
            <a:avLst/>
          </a:prstGeom>
          <a:noFill/>
          <a:ln/>
        </p:spPr>
        <p:txBody>
          <a:bodyPr wrap="square" lIns="25400" tIns="25400" rIns="25400" bIns="25400" rtlCol="0" anchor="ctr"/>
          <a:lstStyle/>
          <a:p>
            <a:pPr marL="0" indent="0">
              <a:buNone/>
            </a:pPr>
            <a:r>
              <a:rPr lang="en-US" sz="850" dirty="0">
                <a:solidFill>
                  <a:srgbClr val="FFFFFF"/>
                </a:solidFill>
                <a:latin typeface="Calibri" pitchFamily="34" charset="0"/>
                <a:ea typeface="Calibri" pitchFamily="34" charset="-122"/>
                <a:cs typeface="Calibri" pitchFamily="34" charset="-120"/>
              </a:rPr>
              <a:t>Economic Congestion Pricing</a:t>
            </a:r>
            <a:endParaRPr lang="en-US" sz="850" dirty="0"/>
          </a:p>
          <a:p>
            <a:pPr marL="0" indent="0">
              <a:buNone/>
            </a:pPr>
            <a:r>
              <a:rPr lang="en-US" sz="850" dirty="0">
                <a:solidFill>
                  <a:srgbClr val="FFFFFF"/>
                </a:solidFill>
                <a:latin typeface="Calibri" pitchFamily="34" charset="0"/>
                <a:ea typeface="Calibri" pitchFamily="34" charset="-122"/>
                <a:cs typeface="Calibri" pitchFamily="34" charset="-120"/>
              </a:rPr>
              <a:t>Arnott et al.</a:t>
            </a:r>
            <a:endParaRPr lang="en-US" sz="850" dirty="0"/>
          </a:p>
        </p:txBody>
      </p:sp>
      <p:sp>
        <p:nvSpPr>
          <p:cNvPr id="39" name="Text 36"/>
          <p:cNvSpPr/>
          <p:nvPr/>
        </p:nvSpPr>
        <p:spPr>
          <a:xfrm>
            <a:off x="3063240" y="3630168"/>
            <a:ext cx="1005840" cy="438912"/>
          </a:xfrm>
          <a:prstGeom prst="rect">
            <a:avLst/>
          </a:prstGeom>
          <a:noFill/>
          <a:ln/>
        </p:spPr>
        <p:txBody>
          <a:bodyPr wrap="square" lIns="25400" tIns="25400" rIns="25400" bIns="25400" rtlCol="0" anchor="ctr"/>
          <a:lstStyle/>
          <a:p>
            <a:pPr marL="0" indent="0" algn="ctr">
              <a:buNone/>
            </a:pPr>
            <a:r>
              <a:rPr lang="en-US" sz="850" dirty="0">
                <a:solidFill>
                  <a:srgbClr val="457B9D"/>
                </a:solidFill>
                <a:latin typeface="Calibri" pitchFamily="34" charset="0"/>
                <a:ea typeface="Calibri" pitchFamily="34" charset="-122"/>
                <a:cs typeface="Calibri" pitchFamily="34" charset="-120"/>
              </a:rPr>
              <a:t>(classic)</a:t>
            </a:r>
            <a:endParaRPr lang="en-US" sz="850" dirty="0"/>
          </a:p>
          <a:p>
            <a:pPr marL="0" indent="0" algn="ctr">
              <a:buNone/>
            </a:pPr>
            <a:r>
              <a:rPr lang="en-US" sz="850" dirty="0">
                <a:solidFill>
                  <a:srgbClr val="457B9D"/>
                </a:solidFill>
                <a:latin typeface="Calibri" pitchFamily="34" charset="0"/>
                <a:ea typeface="Calibri" pitchFamily="34" charset="-122"/>
                <a:cs typeface="Calibri" pitchFamily="34" charset="-120"/>
              </a:rPr>
              <a:t>Transport Econ.</a:t>
            </a:r>
            <a:endParaRPr lang="en-US" sz="850" dirty="0"/>
          </a:p>
        </p:txBody>
      </p:sp>
      <p:sp>
        <p:nvSpPr>
          <p:cNvPr id="40" name="Text 37"/>
          <p:cNvSpPr/>
          <p:nvPr/>
        </p:nvSpPr>
        <p:spPr>
          <a:xfrm>
            <a:off x="4114800" y="3630168"/>
            <a:ext cx="2331720" cy="438912"/>
          </a:xfrm>
          <a:prstGeom prst="rect">
            <a:avLst/>
          </a:prstGeom>
          <a:noFill/>
          <a:ln/>
        </p:spPr>
        <p:txBody>
          <a:bodyPr wrap="square" lIns="25400" tIns="25400" rIns="25400" bIns="25400" rtlCol="0" anchor="ctr"/>
          <a:lstStyle/>
          <a:p>
            <a:pPr marL="0" indent="0">
              <a:buNone/>
            </a:pPr>
            <a:r>
              <a:rPr lang="en-US" sz="800" dirty="0">
                <a:solidFill>
                  <a:srgbClr val="C8D6E5"/>
                </a:solidFill>
                <a:latin typeface="Calibri" pitchFamily="34" charset="0"/>
                <a:ea typeface="Calibri" pitchFamily="34" charset="-122"/>
                <a:cs typeface="Calibri" pitchFamily="34" charset="-120"/>
              </a:rPr>
              <a:t>Micro-economic bottleneck model: marginal social cost pricing. Value of time ₹100/hr (Bengaluru)</a:t>
            </a:r>
            <a:endParaRPr lang="en-US" sz="800" dirty="0"/>
          </a:p>
        </p:txBody>
      </p:sp>
      <p:sp>
        <p:nvSpPr>
          <p:cNvPr id="41" name="Text 38"/>
          <p:cNvSpPr/>
          <p:nvPr/>
        </p:nvSpPr>
        <p:spPr>
          <a:xfrm>
            <a:off x="6537960" y="3630168"/>
            <a:ext cx="2240280" cy="438912"/>
          </a:xfrm>
          <a:prstGeom prst="rect">
            <a:avLst/>
          </a:prstGeom>
          <a:noFill/>
          <a:ln/>
        </p:spPr>
        <p:txBody>
          <a:bodyPr wrap="square" lIns="25400" tIns="25400" rIns="25400" bIns="25400" rtlCol="0" anchor="ctr"/>
          <a:lstStyle/>
          <a:p>
            <a:pPr marL="0" indent="0">
              <a:buNone/>
            </a:pPr>
            <a:r>
              <a:rPr lang="en-US" sz="800" dirty="0">
                <a:solidFill>
                  <a:srgbClr val="2DC653"/>
                </a:solidFill>
                <a:latin typeface="Calibri" pitchFamily="34" charset="0"/>
                <a:ea typeface="Calibri" pitchFamily="34" charset="-122"/>
                <a:cs typeface="Calibri" pitchFamily="34" charset="-120"/>
              </a:rPr>
              <a:t>Grounds V2I TMC agent’s traffic-cost broadcast logic</a:t>
            </a:r>
            <a:endParaRPr lang="en-US" sz="800" dirty="0"/>
          </a:p>
        </p:txBody>
      </p:sp>
      <p:pic>
        <p:nvPicPr>
          <p:cNvPr id="42" name="Picture 41">
            <a:extLst>
              <a:ext uri="{FF2B5EF4-FFF2-40B4-BE49-F238E27FC236}">
                <a16:creationId xmlns:a16="http://schemas.microsoft.com/office/drawing/2014/main" id="{A2D8450F-2768-F520-9865-BEB8E0BC1072}"/>
              </a:ext>
            </a:extLst>
          </p:cNvPr>
          <p:cNvPicPr>
            <a:picLocks noChangeAspect="1"/>
          </p:cNvPicPr>
          <p:nvPr/>
        </p:nvPicPr>
        <p:blipFill>
          <a:blip r:embed="rId3"/>
          <a:stretch>
            <a:fillRect/>
          </a:stretch>
        </p:blipFill>
        <p:spPr>
          <a:xfrm>
            <a:off x="91440" y="128016"/>
            <a:ext cx="1700784" cy="728907"/>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1A1F2E"/>
        </a:solidFill>
        <a:effectLst/>
      </p:bgPr>
    </p:bg>
    <p:spTree>
      <p:nvGrpSpPr>
        <p:cNvPr id="1" name=""/>
        <p:cNvGrpSpPr/>
        <p:nvPr/>
      </p:nvGrpSpPr>
      <p:grpSpPr>
        <a:xfrm>
          <a:off x="0" y="0"/>
          <a:ext cx="0" cy="0"/>
          <a:chOff x="0" y="0"/>
          <a:chExt cx="0" cy="0"/>
        </a:xfrm>
      </p:grpSpPr>
      <p:sp>
        <p:nvSpPr>
          <p:cNvPr id="2" name="Shape 0"/>
          <p:cNvSpPr/>
          <p:nvPr/>
        </p:nvSpPr>
        <p:spPr>
          <a:xfrm>
            <a:off x="0" y="0"/>
            <a:ext cx="9144000" cy="64008"/>
          </a:xfrm>
          <a:prstGeom prst="rect">
            <a:avLst/>
          </a:prstGeom>
          <a:solidFill>
            <a:srgbClr val="E63946"/>
          </a:solidFill>
          <a:ln/>
        </p:spPr>
        <p:txBody>
          <a:bodyPr/>
          <a:lstStyle/>
          <a:p>
            <a:endParaRPr lang="en-IN"/>
          </a:p>
        </p:txBody>
      </p:sp>
      <p:sp>
        <p:nvSpPr>
          <p:cNvPr id="3" name="Shape 1"/>
          <p:cNvSpPr/>
          <p:nvPr/>
        </p:nvSpPr>
        <p:spPr>
          <a:xfrm>
            <a:off x="0" y="64008"/>
            <a:ext cx="9144000" cy="658368"/>
          </a:xfrm>
          <a:prstGeom prst="rect">
            <a:avLst/>
          </a:prstGeom>
          <a:solidFill>
            <a:srgbClr val="2A3150"/>
          </a:solidFill>
          <a:ln/>
        </p:spPr>
        <p:txBody>
          <a:bodyPr/>
          <a:lstStyle/>
          <a:p>
            <a:endParaRPr lang="en-IN"/>
          </a:p>
        </p:txBody>
      </p:sp>
      <p:sp>
        <p:nvSpPr>
          <p:cNvPr id="5" name="Text 2"/>
          <p:cNvSpPr/>
          <p:nvPr/>
        </p:nvSpPr>
        <p:spPr>
          <a:xfrm>
            <a:off x="2011680" y="91440"/>
            <a:ext cx="5029200" cy="548640"/>
          </a:xfrm>
          <a:prstGeom prst="rect">
            <a:avLst/>
          </a:prstGeom>
          <a:noFill/>
          <a:ln/>
        </p:spPr>
        <p:txBody>
          <a:bodyPr wrap="square" lIns="0" tIns="0" rIns="0" bIns="0" rtlCol="0" anchor="ctr"/>
          <a:lstStyle/>
          <a:p>
            <a:pPr marL="0" indent="0">
              <a:buNone/>
            </a:pPr>
            <a:r>
              <a:rPr lang="en-US" sz="2000" b="1" dirty="0">
                <a:solidFill>
                  <a:srgbClr val="FFFFFF"/>
                </a:solidFill>
                <a:latin typeface="Calibri" pitchFamily="34" charset="0"/>
                <a:ea typeface="Calibri" pitchFamily="34" charset="-122"/>
                <a:cs typeface="Calibri" pitchFamily="34" charset="-120"/>
              </a:rPr>
              <a:t>Problem Definition</a:t>
            </a:r>
            <a:endParaRPr lang="en-US" sz="2000" dirty="0"/>
          </a:p>
        </p:txBody>
      </p:sp>
      <p:sp>
        <p:nvSpPr>
          <p:cNvPr id="6" name="Text 3"/>
          <p:cNvSpPr/>
          <p:nvPr/>
        </p:nvSpPr>
        <p:spPr>
          <a:xfrm>
            <a:off x="6858000" y="109728"/>
            <a:ext cx="2103120" cy="502920"/>
          </a:xfrm>
          <a:prstGeom prst="rect">
            <a:avLst/>
          </a:prstGeom>
          <a:noFill/>
          <a:ln/>
        </p:spPr>
        <p:txBody>
          <a:bodyPr wrap="square" lIns="0" tIns="0" rIns="0" bIns="0" rtlCol="0" anchor="ctr"/>
          <a:lstStyle/>
          <a:p>
            <a:pPr marL="0" indent="0" algn="r">
              <a:buNone/>
            </a:pPr>
            <a:r>
              <a:rPr lang="en-US" sz="1000" i="1" dirty="0">
                <a:solidFill>
                  <a:srgbClr val="7A8FA6"/>
                </a:solidFill>
                <a:latin typeface="Georgia" pitchFamily="34" charset="0"/>
                <a:ea typeface="Georgia" pitchFamily="34" charset="-122"/>
                <a:cs typeface="Georgia" pitchFamily="34" charset="-120"/>
              </a:rPr>
              <a:t>Go, change the world</a:t>
            </a:r>
            <a:endParaRPr lang="en-US" sz="1000" dirty="0"/>
          </a:p>
        </p:txBody>
      </p:sp>
      <p:sp>
        <p:nvSpPr>
          <p:cNvPr id="7" name="Text 4"/>
          <p:cNvSpPr/>
          <p:nvPr/>
        </p:nvSpPr>
        <p:spPr>
          <a:xfrm>
            <a:off x="365760" y="914400"/>
            <a:ext cx="8229600" cy="320040"/>
          </a:xfrm>
          <a:prstGeom prst="rect">
            <a:avLst/>
          </a:prstGeom>
          <a:noFill/>
          <a:ln/>
        </p:spPr>
        <p:txBody>
          <a:bodyPr wrap="square" lIns="0" tIns="0" rIns="0" bIns="0"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No existing ITS is simultaneously capable of:</a:t>
            </a:r>
            <a:endParaRPr lang="en-US" sz="1300" dirty="0"/>
          </a:p>
        </p:txBody>
      </p:sp>
      <p:sp>
        <p:nvSpPr>
          <p:cNvPr id="8" name="Shape 5"/>
          <p:cNvSpPr/>
          <p:nvPr/>
        </p:nvSpPr>
        <p:spPr>
          <a:xfrm>
            <a:off x="274320" y="1371600"/>
            <a:ext cx="4114800" cy="1417320"/>
          </a:xfrm>
          <a:prstGeom prst="rect">
            <a:avLst/>
          </a:prstGeom>
          <a:solidFill>
            <a:srgbClr val="2A3150"/>
          </a:solidFill>
          <a:ln/>
          <a:effectLst>
            <a:outerShdw blurRad="76200" dist="25400" dir="8100000" algn="bl" rotWithShape="0">
              <a:srgbClr val="000000">
                <a:alpha val="20000"/>
              </a:srgbClr>
            </a:outerShdw>
          </a:effectLst>
        </p:spPr>
        <p:txBody>
          <a:bodyPr/>
          <a:lstStyle/>
          <a:p>
            <a:endParaRPr lang="en-IN"/>
          </a:p>
        </p:txBody>
      </p:sp>
      <p:sp>
        <p:nvSpPr>
          <p:cNvPr id="9" name="Shape 6"/>
          <p:cNvSpPr/>
          <p:nvPr/>
        </p:nvSpPr>
        <p:spPr>
          <a:xfrm>
            <a:off x="274320" y="1371600"/>
            <a:ext cx="54864" cy="1417320"/>
          </a:xfrm>
          <a:prstGeom prst="rect">
            <a:avLst/>
          </a:prstGeom>
          <a:solidFill>
            <a:srgbClr val="E63946"/>
          </a:solidFill>
          <a:ln/>
        </p:spPr>
        <p:txBody>
          <a:bodyPr/>
          <a:lstStyle/>
          <a:p>
            <a:endParaRPr lang="en-IN"/>
          </a:p>
        </p:txBody>
      </p:sp>
      <p:sp>
        <p:nvSpPr>
          <p:cNvPr id="10" name="Shape 7"/>
          <p:cNvSpPr/>
          <p:nvPr/>
        </p:nvSpPr>
        <p:spPr>
          <a:xfrm>
            <a:off x="384048" y="1481328"/>
            <a:ext cx="384048" cy="384048"/>
          </a:xfrm>
          <a:prstGeom prst="rect">
            <a:avLst/>
          </a:prstGeom>
          <a:solidFill>
            <a:srgbClr val="E63946"/>
          </a:solidFill>
          <a:ln/>
        </p:spPr>
        <p:txBody>
          <a:bodyPr/>
          <a:lstStyle/>
          <a:p>
            <a:endParaRPr lang="en-IN"/>
          </a:p>
        </p:txBody>
      </p:sp>
      <p:sp>
        <p:nvSpPr>
          <p:cNvPr id="11" name="Text 8"/>
          <p:cNvSpPr/>
          <p:nvPr/>
        </p:nvSpPr>
        <p:spPr>
          <a:xfrm>
            <a:off x="384048" y="1481328"/>
            <a:ext cx="384048" cy="384048"/>
          </a:xfrm>
          <a:prstGeom prst="rect">
            <a:avLst/>
          </a:prstGeom>
          <a:noFill/>
          <a:ln/>
        </p:spPr>
        <p:txBody>
          <a:bodyPr wrap="square" lIns="0" tIns="0" rIns="0" bIns="0" rtlCol="0" anchor="ctr"/>
          <a:lstStyle/>
          <a:p>
            <a:pPr marL="0" indent="0" algn="ctr">
              <a:buNone/>
            </a:pPr>
            <a:r>
              <a:rPr lang="en-US" sz="1300" b="1" dirty="0">
                <a:solidFill>
                  <a:srgbClr val="FFFFFF"/>
                </a:solidFill>
              </a:rPr>
              <a:t>01</a:t>
            </a:r>
            <a:endParaRPr lang="en-US" sz="1300" dirty="0"/>
          </a:p>
        </p:txBody>
      </p:sp>
      <p:sp>
        <p:nvSpPr>
          <p:cNvPr id="12" name="Text 9"/>
          <p:cNvSpPr/>
          <p:nvPr/>
        </p:nvSpPr>
        <p:spPr>
          <a:xfrm>
            <a:off x="868680" y="1481328"/>
            <a:ext cx="3429000" cy="347472"/>
          </a:xfrm>
          <a:prstGeom prst="rect">
            <a:avLst/>
          </a:prstGeom>
          <a:noFill/>
          <a:ln/>
        </p:spPr>
        <p:txBody>
          <a:bodyPr wrap="square" lIns="0" tIns="0" rIns="0" bIns="0"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No Real-Time V2X Decision Engine</a:t>
            </a:r>
            <a:endParaRPr lang="en-US" sz="1100" dirty="0"/>
          </a:p>
        </p:txBody>
      </p:sp>
      <p:sp>
        <p:nvSpPr>
          <p:cNvPr id="13" name="Text 10"/>
          <p:cNvSpPr/>
          <p:nvPr/>
        </p:nvSpPr>
        <p:spPr>
          <a:xfrm>
            <a:off x="868680" y="1847088"/>
            <a:ext cx="3429000" cy="841248"/>
          </a:xfrm>
          <a:prstGeom prst="rect">
            <a:avLst/>
          </a:prstGeom>
          <a:noFill/>
          <a:ln/>
        </p:spPr>
        <p:txBody>
          <a:bodyPr wrap="square" lIns="0" tIns="0" rIns="0" bIns="0" rtlCol="0" anchor="ctr"/>
          <a:lstStyle/>
          <a:p>
            <a:pPr marL="0" indent="0">
              <a:buNone/>
            </a:pPr>
            <a:r>
              <a:rPr lang="en-US" sz="950" dirty="0">
                <a:solidFill>
                  <a:srgbClr val="C8D6E5"/>
                </a:solidFill>
                <a:latin typeface="Calibri" pitchFamily="34" charset="0"/>
                <a:ea typeface="Calibri" pitchFamily="34" charset="-122"/>
                <a:cs typeface="Calibri" pitchFamily="34" charset="-120"/>
              </a:rPr>
              <a:t>No open-source system uses V2V/V2I agent communication to proactively prevent bunching before the dwell-time feedback loop begins.</a:t>
            </a:r>
            <a:endParaRPr lang="en-US" sz="950" dirty="0"/>
          </a:p>
        </p:txBody>
      </p:sp>
      <p:sp>
        <p:nvSpPr>
          <p:cNvPr id="14" name="Shape 11"/>
          <p:cNvSpPr/>
          <p:nvPr/>
        </p:nvSpPr>
        <p:spPr>
          <a:xfrm>
            <a:off x="4663440" y="1371600"/>
            <a:ext cx="4114800" cy="1417320"/>
          </a:xfrm>
          <a:prstGeom prst="rect">
            <a:avLst/>
          </a:prstGeom>
          <a:solidFill>
            <a:srgbClr val="2A3150"/>
          </a:solidFill>
          <a:ln/>
          <a:effectLst>
            <a:outerShdw blurRad="76200" dist="25400" dir="8100000" algn="bl" rotWithShape="0">
              <a:srgbClr val="000000">
                <a:alpha val="20000"/>
              </a:srgbClr>
            </a:outerShdw>
          </a:effectLst>
        </p:spPr>
        <p:txBody>
          <a:bodyPr/>
          <a:lstStyle/>
          <a:p>
            <a:endParaRPr lang="en-IN"/>
          </a:p>
        </p:txBody>
      </p:sp>
      <p:sp>
        <p:nvSpPr>
          <p:cNvPr id="15" name="Shape 12"/>
          <p:cNvSpPr/>
          <p:nvPr/>
        </p:nvSpPr>
        <p:spPr>
          <a:xfrm>
            <a:off x="4663440" y="1371600"/>
            <a:ext cx="54864" cy="1417320"/>
          </a:xfrm>
          <a:prstGeom prst="rect">
            <a:avLst/>
          </a:prstGeom>
          <a:solidFill>
            <a:srgbClr val="457B9D"/>
          </a:solidFill>
          <a:ln/>
        </p:spPr>
        <p:txBody>
          <a:bodyPr/>
          <a:lstStyle/>
          <a:p>
            <a:endParaRPr lang="en-IN"/>
          </a:p>
        </p:txBody>
      </p:sp>
      <p:sp>
        <p:nvSpPr>
          <p:cNvPr id="16" name="Shape 13"/>
          <p:cNvSpPr/>
          <p:nvPr/>
        </p:nvSpPr>
        <p:spPr>
          <a:xfrm>
            <a:off x="4773168" y="1481328"/>
            <a:ext cx="384048" cy="384048"/>
          </a:xfrm>
          <a:prstGeom prst="rect">
            <a:avLst/>
          </a:prstGeom>
          <a:solidFill>
            <a:srgbClr val="457B9D"/>
          </a:solidFill>
          <a:ln/>
        </p:spPr>
        <p:txBody>
          <a:bodyPr/>
          <a:lstStyle/>
          <a:p>
            <a:endParaRPr lang="en-IN"/>
          </a:p>
        </p:txBody>
      </p:sp>
      <p:sp>
        <p:nvSpPr>
          <p:cNvPr id="17" name="Text 14"/>
          <p:cNvSpPr/>
          <p:nvPr/>
        </p:nvSpPr>
        <p:spPr>
          <a:xfrm>
            <a:off x="4773168" y="1481328"/>
            <a:ext cx="384048" cy="384048"/>
          </a:xfrm>
          <a:prstGeom prst="rect">
            <a:avLst/>
          </a:prstGeom>
          <a:noFill/>
          <a:ln/>
        </p:spPr>
        <p:txBody>
          <a:bodyPr wrap="square" lIns="0" tIns="0" rIns="0" bIns="0" rtlCol="0" anchor="ctr"/>
          <a:lstStyle/>
          <a:p>
            <a:pPr marL="0" indent="0" algn="ctr">
              <a:buNone/>
            </a:pPr>
            <a:r>
              <a:rPr lang="en-US" sz="1300" b="1" dirty="0">
                <a:solidFill>
                  <a:srgbClr val="FFFFFF"/>
                </a:solidFill>
              </a:rPr>
              <a:t>02</a:t>
            </a:r>
            <a:endParaRPr lang="en-US" sz="1300" dirty="0"/>
          </a:p>
        </p:txBody>
      </p:sp>
      <p:sp>
        <p:nvSpPr>
          <p:cNvPr id="18" name="Text 15"/>
          <p:cNvSpPr/>
          <p:nvPr/>
        </p:nvSpPr>
        <p:spPr>
          <a:xfrm>
            <a:off x="5257800" y="1481328"/>
            <a:ext cx="3429000" cy="347472"/>
          </a:xfrm>
          <a:prstGeom prst="rect">
            <a:avLst/>
          </a:prstGeom>
          <a:noFill/>
          <a:ln/>
        </p:spPr>
        <p:txBody>
          <a:bodyPr wrap="square" lIns="0" tIns="0" rIns="0" bIns="0"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No LLM-Powered Dispatch Reasoning</a:t>
            </a:r>
            <a:endParaRPr lang="en-US" sz="1100" dirty="0"/>
          </a:p>
        </p:txBody>
      </p:sp>
      <p:sp>
        <p:nvSpPr>
          <p:cNvPr id="19" name="Text 16"/>
          <p:cNvSpPr/>
          <p:nvPr/>
        </p:nvSpPr>
        <p:spPr>
          <a:xfrm>
            <a:off x="5257800" y="1847088"/>
            <a:ext cx="3429000" cy="841248"/>
          </a:xfrm>
          <a:prstGeom prst="rect">
            <a:avLst/>
          </a:prstGeom>
          <a:noFill/>
          <a:ln/>
        </p:spPr>
        <p:txBody>
          <a:bodyPr wrap="square" lIns="0" tIns="0" rIns="0" bIns="0" rtlCol="0" anchor="ctr"/>
          <a:lstStyle/>
          <a:p>
            <a:pPr marL="0" indent="0">
              <a:buNone/>
            </a:pPr>
            <a:r>
              <a:rPr lang="en-US" sz="950" dirty="0">
                <a:solidFill>
                  <a:srgbClr val="C8D6E5"/>
                </a:solidFill>
                <a:latin typeface="Calibri" pitchFamily="34" charset="0"/>
                <a:ea typeface="Calibri" pitchFamily="34" charset="-122"/>
                <a:cs typeface="Calibri" pitchFamily="34" charset="-120"/>
              </a:rPr>
              <a:t>No ITS converts dispatch decisions into a ₹-denominated utility function comparing micro passenger costs vs. macro fleet costs.</a:t>
            </a:r>
            <a:endParaRPr lang="en-US" sz="950" dirty="0"/>
          </a:p>
        </p:txBody>
      </p:sp>
      <p:sp>
        <p:nvSpPr>
          <p:cNvPr id="20" name="Shape 17"/>
          <p:cNvSpPr/>
          <p:nvPr/>
        </p:nvSpPr>
        <p:spPr>
          <a:xfrm>
            <a:off x="274320" y="2880360"/>
            <a:ext cx="4114800" cy="1417320"/>
          </a:xfrm>
          <a:prstGeom prst="rect">
            <a:avLst/>
          </a:prstGeom>
          <a:solidFill>
            <a:srgbClr val="2A3150"/>
          </a:solidFill>
          <a:ln/>
          <a:effectLst>
            <a:outerShdw blurRad="76200" dist="25400" dir="8100000" algn="bl" rotWithShape="0">
              <a:srgbClr val="000000">
                <a:alpha val="20000"/>
              </a:srgbClr>
            </a:outerShdw>
          </a:effectLst>
        </p:spPr>
        <p:txBody>
          <a:bodyPr/>
          <a:lstStyle/>
          <a:p>
            <a:endParaRPr lang="en-IN"/>
          </a:p>
        </p:txBody>
      </p:sp>
      <p:sp>
        <p:nvSpPr>
          <p:cNvPr id="21" name="Shape 18"/>
          <p:cNvSpPr/>
          <p:nvPr/>
        </p:nvSpPr>
        <p:spPr>
          <a:xfrm>
            <a:off x="274320" y="2880360"/>
            <a:ext cx="54864" cy="1417320"/>
          </a:xfrm>
          <a:prstGeom prst="rect">
            <a:avLst/>
          </a:prstGeom>
          <a:solidFill>
            <a:srgbClr val="2DC653"/>
          </a:solidFill>
          <a:ln/>
        </p:spPr>
        <p:txBody>
          <a:bodyPr/>
          <a:lstStyle/>
          <a:p>
            <a:endParaRPr lang="en-IN"/>
          </a:p>
        </p:txBody>
      </p:sp>
      <p:sp>
        <p:nvSpPr>
          <p:cNvPr id="22" name="Shape 19"/>
          <p:cNvSpPr/>
          <p:nvPr/>
        </p:nvSpPr>
        <p:spPr>
          <a:xfrm>
            <a:off x="384048" y="2990088"/>
            <a:ext cx="384048" cy="384048"/>
          </a:xfrm>
          <a:prstGeom prst="rect">
            <a:avLst/>
          </a:prstGeom>
          <a:solidFill>
            <a:srgbClr val="2DC653"/>
          </a:solidFill>
          <a:ln/>
        </p:spPr>
        <p:txBody>
          <a:bodyPr/>
          <a:lstStyle/>
          <a:p>
            <a:endParaRPr lang="en-IN"/>
          </a:p>
        </p:txBody>
      </p:sp>
      <p:sp>
        <p:nvSpPr>
          <p:cNvPr id="23" name="Text 20"/>
          <p:cNvSpPr/>
          <p:nvPr/>
        </p:nvSpPr>
        <p:spPr>
          <a:xfrm>
            <a:off x="384048" y="2990088"/>
            <a:ext cx="384048" cy="384048"/>
          </a:xfrm>
          <a:prstGeom prst="rect">
            <a:avLst/>
          </a:prstGeom>
          <a:noFill/>
          <a:ln/>
        </p:spPr>
        <p:txBody>
          <a:bodyPr wrap="square" lIns="0" tIns="0" rIns="0" bIns="0" rtlCol="0" anchor="ctr"/>
          <a:lstStyle/>
          <a:p>
            <a:pPr marL="0" indent="0" algn="ctr">
              <a:buNone/>
            </a:pPr>
            <a:r>
              <a:rPr lang="en-US" sz="1300" b="1" dirty="0">
                <a:solidFill>
                  <a:srgbClr val="FFFFFF"/>
                </a:solidFill>
              </a:rPr>
              <a:t>03</a:t>
            </a:r>
            <a:endParaRPr lang="en-US" sz="1300" dirty="0"/>
          </a:p>
        </p:txBody>
      </p:sp>
      <p:sp>
        <p:nvSpPr>
          <p:cNvPr id="24" name="Text 21"/>
          <p:cNvSpPr/>
          <p:nvPr/>
        </p:nvSpPr>
        <p:spPr>
          <a:xfrm>
            <a:off x="868680" y="2990088"/>
            <a:ext cx="3429000" cy="347472"/>
          </a:xfrm>
          <a:prstGeom prst="rect">
            <a:avLst/>
          </a:prstGeom>
          <a:noFill/>
          <a:ln/>
        </p:spPr>
        <p:txBody>
          <a:bodyPr wrap="square" lIns="0" tIns="0" rIns="0" bIns="0"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No CPU-Friendly Real-Road Simulation</a:t>
            </a:r>
            <a:endParaRPr lang="en-US" sz="1100" dirty="0"/>
          </a:p>
        </p:txBody>
      </p:sp>
      <p:sp>
        <p:nvSpPr>
          <p:cNvPr id="25" name="Text 22"/>
          <p:cNvSpPr/>
          <p:nvPr/>
        </p:nvSpPr>
        <p:spPr>
          <a:xfrm>
            <a:off x="868680" y="3355848"/>
            <a:ext cx="3429000" cy="841248"/>
          </a:xfrm>
          <a:prstGeom prst="rect">
            <a:avLst/>
          </a:prstGeom>
          <a:noFill/>
          <a:ln/>
        </p:spPr>
        <p:txBody>
          <a:bodyPr wrap="square" lIns="0" tIns="0" rIns="0" bIns="0" rtlCol="0" anchor="ctr"/>
          <a:lstStyle/>
          <a:p>
            <a:pPr marL="0" indent="0">
              <a:buNone/>
            </a:pPr>
            <a:r>
              <a:rPr lang="en-US" sz="950" dirty="0">
                <a:solidFill>
                  <a:srgbClr val="C8D6E5"/>
                </a:solidFill>
                <a:latin typeface="Calibri" pitchFamily="34" charset="0"/>
                <a:ea typeface="Calibri" pitchFamily="34" charset="-122"/>
                <a:cs typeface="Calibri" pitchFamily="34" charset="-120"/>
              </a:rPr>
              <a:t>Existing research requires GPU clusters and proprietary city APIs; no open-source simulator runs on a laptop with real OSRM road geometry and free Groq inference.</a:t>
            </a:r>
            <a:endParaRPr lang="en-US" sz="950" dirty="0"/>
          </a:p>
        </p:txBody>
      </p:sp>
      <p:sp>
        <p:nvSpPr>
          <p:cNvPr id="26" name="Shape 23"/>
          <p:cNvSpPr/>
          <p:nvPr/>
        </p:nvSpPr>
        <p:spPr>
          <a:xfrm>
            <a:off x="4663440" y="2880360"/>
            <a:ext cx="4114800" cy="1417320"/>
          </a:xfrm>
          <a:prstGeom prst="rect">
            <a:avLst/>
          </a:prstGeom>
          <a:solidFill>
            <a:srgbClr val="2A3150"/>
          </a:solidFill>
          <a:ln/>
          <a:effectLst>
            <a:outerShdw blurRad="76200" dist="25400" dir="8100000" algn="bl" rotWithShape="0">
              <a:srgbClr val="000000">
                <a:alpha val="20000"/>
              </a:srgbClr>
            </a:outerShdw>
          </a:effectLst>
        </p:spPr>
        <p:txBody>
          <a:bodyPr/>
          <a:lstStyle/>
          <a:p>
            <a:endParaRPr lang="en-IN"/>
          </a:p>
        </p:txBody>
      </p:sp>
      <p:sp>
        <p:nvSpPr>
          <p:cNvPr id="27" name="Shape 24"/>
          <p:cNvSpPr/>
          <p:nvPr/>
        </p:nvSpPr>
        <p:spPr>
          <a:xfrm>
            <a:off x="4663440" y="2880360"/>
            <a:ext cx="54864" cy="1417320"/>
          </a:xfrm>
          <a:prstGeom prst="rect">
            <a:avLst/>
          </a:prstGeom>
          <a:solidFill>
            <a:srgbClr val="F4A261"/>
          </a:solidFill>
          <a:ln/>
        </p:spPr>
        <p:txBody>
          <a:bodyPr/>
          <a:lstStyle/>
          <a:p>
            <a:endParaRPr lang="en-IN"/>
          </a:p>
        </p:txBody>
      </p:sp>
      <p:sp>
        <p:nvSpPr>
          <p:cNvPr id="28" name="Shape 25"/>
          <p:cNvSpPr/>
          <p:nvPr/>
        </p:nvSpPr>
        <p:spPr>
          <a:xfrm>
            <a:off x="4773168" y="2990088"/>
            <a:ext cx="384048" cy="384048"/>
          </a:xfrm>
          <a:prstGeom prst="rect">
            <a:avLst/>
          </a:prstGeom>
          <a:solidFill>
            <a:srgbClr val="F4A261"/>
          </a:solidFill>
          <a:ln/>
        </p:spPr>
        <p:txBody>
          <a:bodyPr/>
          <a:lstStyle/>
          <a:p>
            <a:endParaRPr lang="en-IN"/>
          </a:p>
        </p:txBody>
      </p:sp>
      <p:sp>
        <p:nvSpPr>
          <p:cNvPr id="29" name="Text 26"/>
          <p:cNvSpPr/>
          <p:nvPr/>
        </p:nvSpPr>
        <p:spPr>
          <a:xfrm>
            <a:off x="4773168" y="2990088"/>
            <a:ext cx="384048" cy="384048"/>
          </a:xfrm>
          <a:prstGeom prst="rect">
            <a:avLst/>
          </a:prstGeom>
          <a:noFill/>
          <a:ln/>
        </p:spPr>
        <p:txBody>
          <a:bodyPr wrap="square" lIns="0" tIns="0" rIns="0" bIns="0" rtlCol="0" anchor="ctr"/>
          <a:lstStyle/>
          <a:p>
            <a:pPr marL="0" indent="0" algn="ctr">
              <a:buNone/>
            </a:pPr>
            <a:r>
              <a:rPr lang="en-US" sz="1300" b="1" dirty="0">
                <a:solidFill>
                  <a:srgbClr val="FFFFFF"/>
                </a:solidFill>
              </a:rPr>
              <a:t>04</a:t>
            </a:r>
            <a:endParaRPr lang="en-US" sz="1300" dirty="0"/>
          </a:p>
        </p:txBody>
      </p:sp>
      <p:sp>
        <p:nvSpPr>
          <p:cNvPr id="30" name="Text 27"/>
          <p:cNvSpPr/>
          <p:nvPr/>
        </p:nvSpPr>
        <p:spPr>
          <a:xfrm>
            <a:off x="5257800" y="2990088"/>
            <a:ext cx="3429000" cy="347472"/>
          </a:xfrm>
          <a:prstGeom prst="rect">
            <a:avLst/>
          </a:prstGeom>
          <a:noFill/>
          <a:ln/>
        </p:spPr>
        <p:txBody>
          <a:bodyPr wrap="square" lIns="0" tIns="0" rIns="0" bIns="0"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No Bengaluru-Specific V2X Prototype</a:t>
            </a:r>
            <a:endParaRPr lang="en-US" sz="1100" dirty="0"/>
          </a:p>
        </p:txBody>
      </p:sp>
      <p:sp>
        <p:nvSpPr>
          <p:cNvPr id="31" name="Text 28"/>
          <p:cNvSpPr/>
          <p:nvPr/>
        </p:nvSpPr>
        <p:spPr>
          <a:xfrm>
            <a:off x="5257800" y="3355848"/>
            <a:ext cx="3429000" cy="841248"/>
          </a:xfrm>
          <a:prstGeom prst="rect">
            <a:avLst/>
          </a:prstGeom>
          <a:noFill/>
          <a:ln/>
        </p:spPr>
        <p:txBody>
          <a:bodyPr wrap="square" lIns="0" tIns="0" rIns="0" bIns="0" rtlCol="0" anchor="ctr"/>
          <a:lstStyle/>
          <a:p>
            <a:pPr marL="0" indent="0">
              <a:buNone/>
            </a:pPr>
            <a:r>
              <a:rPr lang="en-US" sz="950" dirty="0">
                <a:solidFill>
                  <a:srgbClr val="C8D6E5"/>
                </a:solidFill>
                <a:latin typeface="Calibri" pitchFamily="34" charset="0"/>
                <a:ea typeface="Calibri" pitchFamily="34" charset="-122"/>
                <a:cs typeface="Calibri" pitchFamily="34" charset="-120"/>
              </a:rPr>
              <a:t>Research implementations require GPU clusters and proprietary city APIs unavailable to academic teams and public transit authorities.</a:t>
            </a:r>
            <a:endParaRPr lang="en-US" sz="950" dirty="0"/>
          </a:p>
        </p:txBody>
      </p:sp>
      <p:sp>
        <p:nvSpPr>
          <p:cNvPr id="32" name="Shape 29"/>
          <p:cNvSpPr/>
          <p:nvPr/>
        </p:nvSpPr>
        <p:spPr>
          <a:xfrm>
            <a:off x="274320" y="4462272"/>
            <a:ext cx="8595360" cy="566928"/>
          </a:xfrm>
          <a:prstGeom prst="rect">
            <a:avLst/>
          </a:prstGeom>
          <a:solidFill>
            <a:srgbClr val="1E2640"/>
          </a:solidFill>
          <a:ln/>
        </p:spPr>
        <p:txBody>
          <a:bodyPr/>
          <a:lstStyle/>
          <a:p>
            <a:endParaRPr lang="en-IN"/>
          </a:p>
        </p:txBody>
      </p:sp>
      <p:sp>
        <p:nvSpPr>
          <p:cNvPr id="33" name="Shape 30"/>
          <p:cNvSpPr/>
          <p:nvPr/>
        </p:nvSpPr>
        <p:spPr>
          <a:xfrm>
            <a:off x="274320" y="4462272"/>
            <a:ext cx="54864" cy="566928"/>
          </a:xfrm>
          <a:prstGeom prst="rect">
            <a:avLst/>
          </a:prstGeom>
          <a:solidFill>
            <a:srgbClr val="E63946"/>
          </a:solidFill>
          <a:ln/>
        </p:spPr>
        <p:txBody>
          <a:bodyPr/>
          <a:lstStyle/>
          <a:p>
            <a:endParaRPr lang="en-IN"/>
          </a:p>
        </p:txBody>
      </p:sp>
      <p:sp>
        <p:nvSpPr>
          <p:cNvPr id="34" name="Text 31"/>
          <p:cNvSpPr/>
          <p:nvPr/>
        </p:nvSpPr>
        <p:spPr>
          <a:xfrm>
            <a:off x="420624" y="4480560"/>
            <a:ext cx="8321040" cy="530352"/>
          </a:xfrm>
          <a:prstGeom prst="rect">
            <a:avLst/>
          </a:prstGeom>
          <a:noFill/>
          <a:ln/>
        </p:spPr>
        <p:txBody>
          <a:bodyPr wrap="square" lIns="0" tIns="0" rIns="0" bIns="0" rtlCol="0" anchor="ctr"/>
          <a:lstStyle/>
          <a:p>
            <a:pPr marL="0" indent="0">
              <a:buNone/>
            </a:pPr>
            <a:r>
              <a:rPr lang="en-US" sz="950" i="1" dirty="0">
                <a:solidFill>
                  <a:srgbClr val="C8D6E5"/>
                </a:solidFill>
                <a:latin typeface="Calibri" pitchFamily="34" charset="0"/>
                <a:ea typeface="Calibri" pitchFamily="34" charset="-122"/>
                <a:cs typeface="Calibri" pitchFamily="34" charset="-120"/>
              </a:rPr>
              <a:t>Therefore: Design and simulate a Multi-Agent Agentic AI system where each bus autonomously calculates the ₹-economic cost of Hold / Skip / Proceed decisions to prevent bunching while maximizing net economic welfare — using only free, open-source, CPU-friendly tools.</a:t>
            </a:r>
            <a:endParaRPr lang="en-US" sz="950" dirty="0"/>
          </a:p>
        </p:txBody>
      </p:sp>
      <p:pic>
        <p:nvPicPr>
          <p:cNvPr id="35" name="Picture 34">
            <a:extLst>
              <a:ext uri="{FF2B5EF4-FFF2-40B4-BE49-F238E27FC236}">
                <a16:creationId xmlns:a16="http://schemas.microsoft.com/office/drawing/2014/main" id="{617504EF-9447-D57E-ACE3-F47BB3E8ECAD}"/>
              </a:ext>
            </a:extLst>
          </p:cNvPr>
          <p:cNvPicPr>
            <a:picLocks noChangeAspect="1"/>
          </p:cNvPicPr>
          <p:nvPr/>
        </p:nvPicPr>
        <p:blipFill>
          <a:blip r:embed="rId3"/>
          <a:stretch>
            <a:fillRect/>
          </a:stretch>
        </p:blipFill>
        <p:spPr>
          <a:xfrm>
            <a:off x="91440" y="128016"/>
            <a:ext cx="1700784" cy="728907"/>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1A1F2E"/>
        </a:solidFill>
        <a:effectLst/>
      </p:bgPr>
    </p:bg>
    <p:spTree>
      <p:nvGrpSpPr>
        <p:cNvPr id="1" name=""/>
        <p:cNvGrpSpPr/>
        <p:nvPr/>
      </p:nvGrpSpPr>
      <p:grpSpPr>
        <a:xfrm>
          <a:off x="0" y="0"/>
          <a:ext cx="0" cy="0"/>
          <a:chOff x="0" y="0"/>
          <a:chExt cx="0" cy="0"/>
        </a:xfrm>
      </p:grpSpPr>
      <p:sp>
        <p:nvSpPr>
          <p:cNvPr id="2" name="Shape 0"/>
          <p:cNvSpPr/>
          <p:nvPr/>
        </p:nvSpPr>
        <p:spPr>
          <a:xfrm>
            <a:off x="0" y="0"/>
            <a:ext cx="9144000" cy="64008"/>
          </a:xfrm>
          <a:prstGeom prst="rect">
            <a:avLst/>
          </a:prstGeom>
          <a:solidFill>
            <a:srgbClr val="E63946"/>
          </a:solidFill>
          <a:ln/>
        </p:spPr>
        <p:txBody>
          <a:bodyPr/>
          <a:lstStyle/>
          <a:p>
            <a:endParaRPr lang="en-IN"/>
          </a:p>
        </p:txBody>
      </p:sp>
      <p:sp>
        <p:nvSpPr>
          <p:cNvPr id="3" name="Shape 1"/>
          <p:cNvSpPr/>
          <p:nvPr/>
        </p:nvSpPr>
        <p:spPr>
          <a:xfrm>
            <a:off x="0" y="64008"/>
            <a:ext cx="9144000" cy="658368"/>
          </a:xfrm>
          <a:prstGeom prst="rect">
            <a:avLst/>
          </a:prstGeom>
          <a:solidFill>
            <a:srgbClr val="2A3150"/>
          </a:solidFill>
          <a:ln/>
        </p:spPr>
        <p:txBody>
          <a:bodyPr/>
          <a:lstStyle/>
          <a:p>
            <a:endParaRPr lang="en-IN"/>
          </a:p>
        </p:txBody>
      </p:sp>
      <p:sp>
        <p:nvSpPr>
          <p:cNvPr id="5" name="Text 2"/>
          <p:cNvSpPr/>
          <p:nvPr/>
        </p:nvSpPr>
        <p:spPr>
          <a:xfrm>
            <a:off x="2011680" y="91440"/>
            <a:ext cx="5029200" cy="548640"/>
          </a:xfrm>
          <a:prstGeom prst="rect">
            <a:avLst/>
          </a:prstGeom>
          <a:noFill/>
          <a:ln/>
        </p:spPr>
        <p:txBody>
          <a:bodyPr wrap="square" lIns="0" tIns="0" rIns="0" bIns="0" rtlCol="0" anchor="ctr"/>
          <a:lstStyle/>
          <a:p>
            <a:pPr marL="0" indent="0">
              <a:buNone/>
            </a:pPr>
            <a:r>
              <a:rPr lang="en-US" sz="2000" b="1" dirty="0">
                <a:solidFill>
                  <a:srgbClr val="FFFFFF"/>
                </a:solidFill>
                <a:latin typeface="Calibri" pitchFamily="34" charset="0"/>
                <a:ea typeface="Calibri" pitchFamily="34" charset="-122"/>
                <a:cs typeface="Calibri" pitchFamily="34" charset="-120"/>
              </a:rPr>
              <a:t>Objectives</a:t>
            </a:r>
            <a:endParaRPr lang="en-US" sz="2000" dirty="0"/>
          </a:p>
        </p:txBody>
      </p:sp>
      <p:sp>
        <p:nvSpPr>
          <p:cNvPr id="6" name="Text 3"/>
          <p:cNvSpPr/>
          <p:nvPr/>
        </p:nvSpPr>
        <p:spPr>
          <a:xfrm>
            <a:off x="6858000" y="109728"/>
            <a:ext cx="2103120" cy="502920"/>
          </a:xfrm>
          <a:prstGeom prst="rect">
            <a:avLst/>
          </a:prstGeom>
          <a:noFill/>
          <a:ln/>
        </p:spPr>
        <p:txBody>
          <a:bodyPr wrap="square" lIns="0" tIns="0" rIns="0" bIns="0" rtlCol="0" anchor="ctr"/>
          <a:lstStyle/>
          <a:p>
            <a:pPr marL="0" indent="0" algn="r">
              <a:buNone/>
            </a:pPr>
            <a:r>
              <a:rPr lang="en-US" sz="1000" i="1" dirty="0">
                <a:solidFill>
                  <a:srgbClr val="7A8FA6"/>
                </a:solidFill>
                <a:latin typeface="Georgia" pitchFamily="34" charset="0"/>
                <a:ea typeface="Georgia" pitchFamily="34" charset="-122"/>
                <a:cs typeface="Georgia" pitchFamily="34" charset="-120"/>
              </a:rPr>
              <a:t>Go, change the world</a:t>
            </a:r>
            <a:endParaRPr lang="en-US" sz="1000" dirty="0"/>
          </a:p>
        </p:txBody>
      </p:sp>
      <p:sp>
        <p:nvSpPr>
          <p:cNvPr id="7" name="Text 4"/>
          <p:cNvSpPr/>
          <p:nvPr/>
        </p:nvSpPr>
        <p:spPr>
          <a:xfrm>
            <a:off x="365760" y="841248"/>
            <a:ext cx="3657600" cy="274320"/>
          </a:xfrm>
          <a:prstGeom prst="rect">
            <a:avLst/>
          </a:prstGeom>
          <a:noFill/>
          <a:ln/>
        </p:spPr>
        <p:txBody>
          <a:bodyPr wrap="square" lIns="0" tIns="0" rIns="0" bIns="0"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SMART Objectives</a:t>
            </a:r>
            <a:endParaRPr lang="en-US" sz="1300" dirty="0"/>
          </a:p>
        </p:txBody>
      </p:sp>
      <p:sp>
        <p:nvSpPr>
          <p:cNvPr id="8" name="Shape 5"/>
          <p:cNvSpPr/>
          <p:nvPr/>
        </p:nvSpPr>
        <p:spPr>
          <a:xfrm>
            <a:off x="274320" y="1188720"/>
            <a:ext cx="8595360" cy="594360"/>
          </a:xfrm>
          <a:prstGeom prst="rect">
            <a:avLst/>
          </a:prstGeom>
          <a:solidFill>
            <a:srgbClr val="2A3150"/>
          </a:solidFill>
          <a:ln/>
          <a:effectLst>
            <a:outerShdw blurRad="63500" dist="12700" dir="8100000" algn="bl" rotWithShape="0">
              <a:srgbClr val="000000">
                <a:alpha val="18000"/>
              </a:srgbClr>
            </a:outerShdw>
          </a:effectLst>
        </p:spPr>
        <p:txBody>
          <a:bodyPr/>
          <a:lstStyle/>
          <a:p>
            <a:endParaRPr lang="en-IN"/>
          </a:p>
        </p:txBody>
      </p:sp>
      <p:sp>
        <p:nvSpPr>
          <p:cNvPr id="9" name="Shape 6"/>
          <p:cNvSpPr/>
          <p:nvPr/>
        </p:nvSpPr>
        <p:spPr>
          <a:xfrm>
            <a:off x="274320" y="1188720"/>
            <a:ext cx="1234440" cy="594360"/>
          </a:xfrm>
          <a:prstGeom prst="rect">
            <a:avLst/>
          </a:prstGeom>
          <a:solidFill>
            <a:srgbClr val="E63946"/>
          </a:solidFill>
          <a:ln/>
        </p:spPr>
        <p:txBody>
          <a:bodyPr/>
          <a:lstStyle/>
          <a:p>
            <a:endParaRPr lang="en-IN"/>
          </a:p>
        </p:txBody>
      </p:sp>
      <p:sp>
        <p:nvSpPr>
          <p:cNvPr id="10" name="Text 7"/>
          <p:cNvSpPr/>
          <p:nvPr/>
        </p:nvSpPr>
        <p:spPr>
          <a:xfrm>
            <a:off x="274320" y="1188720"/>
            <a:ext cx="1234440" cy="594360"/>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Black" pitchFamily="34" charset="0"/>
                <a:ea typeface="Calibri Black" pitchFamily="34" charset="-122"/>
                <a:cs typeface="Calibri Black" pitchFamily="34" charset="-120"/>
              </a:rPr>
              <a:t>Specific</a:t>
            </a:r>
            <a:endParaRPr lang="en-US" sz="1200" dirty="0"/>
          </a:p>
        </p:txBody>
      </p:sp>
      <p:sp>
        <p:nvSpPr>
          <p:cNvPr id="11" name="Text 8"/>
          <p:cNvSpPr/>
          <p:nvPr/>
        </p:nvSpPr>
        <p:spPr>
          <a:xfrm>
            <a:off x="1600200" y="1225296"/>
            <a:ext cx="7178040" cy="521208"/>
          </a:xfrm>
          <a:prstGeom prst="rect">
            <a:avLst/>
          </a:prstGeom>
          <a:noFill/>
          <a:ln/>
        </p:spPr>
        <p:txBody>
          <a:bodyPr wrap="square" lIns="0" tIns="0" rIns="0" bIns="0" rtlCol="0" anchor="ctr"/>
          <a:lstStyle/>
          <a:p>
            <a:pPr marL="0" indent="0">
              <a:buNone/>
            </a:pPr>
            <a:r>
              <a:rPr lang="en-US" sz="950" dirty="0">
                <a:solidFill>
                  <a:srgbClr val="C8D6E5"/>
                </a:solidFill>
                <a:latin typeface="Calibri" pitchFamily="34" charset="0"/>
                <a:ea typeface="Calibri" pitchFamily="34" charset="-122"/>
                <a:cs typeface="Calibri" pitchFamily="34" charset="-120"/>
              </a:rPr>
              <a:t>Build a 3-agent V2X network (Bus 1, Bus 2, TMC) on real BMTC Route 378 road geometry, where the TMC broadcasts V2I traffic events and Bus Agents debate via V2V LLM dialogue (Groq Llama-3.3 70B) to issue HOLD / SKIP / PROCEED commands.</a:t>
            </a:r>
            <a:endParaRPr lang="en-US" sz="950" dirty="0"/>
          </a:p>
        </p:txBody>
      </p:sp>
      <p:sp>
        <p:nvSpPr>
          <p:cNvPr id="12" name="Shape 9"/>
          <p:cNvSpPr/>
          <p:nvPr/>
        </p:nvSpPr>
        <p:spPr>
          <a:xfrm>
            <a:off x="274320" y="1847088"/>
            <a:ext cx="8595360" cy="594360"/>
          </a:xfrm>
          <a:prstGeom prst="rect">
            <a:avLst/>
          </a:prstGeom>
          <a:solidFill>
            <a:srgbClr val="2A3150"/>
          </a:solidFill>
          <a:ln/>
          <a:effectLst>
            <a:outerShdw blurRad="63500" dist="12700" dir="8100000" algn="bl" rotWithShape="0">
              <a:srgbClr val="000000">
                <a:alpha val="18000"/>
              </a:srgbClr>
            </a:outerShdw>
          </a:effectLst>
        </p:spPr>
        <p:txBody>
          <a:bodyPr/>
          <a:lstStyle/>
          <a:p>
            <a:endParaRPr lang="en-IN"/>
          </a:p>
        </p:txBody>
      </p:sp>
      <p:sp>
        <p:nvSpPr>
          <p:cNvPr id="13" name="Shape 10"/>
          <p:cNvSpPr/>
          <p:nvPr/>
        </p:nvSpPr>
        <p:spPr>
          <a:xfrm>
            <a:off x="274320" y="1847088"/>
            <a:ext cx="1234440" cy="594360"/>
          </a:xfrm>
          <a:prstGeom prst="rect">
            <a:avLst/>
          </a:prstGeom>
          <a:solidFill>
            <a:srgbClr val="457B9D"/>
          </a:solidFill>
          <a:ln/>
        </p:spPr>
        <p:txBody>
          <a:bodyPr/>
          <a:lstStyle/>
          <a:p>
            <a:endParaRPr lang="en-IN"/>
          </a:p>
        </p:txBody>
      </p:sp>
      <p:sp>
        <p:nvSpPr>
          <p:cNvPr id="14" name="Text 11"/>
          <p:cNvSpPr/>
          <p:nvPr/>
        </p:nvSpPr>
        <p:spPr>
          <a:xfrm>
            <a:off x="274320" y="1847088"/>
            <a:ext cx="1234440" cy="594360"/>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Black" pitchFamily="34" charset="0"/>
                <a:ea typeface="Calibri Black" pitchFamily="34" charset="-122"/>
                <a:cs typeface="Calibri Black" pitchFamily="34" charset="-120"/>
              </a:rPr>
              <a:t>Measurable</a:t>
            </a:r>
            <a:endParaRPr lang="en-US" sz="1200" dirty="0"/>
          </a:p>
        </p:txBody>
      </p:sp>
      <p:sp>
        <p:nvSpPr>
          <p:cNvPr id="15" name="Text 12"/>
          <p:cNvSpPr/>
          <p:nvPr/>
        </p:nvSpPr>
        <p:spPr>
          <a:xfrm>
            <a:off x="1600200" y="1883664"/>
            <a:ext cx="7178040" cy="521208"/>
          </a:xfrm>
          <a:prstGeom prst="rect">
            <a:avLst/>
          </a:prstGeom>
          <a:noFill/>
          <a:ln/>
        </p:spPr>
        <p:txBody>
          <a:bodyPr wrap="square" lIns="0" tIns="0" rIns="0" bIns="0" rtlCol="0" anchor="ctr"/>
          <a:lstStyle/>
          <a:p>
            <a:pPr marL="0" indent="0">
              <a:buNone/>
            </a:pPr>
            <a:r>
              <a:rPr lang="en-US" sz="950" dirty="0">
                <a:solidFill>
                  <a:srgbClr val="C8D6E5"/>
                </a:solidFill>
                <a:latin typeface="Calibri" pitchFamily="34" charset="0"/>
                <a:ea typeface="Calibri" pitchFamily="34" charset="-122"/>
                <a:cs typeface="Calibri" pitchFamily="34" charset="-120"/>
              </a:rPr>
              <a:t>Demonstrate measurable reduction in bus-bunching events vs. Static Timetable baseline: Agentic V2X mode maintains headway variance below 20% while Static mode exhibits cascade bunching within the first 10 minutes of simulation.</a:t>
            </a:r>
            <a:endParaRPr lang="en-US" sz="950" dirty="0"/>
          </a:p>
        </p:txBody>
      </p:sp>
      <p:sp>
        <p:nvSpPr>
          <p:cNvPr id="16" name="Shape 13"/>
          <p:cNvSpPr/>
          <p:nvPr/>
        </p:nvSpPr>
        <p:spPr>
          <a:xfrm>
            <a:off x="274320" y="2505456"/>
            <a:ext cx="8595360" cy="594360"/>
          </a:xfrm>
          <a:prstGeom prst="rect">
            <a:avLst/>
          </a:prstGeom>
          <a:solidFill>
            <a:srgbClr val="2A3150"/>
          </a:solidFill>
          <a:ln/>
          <a:effectLst>
            <a:outerShdw blurRad="63500" dist="12700" dir="8100000" algn="bl" rotWithShape="0">
              <a:srgbClr val="000000">
                <a:alpha val="18000"/>
              </a:srgbClr>
            </a:outerShdw>
          </a:effectLst>
        </p:spPr>
        <p:txBody>
          <a:bodyPr/>
          <a:lstStyle/>
          <a:p>
            <a:endParaRPr lang="en-IN"/>
          </a:p>
        </p:txBody>
      </p:sp>
      <p:sp>
        <p:nvSpPr>
          <p:cNvPr id="17" name="Shape 14"/>
          <p:cNvSpPr/>
          <p:nvPr/>
        </p:nvSpPr>
        <p:spPr>
          <a:xfrm>
            <a:off x="274320" y="2505456"/>
            <a:ext cx="1234440" cy="594360"/>
          </a:xfrm>
          <a:prstGeom prst="rect">
            <a:avLst/>
          </a:prstGeom>
          <a:solidFill>
            <a:srgbClr val="2DC653"/>
          </a:solidFill>
          <a:ln/>
        </p:spPr>
        <p:txBody>
          <a:bodyPr/>
          <a:lstStyle/>
          <a:p>
            <a:endParaRPr lang="en-IN"/>
          </a:p>
        </p:txBody>
      </p:sp>
      <p:sp>
        <p:nvSpPr>
          <p:cNvPr id="18" name="Text 15"/>
          <p:cNvSpPr/>
          <p:nvPr/>
        </p:nvSpPr>
        <p:spPr>
          <a:xfrm>
            <a:off x="274320" y="2505456"/>
            <a:ext cx="1234440" cy="594360"/>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Black" pitchFamily="34" charset="0"/>
                <a:ea typeface="Calibri Black" pitchFamily="34" charset="-122"/>
                <a:cs typeface="Calibri Black" pitchFamily="34" charset="-120"/>
              </a:rPr>
              <a:t>Achievable</a:t>
            </a:r>
            <a:endParaRPr lang="en-US" sz="1200" dirty="0"/>
          </a:p>
        </p:txBody>
      </p:sp>
      <p:sp>
        <p:nvSpPr>
          <p:cNvPr id="19" name="Text 16"/>
          <p:cNvSpPr/>
          <p:nvPr/>
        </p:nvSpPr>
        <p:spPr>
          <a:xfrm>
            <a:off x="1600200" y="2542032"/>
            <a:ext cx="7178040" cy="521208"/>
          </a:xfrm>
          <a:prstGeom prst="rect">
            <a:avLst/>
          </a:prstGeom>
          <a:noFill/>
          <a:ln/>
        </p:spPr>
        <p:txBody>
          <a:bodyPr wrap="square" lIns="0" tIns="0" rIns="0" bIns="0" rtlCol="0" anchor="ctr"/>
          <a:lstStyle/>
          <a:p>
            <a:pPr marL="0" indent="0">
              <a:buNone/>
            </a:pPr>
            <a:r>
              <a:rPr lang="en-US" sz="950" dirty="0">
                <a:solidFill>
                  <a:srgbClr val="C8D6E5"/>
                </a:solidFill>
                <a:latin typeface="Calibri" pitchFamily="34" charset="0"/>
                <a:ea typeface="Calibri" pitchFamily="34" charset="-122"/>
                <a:cs typeface="Calibri" pitchFamily="34" charset="-120"/>
              </a:rPr>
              <a:t>Implement entirely in Python on CPU using only free tools: Groq API (free tier, no GPU), OSRM (no key), Faker/NumPy (passenger simulation), FastAPI (WebSocket backend), React + Leaflet (live map) — zero cost, laptop-friendly.</a:t>
            </a:r>
            <a:endParaRPr lang="en-US" sz="950" dirty="0"/>
          </a:p>
        </p:txBody>
      </p:sp>
      <p:sp>
        <p:nvSpPr>
          <p:cNvPr id="20" name="Shape 17"/>
          <p:cNvSpPr/>
          <p:nvPr/>
        </p:nvSpPr>
        <p:spPr>
          <a:xfrm>
            <a:off x="274320" y="3163824"/>
            <a:ext cx="8595360" cy="594360"/>
          </a:xfrm>
          <a:prstGeom prst="rect">
            <a:avLst/>
          </a:prstGeom>
          <a:solidFill>
            <a:srgbClr val="2A3150"/>
          </a:solidFill>
          <a:ln/>
          <a:effectLst>
            <a:outerShdw blurRad="63500" dist="12700" dir="8100000" algn="bl" rotWithShape="0">
              <a:srgbClr val="000000">
                <a:alpha val="18000"/>
              </a:srgbClr>
            </a:outerShdw>
          </a:effectLst>
        </p:spPr>
        <p:txBody>
          <a:bodyPr/>
          <a:lstStyle/>
          <a:p>
            <a:endParaRPr lang="en-IN"/>
          </a:p>
        </p:txBody>
      </p:sp>
      <p:sp>
        <p:nvSpPr>
          <p:cNvPr id="21" name="Shape 18"/>
          <p:cNvSpPr/>
          <p:nvPr/>
        </p:nvSpPr>
        <p:spPr>
          <a:xfrm>
            <a:off x="274320" y="3163824"/>
            <a:ext cx="1234440" cy="594360"/>
          </a:xfrm>
          <a:prstGeom prst="rect">
            <a:avLst/>
          </a:prstGeom>
          <a:solidFill>
            <a:srgbClr val="F4A261"/>
          </a:solidFill>
          <a:ln/>
        </p:spPr>
        <p:txBody>
          <a:bodyPr/>
          <a:lstStyle/>
          <a:p>
            <a:endParaRPr lang="en-IN"/>
          </a:p>
        </p:txBody>
      </p:sp>
      <p:sp>
        <p:nvSpPr>
          <p:cNvPr id="22" name="Text 19"/>
          <p:cNvSpPr/>
          <p:nvPr/>
        </p:nvSpPr>
        <p:spPr>
          <a:xfrm>
            <a:off x="274320" y="3163824"/>
            <a:ext cx="1234440" cy="594360"/>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Black" pitchFamily="34" charset="0"/>
                <a:ea typeface="Calibri Black" pitchFamily="34" charset="-122"/>
                <a:cs typeface="Calibri Black" pitchFamily="34" charset="-120"/>
              </a:rPr>
              <a:t>Relevant</a:t>
            </a:r>
            <a:endParaRPr lang="en-US" sz="1200" dirty="0"/>
          </a:p>
        </p:txBody>
      </p:sp>
      <p:sp>
        <p:nvSpPr>
          <p:cNvPr id="23" name="Text 20"/>
          <p:cNvSpPr/>
          <p:nvPr/>
        </p:nvSpPr>
        <p:spPr>
          <a:xfrm>
            <a:off x="1600200" y="3200400"/>
            <a:ext cx="7178040" cy="521208"/>
          </a:xfrm>
          <a:prstGeom prst="rect">
            <a:avLst/>
          </a:prstGeom>
          <a:noFill/>
          <a:ln/>
        </p:spPr>
        <p:txBody>
          <a:bodyPr wrap="square" lIns="0" tIns="0" rIns="0" bIns="0" rtlCol="0" anchor="ctr"/>
          <a:lstStyle/>
          <a:p>
            <a:pPr marL="0" indent="0">
              <a:buNone/>
            </a:pPr>
            <a:r>
              <a:rPr lang="en-US" sz="950" dirty="0">
                <a:solidFill>
                  <a:srgbClr val="C8D6E5"/>
                </a:solidFill>
                <a:latin typeface="Calibri" pitchFamily="34" charset="0"/>
                <a:ea typeface="Calibri" pitchFamily="34" charset="-122"/>
                <a:cs typeface="Calibri" pitchFamily="34" charset="-120"/>
              </a:rPr>
              <a:t>Directly maps to ITS Unit-III (V2X Communication, ATMS, TMC operations) and Unit-IV (ATIS, Economic Impact Assessment); the live LLM reasoning feed gives the Civil Engineering panel concrete, readable evidence of intelligent dispatch.</a:t>
            </a:r>
            <a:endParaRPr lang="en-US" sz="950" dirty="0"/>
          </a:p>
        </p:txBody>
      </p:sp>
      <p:sp>
        <p:nvSpPr>
          <p:cNvPr id="24" name="Shape 21"/>
          <p:cNvSpPr/>
          <p:nvPr/>
        </p:nvSpPr>
        <p:spPr>
          <a:xfrm>
            <a:off x="274320" y="3822192"/>
            <a:ext cx="8595360" cy="594360"/>
          </a:xfrm>
          <a:prstGeom prst="rect">
            <a:avLst/>
          </a:prstGeom>
          <a:solidFill>
            <a:srgbClr val="2A3150"/>
          </a:solidFill>
          <a:ln/>
          <a:effectLst>
            <a:outerShdw blurRad="63500" dist="12700" dir="8100000" algn="bl" rotWithShape="0">
              <a:srgbClr val="000000">
                <a:alpha val="18000"/>
              </a:srgbClr>
            </a:outerShdw>
          </a:effectLst>
        </p:spPr>
        <p:txBody>
          <a:bodyPr/>
          <a:lstStyle/>
          <a:p>
            <a:endParaRPr lang="en-IN"/>
          </a:p>
        </p:txBody>
      </p:sp>
      <p:sp>
        <p:nvSpPr>
          <p:cNvPr id="25" name="Shape 22"/>
          <p:cNvSpPr/>
          <p:nvPr/>
        </p:nvSpPr>
        <p:spPr>
          <a:xfrm>
            <a:off x="274320" y="3822192"/>
            <a:ext cx="1234440" cy="594360"/>
          </a:xfrm>
          <a:prstGeom prst="rect">
            <a:avLst/>
          </a:prstGeom>
          <a:solidFill>
            <a:srgbClr val="0D9488"/>
          </a:solidFill>
          <a:ln/>
        </p:spPr>
        <p:txBody>
          <a:bodyPr/>
          <a:lstStyle/>
          <a:p>
            <a:endParaRPr lang="en-IN"/>
          </a:p>
        </p:txBody>
      </p:sp>
      <p:sp>
        <p:nvSpPr>
          <p:cNvPr id="26" name="Text 23"/>
          <p:cNvSpPr/>
          <p:nvPr/>
        </p:nvSpPr>
        <p:spPr>
          <a:xfrm>
            <a:off x="274320" y="3822192"/>
            <a:ext cx="1234440" cy="594360"/>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Black" pitchFamily="34" charset="0"/>
                <a:ea typeface="Calibri Black" pitchFamily="34" charset="-122"/>
                <a:cs typeface="Calibri Black" pitchFamily="34" charset="-120"/>
              </a:rPr>
              <a:t>Time-Bound</a:t>
            </a:r>
            <a:endParaRPr lang="en-US" sz="1200" dirty="0"/>
          </a:p>
        </p:txBody>
      </p:sp>
      <p:sp>
        <p:nvSpPr>
          <p:cNvPr id="27" name="Text 24"/>
          <p:cNvSpPr/>
          <p:nvPr/>
        </p:nvSpPr>
        <p:spPr>
          <a:xfrm>
            <a:off x="1600200" y="3858768"/>
            <a:ext cx="7178040" cy="521208"/>
          </a:xfrm>
          <a:prstGeom prst="rect">
            <a:avLst/>
          </a:prstGeom>
          <a:noFill/>
          <a:ln/>
        </p:spPr>
        <p:txBody>
          <a:bodyPr wrap="square" lIns="0" tIns="0" rIns="0" bIns="0" rtlCol="0" anchor="ctr"/>
          <a:lstStyle/>
          <a:p>
            <a:pPr marL="0" indent="0">
              <a:buNone/>
            </a:pPr>
            <a:r>
              <a:rPr lang="en-US" sz="950" dirty="0">
                <a:solidFill>
                  <a:srgbClr val="C8D6E5"/>
                </a:solidFill>
                <a:latin typeface="Calibri" pitchFamily="34" charset="0"/>
                <a:ea typeface="Calibri" pitchFamily="34" charset="-122"/>
                <a:cs typeface="Calibri" pitchFamily="34" charset="-120"/>
              </a:rPr>
              <a:t>Deliver 5 working modules (Map Engine, Simulator, V2X Debate Engine, FastAPI WebSocket, React+Leaflet Live Map) + Phase-II demo-ready web app with animated buses on real Bengaluru roads, live V2V chat feed, and crowd visualisation at bus stops by Semester VI.</a:t>
            </a:r>
            <a:endParaRPr lang="en-US" sz="950" dirty="0"/>
          </a:p>
        </p:txBody>
      </p:sp>
      <p:pic>
        <p:nvPicPr>
          <p:cNvPr id="28" name="Picture 27">
            <a:extLst>
              <a:ext uri="{FF2B5EF4-FFF2-40B4-BE49-F238E27FC236}">
                <a16:creationId xmlns:a16="http://schemas.microsoft.com/office/drawing/2014/main" id="{A26420DF-3B48-9321-77B0-9C4D21CDD6C3}"/>
              </a:ext>
            </a:extLst>
          </p:cNvPr>
          <p:cNvPicPr>
            <a:picLocks noChangeAspect="1"/>
          </p:cNvPicPr>
          <p:nvPr/>
        </p:nvPicPr>
        <p:blipFill>
          <a:blip r:embed="rId3"/>
          <a:stretch>
            <a:fillRect/>
          </a:stretch>
        </p:blipFill>
        <p:spPr>
          <a:xfrm>
            <a:off x="91440" y="128016"/>
            <a:ext cx="1700784" cy="728907"/>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1A1F2E"/>
        </a:solidFill>
        <a:effectLst/>
      </p:bgPr>
    </p:bg>
    <p:spTree>
      <p:nvGrpSpPr>
        <p:cNvPr id="1" name=""/>
        <p:cNvGrpSpPr/>
        <p:nvPr/>
      </p:nvGrpSpPr>
      <p:grpSpPr>
        <a:xfrm>
          <a:off x="0" y="0"/>
          <a:ext cx="0" cy="0"/>
          <a:chOff x="0" y="0"/>
          <a:chExt cx="0" cy="0"/>
        </a:xfrm>
      </p:grpSpPr>
      <p:sp>
        <p:nvSpPr>
          <p:cNvPr id="2" name="Shape 0"/>
          <p:cNvSpPr/>
          <p:nvPr/>
        </p:nvSpPr>
        <p:spPr>
          <a:xfrm>
            <a:off x="0" y="0"/>
            <a:ext cx="9144000" cy="64008"/>
          </a:xfrm>
          <a:prstGeom prst="rect">
            <a:avLst/>
          </a:prstGeom>
          <a:solidFill>
            <a:srgbClr val="E63946"/>
          </a:solidFill>
          <a:ln/>
        </p:spPr>
        <p:txBody>
          <a:bodyPr/>
          <a:lstStyle/>
          <a:p>
            <a:endParaRPr lang="en-IN"/>
          </a:p>
        </p:txBody>
      </p:sp>
      <p:sp>
        <p:nvSpPr>
          <p:cNvPr id="3" name="Shape 1"/>
          <p:cNvSpPr/>
          <p:nvPr/>
        </p:nvSpPr>
        <p:spPr>
          <a:xfrm>
            <a:off x="0" y="64008"/>
            <a:ext cx="9144000" cy="658368"/>
          </a:xfrm>
          <a:prstGeom prst="rect">
            <a:avLst/>
          </a:prstGeom>
          <a:solidFill>
            <a:srgbClr val="2A3150"/>
          </a:solidFill>
          <a:ln/>
        </p:spPr>
        <p:txBody>
          <a:bodyPr/>
          <a:lstStyle/>
          <a:p>
            <a:endParaRPr lang="en-IN"/>
          </a:p>
        </p:txBody>
      </p:sp>
      <p:sp>
        <p:nvSpPr>
          <p:cNvPr id="5" name="Text 2"/>
          <p:cNvSpPr/>
          <p:nvPr/>
        </p:nvSpPr>
        <p:spPr>
          <a:xfrm>
            <a:off x="2011680" y="91440"/>
            <a:ext cx="5029200" cy="548640"/>
          </a:xfrm>
          <a:prstGeom prst="rect">
            <a:avLst/>
          </a:prstGeom>
          <a:noFill/>
          <a:ln/>
        </p:spPr>
        <p:txBody>
          <a:bodyPr wrap="square" lIns="0" tIns="0" rIns="0" bIns="0" rtlCol="0" anchor="ctr"/>
          <a:lstStyle/>
          <a:p>
            <a:pPr marL="0" indent="0">
              <a:buNone/>
            </a:pPr>
            <a:r>
              <a:rPr lang="en-US" sz="2000" b="1" dirty="0">
                <a:solidFill>
                  <a:srgbClr val="FFFFFF"/>
                </a:solidFill>
                <a:latin typeface="Calibri" pitchFamily="34" charset="0"/>
                <a:ea typeface="Calibri" pitchFamily="34" charset="-122"/>
                <a:cs typeface="Calibri" pitchFamily="34" charset="-120"/>
              </a:rPr>
              <a:t>Methodology</a:t>
            </a:r>
            <a:endParaRPr lang="en-US" sz="2000" dirty="0"/>
          </a:p>
        </p:txBody>
      </p:sp>
      <p:sp>
        <p:nvSpPr>
          <p:cNvPr id="6" name="Text 3"/>
          <p:cNvSpPr/>
          <p:nvPr/>
        </p:nvSpPr>
        <p:spPr>
          <a:xfrm>
            <a:off x="6858000" y="109728"/>
            <a:ext cx="2103120" cy="502920"/>
          </a:xfrm>
          <a:prstGeom prst="rect">
            <a:avLst/>
          </a:prstGeom>
          <a:noFill/>
          <a:ln/>
        </p:spPr>
        <p:txBody>
          <a:bodyPr wrap="square" lIns="0" tIns="0" rIns="0" bIns="0" rtlCol="0" anchor="ctr"/>
          <a:lstStyle/>
          <a:p>
            <a:pPr marL="0" indent="0" algn="r">
              <a:buNone/>
            </a:pPr>
            <a:r>
              <a:rPr lang="en-US" sz="1000" i="1" dirty="0">
                <a:solidFill>
                  <a:srgbClr val="7A8FA6"/>
                </a:solidFill>
                <a:latin typeface="Georgia" pitchFamily="34" charset="0"/>
                <a:ea typeface="Georgia" pitchFamily="34" charset="-122"/>
                <a:cs typeface="Georgia" pitchFamily="34" charset="-120"/>
              </a:rPr>
              <a:t>Go, change the world</a:t>
            </a:r>
            <a:endParaRPr lang="en-US" sz="1000" dirty="0"/>
          </a:p>
        </p:txBody>
      </p:sp>
      <p:sp>
        <p:nvSpPr>
          <p:cNvPr id="7" name="Shape 4"/>
          <p:cNvSpPr/>
          <p:nvPr/>
        </p:nvSpPr>
        <p:spPr>
          <a:xfrm>
            <a:off x="137160" y="960120"/>
            <a:ext cx="1170432" cy="2011680"/>
          </a:xfrm>
          <a:prstGeom prst="rect">
            <a:avLst/>
          </a:prstGeom>
          <a:solidFill>
            <a:srgbClr val="2A3150"/>
          </a:solidFill>
          <a:ln/>
          <a:effectLst>
            <a:outerShdw blurRad="63500" dist="12700" dir="8100000" algn="bl" rotWithShape="0">
              <a:srgbClr val="000000">
                <a:alpha val="20000"/>
              </a:srgbClr>
            </a:outerShdw>
          </a:effectLst>
        </p:spPr>
        <p:txBody>
          <a:bodyPr/>
          <a:lstStyle/>
          <a:p>
            <a:endParaRPr lang="en-IN"/>
          </a:p>
        </p:txBody>
      </p:sp>
      <p:sp>
        <p:nvSpPr>
          <p:cNvPr id="8" name="Shape 5"/>
          <p:cNvSpPr/>
          <p:nvPr/>
        </p:nvSpPr>
        <p:spPr>
          <a:xfrm>
            <a:off x="137160" y="960120"/>
            <a:ext cx="1170432" cy="64008"/>
          </a:xfrm>
          <a:prstGeom prst="rect">
            <a:avLst/>
          </a:prstGeom>
          <a:solidFill>
            <a:srgbClr val="457B9D"/>
          </a:solidFill>
          <a:ln/>
        </p:spPr>
        <p:txBody>
          <a:bodyPr/>
          <a:lstStyle/>
          <a:p>
            <a:endParaRPr lang="en-IN"/>
          </a:p>
        </p:txBody>
      </p:sp>
      <p:sp>
        <p:nvSpPr>
          <p:cNvPr id="9" name="Shape 6"/>
          <p:cNvSpPr/>
          <p:nvPr/>
        </p:nvSpPr>
        <p:spPr>
          <a:xfrm>
            <a:off x="516636" y="1097280"/>
            <a:ext cx="411480" cy="411480"/>
          </a:xfrm>
          <a:prstGeom prst="line">
            <a:avLst/>
          </a:prstGeom>
          <a:solidFill>
            <a:srgbClr val="457B9D"/>
          </a:solidFill>
          <a:ln/>
        </p:spPr>
        <p:txBody>
          <a:bodyPr/>
          <a:lstStyle/>
          <a:p>
            <a:endParaRPr lang="en-IN"/>
          </a:p>
        </p:txBody>
      </p:sp>
      <p:sp>
        <p:nvSpPr>
          <p:cNvPr id="10" name="Text 7"/>
          <p:cNvSpPr/>
          <p:nvPr/>
        </p:nvSpPr>
        <p:spPr>
          <a:xfrm>
            <a:off x="516636" y="1097280"/>
            <a:ext cx="411480" cy="411480"/>
          </a:xfrm>
          <a:prstGeom prst="rect">
            <a:avLst/>
          </a:prstGeom>
          <a:noFill/>
          <a:ln/>
        </p:spPr>
        <p:txBody>
          <a:bodyPr wrap="square" lIns="0" tIns="0" rIns="0" bIns="0" rtlCol="0" anchor="ctr"/>
          <a:lstStyle/>
          <a:p>
            <a:pPr marL="0" indent="0" algn="ctr">
              <a:buNone/>
            </a:pPr>
            <a:r>
              <a:rPr lang="en-US" sz="1200" b="1" dirty="0">
                <a:solidFill>
                  <a:srgbClr val="FFFFFF"/>
                </a:solidFill>
              </a:rPr>
              <a:t>01</a:t>
            </a:r>
            <a:endParaRPr lang="en-US" sz="1200" dirty="0"/>
          </a:p>
        </p:txBody>
      </p:sp>
      <p:sp>
        <p:nvSpPr>
          <p:cNvPr id="11" name="Text 8"/>
          <p:cNvSpPr/>
          <p:nvPr/>
        </p:nvSpPr>
        <p:spPr>
          <a:xfrm>
            <a:off x="182880" y="1618488"/>
            <a:ext cx="1078992" cy="347472"/>
          </a:xfrm>
          <a:prstGeom prst="rect">
            <a:avLst/>
          </a:prstGeom>
          <a:noFill/>
          <a:ln/>
        </p:spPr>
        <p:txBody>
          <a:bodyPr wrap="square" lIns="0" tIns="0" rIns="0" bIns="0" rtlCol="0" anchor="ctr"/>
          <a:lstStyle/>
          <a:p>
            <a:pPr marL="0" indent="0" algn="ctr">
              <a:buNone/>
            </a:pPr>
            <a:r>
              <a:rPr lang="en-US" sz="950" b="1" dirty="0">
                <a:solidFill>
                  <a:srgbClr val="FFFFFF"/>
                </a:solidFill>
                <a:latin typeface="Calibri" pitchFamily="34" charset="0"/>
                <a:ea typeface="Calibri" pitchFamily="34" charset="-122"/>
                <a:cs typeface="Calibri" pitchFamily="34" charset="-120"/>
              </a:rPr>
              <a:t>Map Engine</a:t>
            </a:r>
            <a:endParaRPr lang="en-US" sz="950" dirty="0"/>
          </a:p>
        </p:txBody>
      </p:sp>
      <p:sp>
        <p:nvSpPr>
          <p:cNvPr id="12" name="Text 9"/>
          <p:cNvSpPr/>
          <p:nvPr/>
        </p:nvSpPr>
        <p:spPr>
          <a:xfrm>
            <a:off x="182880" y="1984248"/>
            <a:ext cx="1078992" cy="914400"/>
          </a:xfrm>
          <a:prstGeom prst="rect">
            <a:avLst/>
          </a:prstGeom>
          <a:noFill/>
          <a:ln/>
        </p:spPr>
        <p:txBody>
          <a:bodyPr wrap="square" lIns="0" tIns="0" rIns="0" bIns="0" rtlCol="0" anchor="ctr"/>
          <a:lstStyle/>
          <a:p>
            <a:pPr marL="0" indent="0" algn="ctr">
              <a:buNone/>
            </a:pPr>
            <a:r>
              <a:rPr lang="en-US" sz="800" dirty="0">
                <a:solidFill>
                  <a:srgbClr val="C8D6E5"/>
                </a:solidFill>
                <a:latin typeface="Calibri" pitchFamily="34" charset="0"/>
                <a:ea typeface="Calibri" pitchFamily="34" charset="-122"/>
                <a:cs typeface="Calibri" pitchFamily="34" charset="-120"/>
              </a:rPr>
              <a:t>OSRM API → exact 1,203-point Route 378 polyline</a:t>
            </a:r>
            <a:endParaRPr lang="en-US" sz="800" dirty="0"/>
          </a:p>
        </p:txBody>
      </p:sp>
      <p:sp>
        <p:nvSpPr>
          <p:cNvPr id="13" name="Shape 10"/>
          <p:cNvSpPr/>
          <p:nvPr/>
        </p:nvSpPr>
        <p:spPr>
          <a:xfrm>
            <a:off x="1316736" y="1965960"/>
            <a:ext cx="91440" cy="0"/>
          </a:xfrm>
          <a:prstGeom prst="line">
            <a:avLst/>
          </a:prstGeom>
          <a:noFill/>
          <a:ln w="25400">
            <a:solidFill>
              <a:srgbClr val="457B9D"/>
            </a:solidFill>
            <a:prstDash val="solid"/>
          </a:ln>
        </p:spPr>
        <p:txBody>
          <a:bodyPr/>
          <a:lstStyle/>
          <a:p>
            <a:endParaRPr lang="en-IN"/>
          </a:p>
        </p:txBody>
      </p:sp>
      <p:sp>
        <p:nvSpPr>
          <p:cNvPr id="14" name="Shape 11"/>
          <p:cNvSpPr/>
          <p:nvPr/>
        </p:nvSpPr>
        <p:spPr>
          <a:xfrm>
            <a:off x="1417320" y="960120"/>
            <a:ext cx="1170432" cy="2011680"/>
          </a:xfrm>
          <a:prstGeom prst="rect">
            <a:avLst/>
          </a:prstGeom>
          <a:solidFill>
            <a:srgbClr val="2A3150"/>
          </a:solidFill>
          <a:ln/>
          <a:effectLst>
            <a:outerShdw blurRad="63500" dist="12700" dir="8100000" algn="bl" rotWithShape="0">
              <a:srgbClr val="000000">
                <a:alpha val="20000"/>
              </a:srgbClr>
            </a:outerShdw>
          </a:effectLst>
        </p:spPr>
        <p:txBody>
          <a:bodyPr/>
          <a:lstStyle/>
          <a:p>
            <a:endParaRPr lang="en-IN"/>
          </a:p>
        </p:txBody>
      </p:sp>
      <p:sp>
        <p:nvSpPr>
          <p:cNvPr id="15" name="Shape 12"/>
          <p:cNvSpPr/>
          <p:nvPr/>
        </p:nvSpPr>
        <p:spPr>
          <a:xfrm>
            <a:off x="1417320" y="960120"/>
            <a:ext cx="1170432" cy="64008"/>
          </a:xfrm>
          <a:prstGeom prst="rect">
            <a:avLst/>
          </a:prstGeom>
          <a:solidFill>
            <a:srgbClr val="457B9D"/>
          </a:solidFill>
          <a:ln/>
        </p:spPr>
        <p:txBody>
          <a:bodyPr/>
          <a:lstStyle/>
          <a:p>
            <a:endParaRPr lang="en-IN"/>
          </a:p>
        </p:txBody>
      </p:sp>
      <p:sp>
        <p:nvSpPr>
          <p:cNvPr id="16" name="Shape 13"/>
          <p:cNvSpPr/>
          <p:nvPr/>
        </p:nvSpPr>
        <p:spPr>
          <a:xfrm>
            <a:off x="1796796" y="1097280"/>
            <a:ext cx="411480" cy="411480"/>
          </a:xfrm>
          <a:prstGeom prst="line">
            <a:avLst/>
          </a:prstGeom>
          <a:solidFill>
            <a:srgbClr val="457B9D"/>
          </a:solidFill>
          <a:ln/>
        </p:spPr>
        <p:txBody>
          <a:bodyPr/>
          <a:lstStyle/>
          <a:p>
            <a:endParaRPr lang="en-IN"/>
          </a:p>
        </p:txBody>
      </p:sp>
      <p:sp>
        <p:nvSpPr>
          <p:cNvPr id="17" name="Text 14"/>
          <p:cNvSpPr/>
          <p:nvPr/>
        </p:nvSpPr>
        <p:spPr>
          <a:xfrm>
            <a:off x="1796796" y="1097280"/>
            <a:ext cx="411480" cy="411480"/>
          </a:xfrm>
          <a:prstGeom prst="rect">
            <a:avLst/>
          </a:prstGeom>
          <a:noFill/>
          <a:ln/>
        </p:spPr>
        <p:txBody>
          <a:bodyPr wrap="square" lIns="0" tIns="0" rIns="0" bIns="0" rtlCol="0" anchor="ctr"/>
          <a:lstStyle/>
          <a:p>
            <a:pPr marL="0" indent="0" algn="ctr">
              <a:buNone/>
            </a:pPr>
            <a:r>
              <a:rPr lang="en-US" sz="1200" b="1" dirty="0">
                <a:solidFill>
                  <a:srgbClr val="FFFFFF"/>
                </a:solidFill>
              </a:rPr>
              <a:t>02</a:t>
            </a:r>
            <a:endParaRPr lang="en-US" sz="1200" dirty="0"/>
          </a:p>
        </p:txBody>
      </p:sp>
      <p:sp>
        <p:nvSpPr>
          <p:cNvPr id="18" name="Text 15"/>
          <p:cNvSpPr/>
          <p:nvPr/>
        </p:nvSpPr>
        <p:spPr>
          <a:xfrm>
            <a:off x="1463040" y="1618488"/>
            <a:ext cx="1078992" cy="347472"/>
          </a:xfrm>
          <a:prstGeom prst="rect">
            <a:avLst/>
          </a:prstGeom>
          <a:noFill/>
          <a:ln/>
        </p:spPr>
        <p:txBody>
          <a:bodyPr wrap="square" lIns="0" tIns="0" rIns="0" bIns="0" rtlCol="0" anchor="ctr"/>
          <a:lstStyle/>
          <a:p>
            <a:pPr marL="0" indent="0" algn="ctr">
              <a:buNone/>
            </a:pPr>
            <a:r>
              <a:rPr lang="en-US" sz="950" b="1" dirty="0">
                <a:solidFill>
                  <a:srgbClr val="FFFFFF"/>
                </a:solidFill>
                <a:latin typeface="Calibri" pitchFamily="34" charset="0"/>
                <a:ea typeface="Calibri" pitchFamily="34" charset="-122"/>
                <a:cs typeface="Calibri" pitchFamily="34" charset="-120"/>
              </a:rPr>
              <a:t>Simulator</a:t>
            </a:r>
            <a:endParaRPr lang="en-US" sz="950" dirty="0"/>
          </a:p>
        </p:txBody>
      </p:sp>
      <p:sp>
        <p:nvSpPr>
          <p:cNvPr id="19" name="Text 16"/>
          <p:cNvSpPr/>
          <p:nvPr/>
        </p:nvSpPr>
        <p:spPr>
          <a:xfrm>
            <a:off x="1463040" y="1984248"/>
            <a:ext cx="1078992" cy="914400"/>
          </a:xfrm>
          <a:prstGeom prst="rect">
            <a:avLst/>
          </a:prstGeom>
          <a:noFill/>
          <a:ln/>
        </p:spPr>
        <p:txBody>
          <a:bodyPr wrap="square" lIns="0" tIns="0" rIns="0" bIns="0" rtlCol="0" anchor="ctr"/>
          <a:lstStyle/>
          <a:p>
            <a:pPr marL="0" indent="0" algn="ctr">
              <a:buNone/>
            </a:pPr>
            <a:r>
              <a:rPr lang="en-US" sz="800" dirty="0">
                <a:solidFill>
                  <a:srgbClr val="C8D6E5"/>
                </a:solidFill>
                <a:latin typeface="Calibri" pitchFamily="34" charset="0"/>
                <a:ea typeface="Calibri" pitchFamily="34" charset="-122"/>
                <a:cs typeface="Calibri" pitchFamily="34" charset="-120"/>
              </a:rPr>
              <a:t>Faker + NumPy Poisson passenger arrivals &amp; traffic events</a:t>
            </a:r>
            <a:endParaRPr lang="en-US" sz="800" dirty="0"/>
          </a:p>
        </p:txBody>
      </p:sp>
      <p:sp>
        <p:nvSpPr>
          <p:cNvPr id="20" name="Shape 17"/>
          <p:cNvSpPr/>
          <p:nvPr/>
        </p:nvSpPr>
        <p:spPr>
          <a:xfrm>
            <a:off x="2596896" y="1965960"/>
            <a:ext cx="91440" cy="0"/>
          </a:xfrm>
          <a:prstGeom prst="line">
            <a:avLst/>
          </a:prstGeom>
          <a:noFill/>
          <a:ln w="25400">
            <a:solidFill>
              <a:srgbClr val="457B9D"/>
            </a:solidFill>
            <a:prstDash val="solid"/>
          </a:ln>
        </p:spPr>
        <p:txBody>
          <a:bodyPr/>
          <a:lstStyle/>
          <a:p>
            <a:endParaRPr lang="en-IN"/>
          </a:p>
        </p:txBody>
      </p:sp>
      <p:sp>
        <p:nvSpPr>
          <p:cNvPr id="21" name="Shape 18"/>
          <p:cNvSpPr/>
          <p:nvPr/>
        </p:nvSpPr>
        <p:spPr>
          <a:xfrm>
            <a:off x="2697480" y="960120"/>
            <a:ext cx="1170432" cy="2011680"/>
          </a:xfrm>
          <a:prstGeom prst="rect">
            <a:avLst/>
          </a:prstGeom>
          <a:solidFill>
            <a:srgbClr val="2A3150"/>
          </a:solidFill>
          <a:ln/>
          <a:effectLst>
            <a:outerShdw blurRad="63500" dist="12700" dir="8100000" algn="bl" rotWithShape="0">
              <a:srgbClr val="000000">
                <a:alpha val="20000"/>
              </a:srgbClr>
            </a:outerShdw>
          </a:effectLst>
        </p:spPr>
        <p:txBody>
          <a:bodyPr/>
          <a:lstStyle/>
          <a:p>
            <a:endParaRPr lang="en-IN"/>
          </a:p>
        </p:txBody>
      </p:sp>
      <p:sp>
        <p:nvSpPr>
          <p:cNvPr id="22" name="Shape 19"/>
          <p:cNvSpPr/>
          <p:nvPr/>
        </p:nvSpPr>
        <p:spPr>
          <a:xfrm>
            <a:off x="2697480" y="960120"/>
            <a:ext cx="1170432" cy="64008"/>
          </a:xfrm>
          <a:prstGeom prst="rect">
            <a:avLst/>
          </a:prstGeom>
          <a:solidFill>
            <a:srgbClr val="E63946"/>
          </a:solidFill>
          <a:ln/>
        </p:spPr>
        <p:txBody>
          <a:bodyPr/>
          <a:lstStyle/>
          <a:p>
            <a:endParaRPr lang="en-IN"/>
          </a:p>
        </p:txBody>
      </p:sp>
      <p:sp>
        <p:nvSpPr>
          <p:cNvPr id="23" name="Shape 20"/>
          <p:cNvSpPr/>
          <p:nvPr/>
        </p:nvSpPr>
        <p:spPr>
          <a:xfrm>
            <a:off x="3076956" y="1097280"/>
            <a:ext cx="411480" cy="411480"/>
          </a:xfrm>
          <a:prstGeom prst="line">
            <a:avLst/>
          </a:prstGeom>
          <a:solidFill>
            <a:srgbClr val="E63946"/>
          </a:solidFill>
          <a:ln/>
        </p:spPr>
        <p:txBody>
          <a:bodyPr/>
          <a:lstStyle/>
          <a:p>
            <a:endParaRPr lang="en-IN"/>
          </a:p>
        </p:txBody>
      </p:sp>
      <p:sp>
        <p:nvSpPr>
          <p:cNvPr id="24" name="Text 21"/>
          <p:cNvSpPr/>
          <p:nvPr/>
        </p:nvSpPr>
        <p:spPr>
          <a:xfrm>
            <a:off x="3076956" y="1097280"/>
            <a:ext cx="411480" cy="411480"/>
          </a:xfrm>
          <a:prstGeom prst="rect">
            <a:avLst/>
          </a:prstGeom>
          <a:noFill/>
          <a:ln/>
        </p:spPr>
        <p:txBody>
          <a:bodyPr wrap="square" lIns="0" tIns="0" rIns="0" bIns="0" rtlCol="0" anchor="ctr"/>
          <a:lstStyle/>
          <a:p>
            <a:pPr marL="0" indent="0" algn="ctr">
              <a:buNone/>
            </a:pPr>
            <a:r>
              <a:rPr lang="en-US" sz="1200" b="1" dirty="0">
                <a:solidFill>
                  <a:srgbClr val="FFFFFF"/>
                </a:solidFill>
              </a:rPr>
              <a:t>03</a:t>
            </a:r>
            <a:endParaRPr lang="en-US" sz="1200" dirty="0"/>
          </a:p>
        </p:txBody>
      </p:sp>
      <p:sp>
        <p:nvSpPr>
          <p:cNvPr id="25" name="Text 22"/>
          <p:cNvSpPr/>
          <p:nvPr/>
        </p:nvSpPr>
        <p:spPr>
          <a:xfrm>
            <a:off x="2743200" y="1618488"/>
            <a:ext cx="1078992" cy="347472"/>
          </a:xfrm>
          <a:prstGeom prst="rect">
            <a:avLst/>
          </a:prstGeom>
          <a:noFill/>
          <a:ln/>
        </p:spPr>
        <p:txBody>
          <a:bodyPr wrap="square" lIns="0" tIns="0" rIns="0" bIns="0" rtlCol="0" anchor="ctr"/>
          <a:lstStyle/>
          <a:p>
            <a:pPr marL="0" indent="0" algn="ctr">
              <a:buNone/>
            </a:pPr>
            <a:r>
              <a:rPr lang="en-US" sz="950" b="1" dirty="0">
                <a:solidFill>
                  <a:srgbClr val="FFFFFF"/>
                </a:solidFill>
                <a:latin typeface="Calibri" pitchFamily="34" charset="0"/>
                <a:ea typeface="Calibri" pitchFamily="34" charset="-122"/>
                <a:cs typeface="Calibri" pitchFamily="34" charset="-120"/>
              </a:rPr>
              <a:t>V2X Debate</a:t>
            </a:r>
            <a:endParaRPr lang="en-US" sz="950" dirty="0"/>
          </a:p>
        </p:txBody>
      </p:sp>
      <p:sp>
        <p:nvSpPr>
          <p:cNvPr id="26" name="Text 23"/>
          <p:cNvSpPr/>
          <p:nvPr/>
        </p:nvSpPr>
        <p:spPr>
          <a:xfrm>
            <a:off x="2743200" y="1984248"/>
            <a:ext cx="1078992" cy="914400"/>
          </a:xfrm>
          <a:prstGeom prst="rect">
            <a:avLst/>
          </a:prstGeom>
          <a:noFill/>
          <a:ln/>
        </p:spPr>
        <p:txBody>
          <a:bodyPr wrap="square" lIns="0" tIns="0" rIns="0" bIns="0" rtlCol="0" anchor="ctr"/>
          <a:lstStyle/>
          <a:p>
            <a:pPr marL="0" indent="0" algn="ctr">
              <a:buNone/>
            </a:pPr>
            <a:r>
              <a:rPr lang="en-US" sz="800" dirty="0">
                <a:solidFill>
                  <a:srgbClr val="C8D6E5"/>
                </a:solidFill>
                <a:latin typeface="Calibri" pitchFamily="34" charset="0"/>
                <a:ea typeface="Calibri" pitchFamily="34" charset="-122"/>
                <a:cs typeface="Calibri" pitchFamily="34" charset="-120"/>
              </a:rPr>
              <a:t>Groq Llama-3.3 70B: TMC → V2I broadcast → Bus V2V debate</a:t>
            </a:r>
            <a:endParaRPr lang="en-US" sz="800" dirty="0"/>
          </a:p>
        </p:txBody>
      </p:sp>
      <p:sp>
        <p:nvSpPr>
          <p:cNvPr id="27" name="Shape 24"/>
          <p:cNvSpPr/>
          <p:nvPr/>
        </p:nvSpPr>
        <p:spPr>
          <a:xfrm>
            <a:off x="3877056" y="1965960"/>
            <a:ext cx="91440" cy="0"/>
          </a:xfrm>
          <a:prstGeom prst="line">
            <a:avLst/>
          </a:prstGeom>
          <a:noFill/>
          <a:ln w="25400">
            <a:solidFill>
              <a:srgbClr val="E63946"/>
            </a:solidFill>
            <a:prstDash val="solid"/>
          </a:ln>
        </p:spPr>
        <p:txBody>
          <a:bodyPr/>
          <a:lstStyle/>
          <a:p>
            <a:endParaRPr lang="en-IN"/>
          </a:p>
        </p:txBody>
      </p:sp>
      <p:sp>
        <p:nvSpPr>
          <p:cNvPr id="28" name="Shape 25"/>
          <p:cNvSpPr/>
          <p:nvPr/>
        </p:nvSpPr>
        <p:spPr>
          <a:xfrm>
            <a:off x="3977640" y="960120"/>
            <a:ext cx="1170432" cy="2011680"/>
          </a:xfrm>
          <a:prstGeom prst="rect">
            <a:avLst/>
          </a:prstGeom>
          <a:solidFill>
            <a:srgbClr val="2A3150"/>
          </a:solidFill>
          <a:ln/>
          <a:effectLst>
            <a:outerShdw blurRad="63500" dist="12700" dir="8100000" algn="bl" rotWithShape="0">
              <a:srgbClr val="000000">
                <a:alpha val="20000"/>
              </a:srgbClr>
            </a:outerShdw>
          </a:effectLst>
        </p:spPr>
        <p:txBody>
          <a:bodyPr/>
          <a:lstStyle/>
          <a:p>
            <a:endParaRPr lang="en-IN"/>
          </a:p>
        </p:txBody>
      </p:sp>
      <p:sp>
        <p:nvSpPr>
          <p:cNvPr id="29" name="Shape 26"/>
          <p:cNvSpPr/>
          <p:nvPr/>
        </p:nvSpPr>
        <p:spPr>
          <a:xfrm>
            <a:off x="3977640" y="960120"/>
            <a:ext cx="1170432" cy="64008"/>
          </a:xfrm>
          <a:prstGeom prst="rect">
            <a:avLst/>
          </a:prstGeom>
          <a:solidFill>
            <a:srgbClr val="F4A261"/>
          </a:solidFill>
          <a:ln/>
        </p:spPr>
        <p:txBody>
          <a:bodyPr/>
          <a:lstStyle/>
          <a:p>
            <a:endParaRPr lang="en-IN"/>
          </a:p>
        </p:txBody>
      </p:sp>
      <p:sp>
        <p:nvSpPr>
          <p:cNvPr id="30" name="Shape 27"/>
          <p:cNvSpPr/>
          <p:nvPr/>
        </p:nvSpPr>
        <p:spPr>
          <a:xfrm>
            <a:off x="4357116" y="1097280"/>
            <a:ext cx="411480" cy="411480"/>
          </a:xfrm>
          <a:prstGeom prst="line">
            <a:avLst/>
          </a:prstGeom>
          <a:solidFill>
            <a:srgbClr val="F4A261"/>
          </a:solidFill>
          <a:ln/>
        </p:spPr>
        <p:txBody>
          <a:bodyPr/>
          <a:lstStyle/>
          <a:p>
            <a:endParaRPr lang="en-IN"/>
          </a:p>
        </p:txBody>
      </p:sp>
      <p:sp>
        <p:nvSpPr>
          <p:cNvPr id="31" name="Text 28"/>
          <p:cNvSpPr/>
          <p:nvPr/>
        </p:nvSpPr>
        <p:spPr>
          <a:xfrm>
            <a:off x="4357116" y="1097280"/>
            <a:ext cx="411480" cy="411480"/>
          </a:xfrm>
          <a:prstGeom prst="rect">
            <a:avLst/>
          </a:prstGeom>
          <a:noFill/>
          <a:ln/>
        </p:spPr>
        <p:txBody>
          <a:bodyPr wrap="square" lIns="0" tIns="0" rIns="0" bIns="0" rtlCol="0" anchor="ctr"/>
          <a:lstStyle/>
          <a:p>
            <a:pPr marL="0" indent="0" algn="ctr">
              <a:buNone/>
            </a:pPr>
            <a:r>
              <a:rPr lang="en-US" sz="1200" b="1" dirty="0">
                <a:solidFill>
                  <a:srgbClr val="FFFFFF"/>
                </a:solidFill>
              </a:rPr>
              <a:t>04</a:t>
            </a:r>
            <a:endParaRPr lang="en-US" sz="1200" dirty="0"/>
          </a:p>
        </p:txBody>
      </p:sp>
      <p:sp>
        <p:nvSpPr>
          <p:cNvPr id="32" name="Text 29"/>
          <p:cNvSpPr/>
          <p:nvPr/>
        </p:nvSpPr>
        <p:spPr>
          <a:xfrm>
            <a:off x="4023360" y="1618488"/>
            <a:ext cx="1078992" cy="347472"/>
          </a:xfrm>
          <a:prstGeom prst="rect">
            <a:avLst/>
          </a:prstGeom>
          <a:noFill/>
          <a:ln/>
        </p:spPr>
        <p:txBody>
          <a:bodyPr wrap="square" lIns="0" tIns="0" rIns="0" bIns="0" rtlCol="0" anchor="ctr"/>
          <a:lstStyle/>
          <a:p>
            <a:pPr marL="0" indent="0" algn="ctr">
              <a:buNone/>
            </a:pPr>
            <a:r>
              <a:rPr lang="en-US" sz="950" b="1" dirty="0">
                <a:solidFill>
                  <a:srgbClr val="FFFFFF"/>
                </a:solidFill>
                <a:latin typeface="Calibri" pitchFamily="34" charset="0"/>
                <a:ea typeface="Calibri" pitchFamily="34" charset="-122"/>
                <a:cs typeface="Calibri" pitchFamily="34" charset="-120"/>
              </a:rPr>
              <a:t>FastAPI</a:t>
            </a:r>
            <a:endParaRPr lang="en-US" sz="950" dirty="0"/>
          </a:p>
        </p:txBody>
      </p:sp>
      <p:sp>
        <p:nvSpPr>
          <p:cNvPr id="33" name="Text 30"/>
          <p:cNvSpPr/>
          <p:nvPr/>
        </p:nvSpPr>
        <p:spPr>
          <a:xfrm>
            <a:off x="4023360" y="1984248"/>
            <a:ext cx="1078992" cy="914400"/>
          </a:xfrm>
          <a:prstGeom prst="rect">
            <a:avLst/>
          </a:prstGeom>
          <a:noFill/>
          <a:ln/>
        </p:spPr>
        <p:txBody>
          <a:bodyPr wrap="square" lIns="0" tIns="0" rIns="0" bIns="0" rtlCol="0" anchor="ctr"/>
          <a:lstStyle/>
          <a:p>
            <a:pPr marL="0" indent="0" algn="ctr">
              <a:buNone/>
            </a:pPr>
            <a:r>
              <a:rPr lang="en-US" sz="800" dirty="0">
                <a:solidFill>
                  <a:srgbClr val="C8D6E5"/>
                </a:solidFill>
                <a:latin typeface="Calibri" pitchFamily="34" charset="0"/>
                <a:ea typeface="Calibri" pitchFamily="34" charset="-122"/>
                <a:cs typeface="Calibri" pitchFamily="34" charset="-120"/>
              </a:rPr>
              <a:t>WebSocket server streams live bus state to frontend</a:t>
            </a:r>
            <a:endParaRPr lang="en-US" sz="800" dirty="0"/>
          </a:p>
        </p:txBody>
      </p:sp>
      <p:sp>
        <p:nvSpPr>
          <p:cNvPr id="34" name="Shape 31"/>
          <p:cNvSpPr/>
          <p:nvPr/>
        </p:nvSpPr>
        <p:spPr>
          <a:xfrm>
            <a:off x="5157216" y="1965960"/>
            <a:ext cx="91440" cy="0"/>
          </a:xfrm>
          <a:prstGeom prst="line">
            <a:avLst/>
          </a:prstGeom>
          <a:noFill/>
          <a:ln w="25400">
            <a:solidFill>
              <a:srgbClr val="F4A261"/>
            </a:solidFill>
            <a:prstDash val="solid"/>
          </a:ln>
        </p:spPr>
        <p:txBody>
          <a:bodyPr/>
          <a:lstStyle/>
          <a:p>
            <a:endParaRPr lang="en-IN"/>
          </a:p>
        </p:txBody>
      </p:sp>
      <p:sp>
        <p:nvSpPr>
          <p:cNvPr id="35" name="Shape 32"/>
          <p:cNvSpPr/>
          <p:nvPr/>
        </p:nvSpPr>
        <p:spPr>
          <a:xfrm>
            <a:off x="5257800" y="960120"/>
            <a:ext cx="1170432" cy="2011680"/>
          </a:xfrm>
          <a:prstGeom prst="rect">
            <a:avLst/>
          </a:prstGeom>
          <a:solidFill>
            <a:srgbClr val="2A3150"/>
          </a:solidFill>
          <a:ln/>
          <a:effectLst>
            <a:outerShdw blurRad="63500" dist="12700" dir="8100000" algn="bl" rotWithShape="0">
              <a:srgbClr val="000000">
                <a:alpha val="20000"/>
              </a:srgbClr>
            </a:outerShdw>
          </a:effectLst>
        </p:spPr>
        <p:txBody>
          <a:bodyPr/>
          <a:lstStyle/>
          <a:p>
            <a:endParaRPr lang="en-IN"/>
          </a:p>
        </p:txBody>
      </p:sp>
      <p:sp>
        <p:nvSpPr>
          <p:cNvPr id="36" name="Shape 33"/>
          <p:cNvSpPr/>
          <p:nvPr/>
        </p:nvSpPr>
        <p:spPr>
          <a:xfrm>
            <a:off x="5257800" y="960120"/>
            <a:ext cx="1170432" cy="64008"/>
          </a:xfrm>
          <a:prstGeom prst="rect">
            <a:avLst/>
          </a:prstGeom>
          <a:solidFill>
            <a:srgbClr val="2DC653"/>
          </a:solidFill>
          <a:ln/>
        </p:spPr>
        <p:txBody>
          <a:bodyPr/>
          <a:lstStyle/>
          <a:p>
            <a:endParaRPr lang="en-IN"/>
          </a:p>
        </p:txBody>
      </p:sp>
      <p:sp>
        <p:nvSpPr>
          <p:cNvPr id="37" name="Shape 34"/>
          <p:cNvSpPr/>
          <p:nvPr/>
        </p:nvSpPr>
        <p:spPr>
          <a:xfrm>
            <a:off x="5637276" y="1097280"/>
            <a:ext cx="411480" cy="411480"/>
          </a:xfrm>
          <a:prstGeom prst="line">
            <a:avLst/>
          </a:prstGeom>
          <a:solidFill>
            <a:srgbClr val="2DC653"/>
          </a:solidFill>
          <a:ln/>
        </p:spPr>
        <p:txBody>
          <a:bodyPr/>
          <a:lstStyle/>
          <a:p>
            <a:endParaRPr lang="en-IN"/>
          </a:p>
        </p:txBody>
      </p:sp>
      <p:sp>
        <p:nvSpPr>
          <p:cNvPr id="38" name="Text 35"/>
          <p:cNvSpPr/>
          <p:nvPr/>
        </p:nvSpPr>
        <p:spPr>
          <a:xfrm>
            <a:off x="5637276" y="1097280"/>
            <a:ext cx="411480" cy="411480"/>
          </a:xfrm>
          <a:prstGeom prst="rect">
            <a:avLst/>
          </a:prstGeom>
          <a:noFill/>
          <a:ln/>
        </p:spPr>
        <p:txBody>
          <a:bodyPr wrap="square" lIns="0" tIns="0" rIns="0" bIns="0" rtlCol="0" anchor="ctr"/>
          <a:lstStyle/>
          <a:p>
            <a:pPr marL="0" indent="0" algn="ctr">
              <a:buNone/>
            </a:pPr>
            <a:r>
              <a:rPr lang="en-US" sz="1200" b="1" dirty="0">
                <a:solidFill>
                  <a:srgbClr val="FFFFFF"/>
                </a:solidFill>
              </a:rPr>
              <a:t>05</a:t>
            </a:r>
            <a:endParaRPr lang="en-US" sz="1200" dirty="0"/>
          </a:p>
        </p:txBody>
      </p:sp>
      <p:sp>
        <p:nvSpPr>
          <p:cNvPr id="39" name="Text 36"/>
          <p:cNvSpPr/>
          <p:nvPr/>
        </p:nvSpPr>
        <p:spPr>
          <a:xfrm>
            <a:off x="5303520" y="1618488"/>
            <a:ext cx="1078992" cy="347472"/>
          </a:xfrm>
          <a:prstGeom prst="rect">
            <a:avLst/>
          </a:prstGeom>
          <a:noFill/>
          <a:ln/>
        </p:spPr>
        <p:txBody>
          <a:bodyPr wrap="square" lIns="0" tIns="0" rIns="0" bIns="0" rtlCol="0" anchor="ctr"/>
          <a:lstStyle/>
          <a:p>
            <a:pPr marL="0" indent="0" algn="ctr">
              <a:buNone/>
            </a:pPr>
            <a:r>
              <a:rPr lang="en-US" sz="950" b="1" dirty="0">
                <a:solidFill>
                  <a:srgbClr val="FFFFFF"/>
                </a:solidFill>
                <a:latin typeface="Calibri" pitchFamily="34" charset="0"/>
                <a:ea typeface="Calibri" pitchFamily="34" charset="-122"/>
                <a:cs typeface="Calibri" pitchFamily="34" charset="-120"/>
              </a:rPr>
              <a:t>React Map</a:t>
            </a:r>
            <a:endParaRPr lang="en-US" sz="950" dirty="0"/>
          </a:p>
        </p:txBody>
      </p:sp>
      <p:sp>
        <p:nvSpPr>
          <p:cNvPr id="40" name="Text 37"/>
          <p:cNvSpPr/>
          <p:nvPr/>
        </p:nvSpPr>
        <p:spPr>
          <a:xfrm>
            <a:off x="5303520" y="1984248"/>
            <a:ext cx="1078992" cy="914400"/>
          </a:xfrm>
          <a:prstGeom prst="rect">
            <a:avLst/>
          </a:prstGeom>
          <a:noFill/>
          <a:ln/>
        </p:spPr>
        <p:txBody>
          <a:bodyPr wrap="square" lIns="0" tIns="0" rIns="0" bIns="0" rtlCol="0" anchor="ctr"/>
          <a:lstStyle/>
          <a:p>
            <a:pPr marL="0" indent="0" algn="ctr">
              <a:buNone/>
            </a:pPr>
            <a:r>
              <a:rPr lang="en-US" sz="800" dirty="0">
                <a:solidFill>
                  <a:srgbClr val="C8D6E5"/>
                </a:solidFill>
                <a:latin typeface="Calibri" pitchFamily="34" charset="0"/>
                <a:ea typeface="Calibri" pitchFamily="34" charset="-122"/>
                <a:cs typeface="Calibri" pitchFamily="34" charset="-120"/>
              </a:rPr>
              <a:t>Leaflet.js animates buses on real road tiles, crowd circles</a:t>
            </a:r>
            <a:endParaRPr lang="en-US" sz="800" dirty="0"/>
          </a:p>
        </p:txBody>
      </p:sp>
      <p:sp>
        <p:nvSpPr>
          <p:cNvPr id="41" name="Shape 38"/>
          <p:cNvSpPr/>
          <p:nvPr/>
        </p:nvSpPr>
        <p:spPr>
          <a:xfrm>
            <a:off x="6437376" y="1965960"/>
            <a:ext cx="91440" cy="0"/>
          </a:xfrm>
          <a:prstGeom prst="line">
            <a:avLst/>
          </a:prstGeom>
          <a:noFill/>
          <a:ln w="25400">
            <a:solidFill>
              <a:srgbClr val="2DC653"/>
            </a:solidFill>
            <a:prstDash val="solid"/>
          </a:ln>
        </p:spPr>
        <p:txBody>
          <a:bodyPr/>
          <a:lstStyle/>
          <a:p>
            <a:endParaRPr lang="en-IN"/>
          </a:p>
        </p:txBody>
      </p:sp>
      <p:sp>
        <p:nvSpPr>
          <p:cNvPr id="42" name="Shape 39"/>
          <p:cNvSpPr/>
          <p:nvPr/>
        </p:nvSpPr>
        <p:spPr>
          <a:xfrm>
            <a:off x="6537960" y="960120"/>
            <a:ext cx="1170432" cy="2011680"/>
          </a:xfrm>
          <a:prstGeom prst="rect">
            <a:avLst/>
          </a:prstGeom>
          <a:solidFill>
            <a:srgbClr val="2A3150"/>
          </a:solidFill>
          <a:ln/>
          <a:effectLst>
            <a:outerShdw blurRad="63500" dist="12700" dir="8100000" algn="bl" rotWithShape="0">
              <a:srgbClr val="000000">
                <a:alpha val="20000"/>
              </a:srgbClr>
            </a:outerShdw>
          </a:effectLst>
        </p:spPr>
        <p:txBody>
          <a:bodyPr/>
          <a:lstStyle/>
          <a:p>
            <a:endParaRPr lang="en-IN"/>
          </a:p>
        </p:txBody>
      </p:sp>
      <p:sp>
        <p:nvSpPr>
          <p:cNvPr id="43" name="Shape 40"/>
          <p:cNvSpPr/>
          <p:nvPr/>
        </p:nvSpPr>
        <p:spPr>
          <a:xfrm>
            <a:off x="6537960" y="960120"/>
            <a:ext cx="1170432" cy="64008"/>
          </a:xfrm>
          <a:prstGeom prst="rect">
            <a:avLst/>
          </a:prstGeom>
          <a:solidFill>
            <a:srgbClr val="2DC653"/>
          </a:solidFill>
          <a:ln/>
        </p:spPr>
        <p:txBody>
          <a:bodyPr/>
          <a:lstStyle/>
          <a:p>
            <a:endParaRPr lang="en-IN"/>
          </a:p>
        </p:txBody>
      </p:sp>
      <p:sp>
        <p:nvSpPr>
          <p:cNvPr id="44" name="Shape 41"/>
          <p:cNvSpPr/>
          <p:nvPr/>
        </p:nvSpPr>
        <p:spPr>
          <a:xfrm>
            <a:off x="6917436" y="1097280"/>
            <a:ext cx="411480" cy="411480"/>
          </a:xfrm>
          <a:prstGeom prst="line">
            <a:avLst/>
          </a:prstGeom>
          <a:solidFill>
            <a:srgbClr val="2DC653"/>
          </a:solidFill>
          <a:ln/>
        </p:spPr>
        <p:txBody>
          <a:bodyPr/>
          <a:lstStyle/>
          <a:p>
            <a:endParaRPr lang="en-IN"/>
          </a:p>
        </p:txBody>
      </p:sp>
      <p:sp>
        <p:nvSpPr>
          <p:cNvPr id="45" name="Text 42"/>
          <p:cNvSpPr/>
          <p:nvPr/>
        </p:nvSpPr>
        <p:spPr>
          <a:xfrm>
            <a:off x="6917436" y="1097280"/>
            <a:ext cx="411480" cy="411480"/>
          </a:xfrm>
          <a:prstGeom prst="rect">
            <a:avLst/>
          </a:prstGeom>
          <a:noFill/>
          <a:ln/>
        </p:spPr>
        <p:txBody>
          <a:bodyPr wrap="square" lIns="0" tIns="0" rIns="0" bIns="0" rtlCol="0" anchor="ctr"/>
          <a:lstStyle/>
          <a:p>
            <a:pPr marL="0" indent="0" algn="ctr">
              <a:buNone/>
            </a:pPr>
            <a:r>
              <a:rPr lang="en-US" sz="1200" b="1" dirty="0">
                <a:solidFill>
                  <a:srgbClr val="FFFFFF"/>
                </a:solidFill>
              </a:rPr>
              <a:t>06</a:t>
            </a:r>
            <a:endParaRPr lang="en-US" sz="1200" dirty="0"/>
          </a:p>
        </p:txBody>
      </p:sp>
      <p:sp>
        <p:nvSpPr>
          <p:cNvPr id="46" name="Text 43"/>
          <p:cNvSpPr/>
          <p:nvPr/>
        </p:nvSpPr>
        <p:spPr>
          <a:xfrm>
            <a:off x="6583680" y="1618488"/>
            <a:ext cx="1078992" cy="347472"/>
          </a:xfrm>
          <a:prstGeom prst="rect">
            <a:avLst/>
          </a:prstGeom>
          <a:noFill/>
          <a:ln/>
        </p:spPr>
        <p:txBody>
          <a:bodyPr wrap="square" lIns="0" tIns="0" rIns="0" bIns="0" rtlCol="0" anchor="ctr"/>
          <a:lstStyle/>
          <a:p>
            <a:pPr marL="0" indent="0" algn="ctr">
              <a:buNone/>
            </a:pPr>
            <a:r>
              <a:rPr lang="en-US" sz="950" b="1" dirty="0">
                <a:solidFill>
                  <a:srgbClr val="FFFFFF"/>
                </a:solidFill>
                <a:latin typeface="Calibri" pitchFamily="34" charset="0"/>
                <a:ea typeface="Calibri" pitchFamily="34" charset="-122"/>
                <a:cs typeface="Calibri" pitchFamily="34" charset="-120"/>
              </a:rPr>
              <a:t>Comparison</a:t>
            </a:r>
            <a:endParaRPr lang="en-US" sz="950" dirty="0"/>
          </a:p>
        </p:txBody>
      </p:sp>
      <p:sp>
        <p:nvSpPr>
          <p:cNvPr id="47" name="Text 44"/>
          <p:cNvSpPr/>
          <p:nvPr/>
        </p:nvSpPr>
        <p:spPr>
          <a:xfrm>
            <a:off x="6583680" y="1984248"/>
            <a:ext cx="1078992" cy="914400"/>
          </a:xfrm>
          <a:prstGeom prst="rect">
            <a:avLst/>
          </a:prstGeom>
          <a:noFill/>
          <a:ln/>
        </p:spPr>
        <p:txBody>
          <a:bodyPr wrap="square" lIns="0" tIns="0" rIns="0" bIns="0" rtlCol="0" anchor="ctr"/>
          <a:lstStyle/>
          <a:p>
            <a:pPr marL="0" indent="0" algn="ctr">
              <a:buNone/>
            </a:pPr>
            <a:r>
              <a:rPr lang="en-US" sz="800" dirty="0">
                <a:solidFill>
                  <a:srgbClr val="C8D6E5"/>
                </a:solidFill>
                <a:latin typeface="Calibri" pitchFamily="34" charset="0"/>
                <a:ea typeface="Calibri" pitchFamily="34" charset="-122"/>
                <a:cs typeface="Calibri" pitchFamily="34" charset="-120"/>
              </a:rPr>
              <a:t>Agentic V2X vs. Static: headway variance &amp; bunching events</a:t>
            </a:r>
            <a:endParaRPr lang="en-US" sz="800" dirty="0"/>
          </a:p>
        </p:txBody>
      </p:sp>
      <p:sp>
        <p:nvSpPr>
          <p:cNvPr id="48" name="Shape 45"/>
          <p:cNvSpPr/>
          <p:nvPr/>
        </p:nvSpPr>
        <p:spPr>
          <a:xfrm>
            <a:off x="7717536" y="1965960"/>
            <a:ext cx="91440" cy="0"/>
          </a:xfrm>
          <a:prstGeom prst="line">
            <a:avLst/>
          </a:prstGeom>
          <a:noFill/>
          <a:ln w="25400">
            <a:solidFill>
              <a:srgbClr val="2DC653"/>
            </a:solidFill>
            <a:prstDash val="solid"/>
          </a:ln>
        </p:spPr>
        <p:txBody>
          <a:bodyPr/>
          <a:lstStyle/>
          <a:p>
            <a:endParaRPr lang="en-IN"/>
          </a:p>
        </p:txBody>
      </p:sp>
      <p:sp>
        <p:nvSpPr>
          <p:cNvPr id="49" name="Shape 46"/>
          <p:cNvSpPr/>
          <p:nvPr/>
        </p:nvSpPr>
        <p:spPr>
          <a:xfrm>
            <a:off x="7818120" y="960120"/>
            <a:ext cx="1170432" cy="2011680"/>
          </a:xfrm>
          <a:prstGeom prst="rect">
            <a:avLst/>
          </a:prstGeom>
          <a:solidFill>
            <a:srgbClr val="2A3150"/>
          </a:solidFill>
          <a:ln/>
          <a:effectLst>
            <a:outerShdw blurRad="63500" dist="12700" dir="8100000" algn="bl" rotWithShape="0">
              <a:srgbClr val="000000">
                <a:alpha val="20000"/>
              </a:srgbClr>
            </a:outerShdw>
          </a:effectLst>
        </p:spPr>
        <p:txBody>
          <a:bodyPr/>
          <a:lstStyle/>
          <a:p>
            <a:endParaRPr lang="en-IN"/>
          </a:p>
        </p:txBody>
      </p:sp>
      <p:sp>
        <p:nvSpPr>
          <p:cNvPr id="50" name="Shape 47"/>
          <p:cNvSpPr/>
          <p:nvPr/>
        </p:nvSpPr>
        <p:spPr>
          <a:xfrm>
            <a:off x="7818120" y="960120"/>
            <a:ext cx="1170432" cy="64008"/>
          </a:xfrm>
          <a:prstGeom prst="rect">
            <a:avLst/>
          </a:prstGeom>
          <a:solidFill>
            <a:srgbClr val="0D9488"/>
          </a:solidFill>
          <a:ln/>
        </p:spPr>
        <p:txBody>
          <a:bodyPr/>
          <a:lstStyle/>
          <a:p>
            <a:endParaRPr lang="en-IN"/>
          </a:p>
        </p:txBody>
      </p:sp>
      <p:sp>
        <p:nvSpPr>
          <p:cNvPr id="51" name="Shape 48"/>
          <p:cNvSpPr/>
          <p:nvPr/>
        </p:nvSpPr>
        <p:spPr>
          <a:xfrm>
            <a:off x="8197596" y="1097280"/>
            <a:ext cx="411480" cy="411480"/>
          </a:xfrm>
          <a:prstGeom prst="line">
            <a:avLst/>
          </a:prstGeom>
          <a:solidFill>
            <a:srgbClr val="0D9488"/>
          </a:solidFill>
          <a:ln/>
        </p:spPr>
        <p:txBody>
          <a:bodyPr/>
          <a:lstStyle/>
          <a:p>
            <a:endParaRPr lang="en-IN"/>
          </a:p>
        </p:txBody>
      </p:sp>
      <p:sp>
        <p:nvSpPr>
          <p:cNvPr id="52" name="Text 49"/>
          <p:cNvSpPr/>
          <p:nvPr/>
        </p:nvSpPr>
        <p:spPr>
          <a:xfrm>
            <a:off x="8197596" y="1097280"/>
            <a:ext cx="411480" cy="411480"/>
          </a:xfrm>
          <a:prstGeom prst="rect">
            <a:avLst/>
          </a:prstGeom>
          <a:noFill/>
          <a:ln/>
        </p:spPr>
        <p:txBody>
          <a:bodyPr wrap="square" lIns="0" tIns="0" rIns="0" bIns="0" rtlCol="0" anchor="ctr"/>
          <a:lstStyle/>
          <a:p>
            <a:pPr marL="0" indent="0" algn="ctr">
              <a:buNone/>
            </a:pPr>
            <a:r>
              <a:rPr lang="en-US" sz="1200" b="1" dirty="0">
                <a:solidFill>
                  <a:srgbClr val="FFFFFF"/>
                </a:solidFill>
              </a:rPr>
              <a:t>07</a:t>
            </a:r>
            <a:endParaRPr lang="en-US" sz="1200" dirty="0"/>
          </a:p>
        </p:txBody>
      </p:sp>
      <p:sp>
        <p:nvSpPr>
          <p:cNvPr id="53" name="Text 50"/>
          <p:cNvSpPr/>
          <p:nvPr/>
        </p:nvSpPr>
        <p:spPr>
          <a:xfrm>
            <a:off x="7863840" y="1618488"/>
            <a:ext cx="1078992" cy="347472"/>
          </a:xfrm>
          <a:prstGeom prst="rect">
            <a:avLst/>
          </a:prstGeom>
          <a:noFill/>
          <a:ln/>
        </p:spPr>
        <p:txBody>
          <a:bodyPr wrap="square" lIns="0" tIns="0" rIns="0" bIns="0" rtlCol="0" anchor="ctr"/>
          <a:lstStyle/>
          <a:p>
            <a:pPr marL="0" indent="0" algn="ctr">
              <a:buNone/>
            </a:pPr>
            <a:r>
              <a:rPr lang="en-US" sz="950" b="1" dirty="0">
                <a:solidFill>
                  <a:srgbClr val="FFFFFF"/>
                </a:solidFill>
                <a:latin typeface="Calibri" pitchFamily="34" charset="0"/>
                <a:ea typeface="Calibri" pitchFamily="34" charset="-122"/>
                <a:cs typeface="Calibri" pitchFamily="34" charset="-120"/>
              </a:rPr>
              <a:t>Web App</a:t>
            </a:r>
            <a:endParaRPr lang="en-US" sz="950" dirty="0"/>
          </a:p>
        </p:txBody>
      </p:sp>
      <p:sp>
        <p:nvSpPr>
          <p:cNvPr id="54" name="Text 51"/>
          <p:cNvSpPr/>
          <p:nvPr/>
        </p:nvSpPr>
        <p:spPr>
          <a:xfrm>
            <a:off x="7863840" y="1984248"/>
            <a:ext cx="1078992" cy="914400"/>
          </a:xfrm>
          <a:prstGeom prst="rect">
            <a:avLst/>
          </a:prstGeom>
          <a:noFill/>
          <a:ln/>
        </p:spPr>
        <p:txBody>
          <a:bodyPr wrap="square" lIns="0" tIns="0" rIns="0" bIns="0" rtlCol="0" anchor="ctr"/>
          <a:lstStyle/>
          <a:p>
            <a:pPr marL="0" indent="0" algn="ctr">
              <a:buNone/>
            </a:pPr>
            <a:r>
              <a:rPr lang="en-US" sz="800" dirty="0">
                <a:solidFill>
                  <a:srgbClr val="C8D6E5"/>
                </a:solidFill>
                <a:latin typeface="Calibri" pitchFamily="34" charset="0"/>
                <a:ea typeface="Calibri" pitchFamily="34" charset="-122"/>
                <a:cs typeface="Calibri" pitchFamily="34" charset="-120"/>
              </a:rPr>
              <a:t>React + Leaflet: buses on real OSM tiles, V2V chat panel</a:t>
            </a:r>
            <a:endParaRPr lang="en-US" sz="800" dirty="0"/>
          </a:p>
        </p:txBody>
      </p:sp>
      <p:sp>
        <p:nvSpPr>
          <p:cNvPr id="55" name="Shape 52"/>
          <p:cNvSpPr/>
          <p:nvPr/>
        </p:nvSpPr>
        <p:spPr>
          <a:xfrm>
            <a:off x="274320" y="3127248"/>
            <a:ext cx="8595360" cy="594360"/>
          </a:xfrm>
          <a:prstGeom prst="rect">
            <a:avLst/>
          </a:prstGeom>
          <a:solidFill>
            <a:srgbClr val="1E2640"/>
          </a:solidFill>
          <a:ln/>
        </p:spPr>
        <p:txBody>
          <a:bodyPr/>
          <a:lstStyle/>
          <a:p>
            <a:endParaRPr lang="en-IN"/>
          </a:p>
        </p:txBody>
      </p:sp>
      <p:sp>
        <p:nvSpPr>
          <p:cNvPr id="56" name="Shape 53"/>
          <p:cNvSpPr/>
          <p:nvPr/>
        </p:nvSpPr>
        <p:spPr>
          <a:xfrm>
            <a:off x="274320" y="3127248"/>
            <a:ext cx="54864" cy="594360"/>
          </a:xfrm>
          <a:prstGeom prst="rect">
            <a:avLst/>
          </a:prstGeom>
          <a:solidFill>
            <a:srgbClr val="E63946"/>
          </a:solidFill>
          <a:ln/>
        </p:spPr>
        <p:txBody>
          <a:bodyPr/>
          <a:lstStyle/>
          <a:p>
            <a:endParaRPr lang="en-IN"/>
          </a:p>
        </p:txBody>
      </p:sp>
      <p:sp>
        <p:nvSpPr>
          <p:cNvPr id="57" name="Text 54"/>
          <p:cNvSpPr/>
          <p:nvPr/>
        </p:nvSpPr>
        <p:spPr>
          <a:xfrm>
            <a:off x="411480" y="3145536"/>
            <a:ext cx="1828800" cy="274320"/>
          </a:xfrm>
          <a:prstGeom prst="rect">
            <a:avLst/>
          </a:prstGeom>
          <a:noFill/>
          <a:ln/>
        </p:spPr>
        <p:txBody>
          <a:bodyPr wrap="square" lIns="0" tIns="0" rIns="0" bIns="0" rtlCol="0" anchor="ctr"/>
          <a:lstStyle/>
          <a:p>
            <a:pPr marL="0" indent="0">
              <a:buNone/>
            </a:pPr>
            <a:r>
              <a:rPr lang="en-US" sz="950" b="1" dirty="0">
                <a:solidFill>
                  <a:srgbClr val="F4A261"/>
                </a:solidFill>
                <a:latin typeface="Calibri" pitchFamily="34" charset="0"/>
                <a:ea typeface="Calibri" pitchFamily="34" charset="-122"/>
                <a:cs typeface="Calibri" pitchFamily="34" charset="-120"/>
              </a:rPr>
              <a:t>V2X Agent Decision Loop:</a:t>
            </a:r>
            <a:endParaRPr lang="en-US" sz="950" dirty="0"/>
          </a:p>
        </p:txBody>
      </p:sp>
      <p:sp>
        <p:nvSpPr>
          <p:cNvPr id="58" name="Text 55"/>
          <p:cNvSpPr/>
          <p:nvPr/>
        </p:nvSpPr>
        <p:spPr>
          <a:xfrm>
            <a:off x="411480" y="3419856"/>
            <a:ext cx="8229600" cy="256032"/>
          </a:xfrm>
          <a:prstGeom prst="rect">
            <a:avLst/>
          </a:prstGeom>
          <a:noFill/>
          <a:ln/>
        </p:spPr>
        <p:txBody>
          <a:bodyPr wrap="square" lIns="0" tIns="0" rIns="0" bIns="0" rtlCol="0" anchor="ctr"/>
          <a:lstStyle/>
          <a:p>
            <a:pPr marL="0" indent="0">
              <a:buNone/>
            </a:pPr>
            <a:r>
              <a:rPr lang="en-US" sz="1000" i="1" dirty="0">
                <a:solidFill>
                  <a:srgbClr val="C8D6E5"/>
                </a:solidFill>
                <a:latin typeface="Calibri" pitchFamily="34" charset="0"/>
                <a:ea typeface="Calibri" pitchFamily="34" charset="-122"/>
                <a:cs typeface="Calibri" pitchFamily="34" charset="-120"/>
              </a:rPr>
              <a:t>[TMC] → broadcasts traffic event → [Bus 1] receives V2I update → V2V debate with [Bus 2] → JSON action: { bus_1_action, bus_2_action, reasoning }</a:t>
            </a:r>
            <a:endParaRPr lang="en-US" sz="1000" dirty="0"/>
          </a:p>
        </p:txBody>
      </p:sp>
      <p:sp>
        <p:nvSpPr>
          <p:cNvPr id="59" name="Shape 56"/>
          <p:cNvSpPr/>
          <p:nvPr/>
        </p:nvSpPr>
        <p:spPr>
          <a:xfrm>
            <a:off x="274320" y="3822192"/>
            <a:ext cx="2724912" cy="822960"/>
          </a:xfrm>
          <a:prstGeom prst="rect">
            <a:avLst/>
          </a:prstGeom>
          <a:solidFill>
            <a:srgbClr val="2A3150"/>
          </a:solidFill>
          <a:ln/>
        </p:spPr>
        <p:txBody>
          <a:bodyPr/>
          <a:lstStyle/>
          <a:p>
            <a:endParaRPr lang="en-IN"/>
          </a:p>
        </p:txBody>
      </p:sp>
      <p:sp>
        <p:nvSpPr>
          <p:cNvPr id="60" name="Shape 57"/>
          <p:cNvSpPr/>
          <p:nvPr/>
        </p:nvSpPr>
        <p:spPr>
          <a:xfrm>
            <a:off x="274320" y="3822192"/>
            <a:ext cx="2724912" cy="64008"/>
          </a:xfrm>
          <a:prstGeom prst="rect">
            <a:avLst/>
          </a:prstGeom>
          <a:solidFill>
            <a:srgbClr val="457B9D"/>
          </a:solidFill>
          <a:ln/>
        </p:spPr>
        <p:txBody>
          <a:bodyPr/>
          <a:lstStyle/>
          <a:p>
            <a:endParaRPr lang="en-IN"/>
          </a:p>
        </p:txBody>
      </p:sp>
      <p:sp>
        <p:nvSpPr>
          <p:cNvPr id="61" name="Text 58"/>
          <p:cNvSpPr/>
          <p:nvPr/>
        </p:nvSpPr>
        <p:spPr>
          <a:xfrm>
            <a:off x="347472" y="3913632"/>
            <a:ext cx="822960" cy="256032"/>
          </a:xfrm>
          <a:prstGeom prst="rect">
            <a:avLst/>
          </a:prstGeom>
          <a:noFill/>
          <a:ln/>
        </p:spPr>
        <p:txBody>
          <a:bodyPr wrap="square" lIns="0" tIns="0" rIns="0" bIns="0" rtlCol="0" anchor="ctr"/>
          <a:lstStyle/>
          <a:p>
            <a:pPr marL="0" indent="0">
              <a:buNone/>
            </a:pPr>
            <a:r>
              <a:rPr lang="en-US" sz="1100" b="1" dirty="0">
                <a:solidFill>
                  <a:srgbClr val="457B9D"/>
                </a:solidFill>
                <a:latin typeface="Calibri Black" pitchFamily="34" charset="0"/>
                <a:ea typeface="Calibri Black" pitchFamily="34" charset="-122"/>
                <a:cs typeface="Calibri Black" pitchFamily="34" charset="-120"/>
              </a:rPr>
              <a:t>HOLD</a:t>
            </a:r>
            <a:endParaRPr lang="en-US" sz="1100" dirty="0"/>
          </a:p>
        </p:txBody>
      </p:sp>
      <p:sp>
        <p:nvSpPr>
          <p:cNvPr id="62" name="Text 59"/>
          <p:cNvSpPr/>
          <p:nvPr/>
        </p:nvSpPr>
        <p:spPr>
          <a:xfrm>
            <a:off x="347472" y="4160520"/>
            <a:ext cx="2578608" cy="438912"/>
          </a:xfrm>
          <a:prstGeom prst="rect">
            <a:avLst/>
          </a:prstGeom>
          <a:noFill/>
          <a:ln/>
        </p:spPr>
        <p:txBody>
          <a:bodyPr wrap="square" lIns="0" tIns="0" rIns="0" bIns="0" rtlCol="0" anchor="ctr"/>
          <a:lstStyle/>
          <a:p>
            <a:pPr marL="0" indent="0">
              <a:buNone/>
            </a:pPr>
            <a:r>
              <a:rPr lang="en-US" sz="850" dirty="0">
                <a:solidFill>
                  <a:srgbClr val="C8D6E5"/>
                </a:solidFill>
                <a:latin typeface="Calibri" pitchFamily="34" charset="0"/>
                <a:ea typeface="Calibri" pitchFamily="34" charset="-122"/>
                <a:cs typeface="Calibri" pitchFamily="34" charset="-120"/>
              </a:rPr>
              <a:t>Bus 1 holds at stop. Trailing Bus 2 catches spacing. Prevents cascade forward.</a:t>
            </a:r>
            <a:endParaRPr lang="en-US" sz="850" dirty="0"/>
          </a:p>
        </p:txBody>
      </p:sp>
      <p:sp>
        <p:nvSpPr>
          <p:cNvPr id="63" name="Shape 60"/>
          <p:cNvSpPr/>
          <p:nvPr/>
        </p:nvSpPr>
        <p:spPr>
          <a:xfrm>
            <a:off x="3172968" y="3822192"/>
            <a:ext cx="2724912" cy="822960"/>
          </a:xfrm>
          <a:prstGeom prst="rect">
            <a:avLst/>
          </a:prstGeom>
          <a:solidFill>
            <a:srgbClr val="2A3150"/>
          </a:solidFill>
          <a:ln/>
        </p:spPr>
        <p:txBody>
          <a:bodyPr/>
          <a:lstStyle/>
          <a:p>
            <a:endParaRPr lang="en-IN"/>
          </a:p>
        </p:txBody>
      </p:sp>
      <p:sp>
        <p:nvSpPr>
          <p:cNvPr id="64" name="Shape 61"/>
          <p:cNvSpPr/>
          <p:nvPr/>
        </p:nvSpPr>
        <p:spPr>
          <a:xfrm>
            <a:off x="3172968" y="3822192"/>
            <a:ext cx="2724912" cy="64008"/>
          </a:xfrm>
          <a:prstGeom prst="rect">
            <a:avLst/>
          </a:prstGeom>
          <a:solidFill>
            <a:srgbClr val="E63946"/>
          </a:solidFill>
          <a:ln/>
        </p:spPr>
        <p:txBody>
          <a:bodyPr/>
          <a:lstStyle/>
          <a:p>
            <a:endParaRPr lang="en-IN"/>
          </a:p>
        </p:txBody>
      </p:sp>
      <p:sp>
        <p:nvSpPr>
          <p:cNvPr id="65" name="Text 62"/>
          <p:cNvSpPr/>
          <p:nvPr/>
        </p:nvSpPr>
        <p:spPr>
          <a:xfrm>
            <a:off x="3246120" y="3913632"/>
            <a:ext cx="822960" cy="256032"/>
          </a:xfrm>
          <a:prstGeom prst="rect">
            <a:avLst/>
          </a:prstGeom>
          <a:noFill/>
          <a:ln/>
        </p:spPr>
        <p:txBody>
          <a:bodyPr wrap="square" lIns="0" tIns="0" rIns="0" bIns="0" rtlCol="0" anchor="ctr"/>
          <a:lstStyle/>
          <a:p>
            <a:pPr marL="0" indent="0">
              <a:buNone/>
            </a:pPr>
            <a:r>
              <a:rPr lang="en-US" sz="1100" b="1" dirty="0">
                <a:solidFill>
                  <a:srgbClr val="E63946"/>
                </a:solidFill>
                <a:latin typeface="Calibri Black" pitchFamily="34" charset="0"/>
                <a:ea typeface="Calibri Black" pitchFamily="34" charset="-122"/>
                <a:cs typeface="Calibri Black" pitchFamily="34" charset="-120"/>
              </a:rPr>
              <a:t>SKIP</a:t>
            </a:r>
            <a:endParaRPr lang="en-US" sz="1100" dirty="0"/>
          </a:p>
        </p:txBody>
      </p:sp>
      <p:sp>
        <p:nvSpPr>
          <p:cNvPr id="66" name="Text 63"/>
          <p:cNvSpPr/>
          <p:nvPr/>
        </p:nvSpPr>
        <p:spPr>
          <a:xfrm>
            <a:off x="3246120" y="4160520"/>
            <a:ext cx="2578608" cy="438912"/>
          </a:xfrm>
          <a:prstGeom prst="rect">
            <a:avLst/>
          </a:prstGeom>
          <a:noFill/>
          <a:ln/>
        </p:spPr>
        <p:txBody>
          <a:bodyPr wrap="square" lIns="0" tIns="0" rIns="0" bIns="0" rtlCol="0" anchor="ctr"/>
          <a:lstStyle/>
          <a:p>
            <a:pPr marL="0" indent="0">
              <a:buNone/>
            </a:pPr>
            <a:r>
              <a:rPr lang="en-US" sz="850" dirty="0">
                <a:solidFill>
                  <a:srgbClr val="C8D6E5"/>
                </a:solidFill>
                <a:latin typeface="Calibri" pitchFamily="34" charset="0"/>
                <a:ea typeface="Calibri" pitchFamily="34" charset="-122"/>
                <a:cs typeface="Calibri" pitchFamily="34" charset="-120"/>
              </a:rPr>
              <a:t>Bus 1 bypasses stop. Bus 2 executes “sweep” — picks up all waiting passengers. TMC updates ATIS signboard.</a:t>
            </a:r>
            <a:endParaRPr lang="en-US" sz="850" dirty="0"/>
          </a:p>
        </p:txBody>
      </p:sp>
      <p:sp>
        <p:nvSpPr>
          <p:cNvPr id="67" name="Shape 64"/>
          <p:cNvSpPr/>
          <p:nvPr/>
        </p:nvSpPr>
        <p:spPr>
          <a:xfrm>
            <a:off x="6071616" y="3822192"/>
            <a:ext cx="2724912" cy="822960"/>
          </a:xfrm>
          <a:prstGeom prst="rect">
            <a:avLst/>
          </a:prstGeom>
          <a:solidFill>
            <a:srgbClr val="2A3150"/>
          </a:solidFill>
          <a:ln/>
        </p:spPr>
        <p:txBody>
          <a:bodyPr/>
          <a:lstStyle/>
          <a:p>
            <a:endParaRPr lang="en-IN"/>
          </a:p>
        </p:txBody>
      </p:sp>
      <p:sp>
        <p:nvSpPr>
          <p:cNvPr id="68" name="Shape 65"/>
          <p:cNvSpPr/>
          <p:nvPr/>
        </p:nvSpPr>
        <p:spPr>
          <a:xfrm>
            <a:off x="6071616" y="3822192"/>
            <a:ext cx="2724912" cy="64008"/>
          </a:xfrm>
          <a:prstGeom prst="rect">
            <a:avLst/>
          </a:prstGeom>
          <a:solidFill>
            <a:srgbClr val="2DC653"/>
          </a:solidFill>
          <a:ln/>
        </p:spPr>
        <p:txBody>
          <a:bodyPr/>
          <a:lstStyle/>
          <a:p>
            <a:endParaRPr lang="en-IN"/>
          </a:p>
        </p:txBody>
      </p:sp>
      <p:sp>
        <p:nvSpPr>
          <p:cNvPr id="69" name="Text 66"/>
          <p:cNvSpPr/>
          <p:nvPr/>
        </p:nvSpPr>
        <p:spPr>
          <a:xfrm>
            <a:off x="6144768" y="3913632"/>
            <a:ext cx="822960" cy="256032"/>
          </a:xfrm>
          <a:prstGeom prst="rect">
            <a:avLst/>
          </a:prstGeom>
          <a:noFill/>
          <a:ln/>
        </p:spPr>
        <p:txBody>
          <a:bodyPr wrap="square" lIns="0" tIns="0" rIns="0" bIns="0" rtlCol="0" anchor="ctr"/>
          <a:lstStyle/>
          <a:p>
            <a:pPr marL="0" indent="0">
              <a:buNone/>
            </a:pPr>
            <a:r>
              <a:rPr lang="en-US" sz="1100" b="1" dirty="0">
                <a:solidFill>
                  <a:srgbClr val="2DC653"/>
                </a:solidFill>
                <a:latin typeface="Calibri Black" pitchFamily="34" charset="0"/>
                <a:ea typeface="Calibri Black" pitchFamily="34" charset="-122"/>
                <a:cs typeface="Calibri Black" pitchFamily="34" charset="-120"/>
              </a:rPr>
              <a:t>PROCEED</a:t>
            </a:r>
            <a:endParaRPr lang="en-US" sz="1100" dirty="0"/>
          </a:p>
        </p:txBody>
      </p:sp>
      <p:sp>
        <p:nvSpPr>
          <p:cNvPr id="70" name="Text 67"/>
          <p:cNvSpPr/>
          <p:nvPr/>
        </p:nvSpPr>
        <p:spPr>
          <a:xfrm>
            <a:off x="6144768" y="4160520"/>
            <a:ext cx="2578608" cy="438912"/>
          </a:xfrm>
          <a:prstGeom prst="rect">
            <a:avLst/>
          </a:prstGeom>
          <a:noFill/>
          <a:ln/>
        </p:spPr>
        <p:txBody>
          <a:bodyPr wrap="square" lIns="0" tIns="0" rIns="0" bIns="0" rtlCol="0" anchor="ctr"/>
          <a:lstStyle/>
          <a:p>
            <a:pPr marL="0" indent="0">
              <a:buNone/>
            </a:pPr>
            <a:r>
              <a:rPr lang="en-US" sz="850" dirty="0">
                <a:solidFill>
                  <a:srgbClr val="C8D6E5"/>
                </a:solidFill>
                <a:latin typeface="Calibri" pitchFamily="34" charset="0"/>
                <a:ea typeface="Calibri" pitchFamily="34" charset="-122"/>
                <a:cs typeface="Calibri" pitchFamily="34" charset="-120"/>
              </a:rPr>
              <a:t>No threat detected. Bus departs on schedule. Optimal headway maintained.</a:t>
            </a:r>
            <a:endParaRPr lang="en-US" sz="850" dirty="0"/>
          </a:p>
        </p:txBody>
      </p:sp>
      <p:pic>
        <p:nvPicPr>
          <p:cNvPr id="71" name="Picture 70">
            <a:extLst>
              <a:ext uri="{FF2B5EF4-FFF2-40B4-BE49-F238E27FC236}">
                <a16:creationId xmlns:a16="http://schemas.microsoft.com/office/drawing/2014/main" id="{162BD203-D42E-2933-0C8D-8F90DACCCEE2}"/>
              </a:ext>
            </a:extLst>
          </p:cNvPr>
          <p:cNvPicPr>
            <a:picLocks noChangeAspect="1"/>
          </p:cNvPicPr>
          <p:nvPr/>
        </p:nvPicPr>
        <p:blipFill>
          <a:blip r:embed="rId3"/>
          <a:stretch>
            <a:fillRect/>
          </a:stretch>
        </p:blipFill>
        <p:spPr>
          <a:xfrm>
            <a:off x="91440" y="128016"/>
            <a:ext cx="1700784" cy="728907"/>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1A1F2E"/>
        </a:solidFill>
        <a:effectLst/>
      </p:bgPr>
    </p:bg>
    <p:spTree>
      <p:nvGrpSpPr>
        <p:cNvPr id="1" name=""/>
        <p:cNvGrpSpPr/>
        <p:nvPr/>
      </p:nvGrpSpPr>
      <p:grpSpPr>
        <a:xfrm>
          <a:off x="0" y="0"/>
          <a:ext cx="0" cy="0"/>
          <a:chOff x="0" y="0"/>
          <a:chExt cx="0" cy="0"/>
        </a:xfrm>
      </p:grpSpPr>
      <p:sp>
        <p:nvSpPr>
          <p:cNvPr id="2" name="Shape 0"/>
          <p:cNvSpPr/>
          <p:nvPr/>
        </p:nvSpPr>
        <p:spPr>
          <a:xfrm>
            <a:off x="0" y="0"/>
            <a:ext cx="9144000" cy="64008"/>
          </a:xfrm>
          <a:prstGeom prst="rect">
            <a:avLst/>
          </a:prstGeom>
          <a:solidFill>
            <a:srgbClr val="E63946"/>
          </a:solidFill>
          <a:ln/>
        </p:spPr>
        <p:txBody>
          <a:bodyPr/>
          <a:lstStyle/>
          <a:p>
            <a:endParaRPr lang="en-IN"/>
          </a:p>
        </p:txBody>
      </p:sp>
      <p:sp>
        <p:nvSpPr>
          <p:cNvPr id="3" name="Shape 1"/>
          <p:cNvSpPr/>
          <p:nvPr/>
        </p:nvSpPr>
        <p:spPr>
          <a:xfrm>
            <a:off x="0" y="64008"/>
            <a:ext cx="9144000" cy="658368"/>
          </a:xfrm>
          <a:prstGeom prst="rect">
            <a:avLst/>
          </a:prstGeom>
          <a:solidFill>
            <a:srgbClr val="2A3150"/>
          </a:solidFill>
          <a:ln/>
        </p:spPr>
        <p:txBody>
          <a:bodyPr/>
          <a:lstStyle/>
          <a:p>
            <a:endParaRPr lang="en-IN"/>
          </a:p>
        </p:txBody>
      </p:sp>
      <p:sp>
        <p:nvSpPr>
          <p:cNvPr id="5" name="Text 2"/>
          <p:cNvSpPr/>
          <p:nvPr/>
        </p:nvSpPr>
        <p:spPr>
          <a:xfrm>
            <a:off x="2011680" y="91440"/>
            <a:ext cx="5029200" cy="548640"/>
          </a:xfrm>
          <a:prstGeom prst="rect">
            <a:avLst/>
          </a:prstGeom>
          <a:noFill/>
          <a:ln/>
        </p:spPr>
        <p:txBody>
          <a:bodyPr wrap="square" lIns="0" tIns="0" rIns="0" bIns="0" rtlCol="0" anchor="ctr"/>
          <a:lstStyle/>
          <a:p>
            <a:pPr marL="0" indent="0">
              <a:buNone/>
            </a:pPr>
            <a:r>
              <a:rPr lang="en-US" sz="2000" b="1" dirty="0">
                <a:solidFill>
                  <a:srgbClr val="FFFFFF"/>
                </a:solidFill>
                <a:latin typeface="Calibri" pitchFamily="34" charset="0"/>
                <a:ea typeface="Calibri" pitchFamily="34" charset="-122"/>
                <a:cs typeface="Calibri" pitchFamily="34" charset="-120"/>
              </a:rPr>
              <a:t>Proposed Tools &amp; Techniques</a:t>
            </a:r>
            <a:endParaRPr lang="en-US" sz="2000" dirty="0"/>
          </a:p>
        </p:txBody>
      </p:sp>
      <p:sp>
        <p:nvSpPr>
          <p:cNvPr id="6" name="Text 3"/>
          <p:cNvSpPr/>
          <p:nvPr/>
        </p:nvSpPr>
        <p:spPr>
          <a:xfrm>
            <a:off x="6858000" y="109728"/>
            <a:ext cx="2103120" cy="502920"/>
          </a:xfrm>
          <a:prstGeom prst="rect">
            <a:avLst/>
          </a:prstGeom>
          <a:noFill/>
          <a:ln/>
        </p:spPr>
        <p:txBody>
          <a:bodyPr wrap="square" lIns="0" tIns="0" rIns="0" bIns="0" rtlCol="0" anchor="ctr"/>
          <a:lstStyle/>
          <a:p>
            <a:pPr marL="0" indent="0" algn="r">
              <a:buNone/>
            </a:pPr>
            <a:r>
              <a:rPr lang="en-US" sz="1000" i="1" dirty="0">
                <a:solidFill>
                  <a:srgbClr val="7A8FA6"/>
                </a:solidFill>
                <a:latin typeface="Georgia" pitchFamily="34" charset="0"/>
                <a:ea typeface="Georgia" pitchFamily="34" charset="-122"/>
                <a:cs typeface="Georgia" pitchFamily="34" charset="-120"/>
              </a:rPr>
              <a:t>Go, change the world</a:t>
            </a:r>
            <a:endParaRPr lang="en-US" sz="1000" dirty="0"/>
          </a:p>
        </p:txBody>
      </p:sp>
      <p:sp>
        <p:nvSpPr>
          <p:cNvPr id="7" name="Shape 4"/>
          <p:cNvSpPr/>
          <p:nvPr/>
        </p:nvSpPr>
        <p:spPr>
          <a:xfrm>
            <a:off x="228600" y="914400"/>
            <a:ext cx="2011680" cy="1938528"/>
          </a:xfrm>
          <a:prstGeom prst="rect">
            <a:avLst/>
          </a:prstGeom>
          <a:solidFill>
            <a:srgbClr val="2A3150"/>
          </a:solidFill>
          <a:ln/>
          <a:effectLst>
            <a:outerShdw blurRad="76200" dist="25400" dir="8100000" algn="bl" rotWithShape="0">
              <a:srgbClr val="000000">
                <a:alpha val="20000"/>
              </a:srgbClr>
            </a:outerShdw>
          </a:effectLst>
        </p:spPr>
        <p:txBody>
          <a:bodyPr/>
          <a:lstStyle/>
          <a:p>
            <a:endParaRPr lang="en-IN"/>
          </a:p>
        </p:txBody>
      </p:sp>
      <p:sp>
        <p:nvSpPr>
          <p:cNvPr id="8" name="Shape 5"/>
          <p:cNvSpPr/>
          <p:nvPr/>
        </p:nvSpPr>
        <p:spPr>
          <a:xfrm>
            <a:off x="228600" y="914400"/>
            <a:ext cx="2011680" cy="64008"/>
          </a:xfrm>
          <a:prstGeom prst="rect">
            <a:avLst/>
          </a:prstGeom>
          <a:solidFill>
            <a:srgbClr val="E63946"/>
          </a:solidFill>
          <a:ln/>
        </p:spPr>
        <p:txBody>
          <a:bodyPr/>
          <a:lstStyle/>
          <a:p>
            <a:endParaRPr lang="en-IN"/>
          </a:p>
        </p:txBody>
      </p:sp>
      <p:sp>
        <p:nvSpPr>
          <p:cNvPr id="9" name="Text 6"/>
          <p:cNvSpPr/>
          <p:nvPr/>
        </p:nvSpPr>
        <p:spPr>
          <a:xfrm>
            <a:off x="301752" y="1005840"/>
            <a:ext cx="1865376" cy="292608"/>
          </a:xfrm>
          <a:prstGeom prst="rect">
            <a:avLst/>
          </a:prstGeom>
          <a:noFill/>
          <a:ln/>
        </p:spPr>
        <p:txBody>
          <a:bodyPr wrap="square" lIns="0" tIns="0" rIns="0" bIns="0" rtlCol="0" anchor="ctr"/>
          <a:lstStyle/>
          <a:p>
            <a:pPr marL="0" indent="0">
              <a:buNone/>
            </a:pPr>
            <a:r>
              <a:rPr lang="en-US" sz="1000" b="1" dirty="0">
                <a:solidFill>
                  <a:srgbClr val="FFFFFF"/>
                </a:solidFill>
                <a:latin typeface="Calibri" pitchFamily="34" charset="0"/>
                <a:ea typeface="Calibri" pitchFamily="34" charset="-122"/>
                <a:cs typeface="Calibri" pitchFamily="34" charset="-120"/>
              </a:rPr>
              <a:t>Map &amp; Route Engine</a:t>
            </a:r>
            <a:endParaRPr lang="en-US" sz="1000" dirty="0"/>
          </a:p>
        </p:txBody>
      </p:sp>
      <p:sp>
        <p:nvSpPr>
          <p:cNvPr id="10" name="Shape 7"/>
          <p:cNvSpPr/>
          <p:nvPr/>
        </p:nvSpPr>
        <p:spPr>
          <a:xfrm>
            <a:off x="301752" y="1335024"/>
            <a:ext cx="1865376" cy="530352"/>
          </a:xfrm>
          <a:prstGeom prst="rect">
            <a:avLst/>
          </a:prstGeom>
          <a:solidFill>
            <a:srgbClr val="1E2640"/>
          </a:solidFill>
          <a:ln/>
        </p:spPr>
        <p:txBody>
          <a:bodyPr/>
          <a:lstStyle/>
          <a:p>
            <a:endParaRPr lang="en-IN"/>
          </a:p>
        </p:txBody>
      </p:sp>
      <p:sp>
        <p:nvSpPr>
          <p:cNvPr id="11" name="Text 8"/>
          <p:cNvSpPr/>
          <p:nvPr/>
        </p:nvSpPr>
        <p:spPr>
          <a:xfrm>
            <a:off x="320040" y="1353312"/>
            <a:ext cx="1828800" cy="493776"/>
          </a:xfrm>
          <a:prstGeom prst="rect">
            <a:avLst/>
          </a:prstGeom>
          <a:noFill/>
          <a:ln/>
        </p:spPr>
        <p:txBody>
          <a:bodyPr wrap="square" lIns="25400" tIns="25400" rIns="25400" bIns="25400" rtlCol="0" anchor="ctr"/>
          <a:lstStyle/>
          <a:p>
            <a:pPr marL="0" indent="0">
              <a:buNone/>
            </a:pPr>
            <a:r>
              <a:rPr lang="en-US" sz="900" b="1" dirty="0">
                <a:solidFill>
                  <a:srgbClr val="E63946"/>
                </a:solidFill>
                <a:latin typeface="Calibri" pitchFamily="34" charset="0"/>
                <a:ea typeface="Calibri" pitchFamily="34" charset="-122"/>
                <a:cs typeface="Calibri" pitchFamily="34" charset="-120"/>
              </a:rPr>
              <a:t>Gymnasium (OpenAI)</a:t>
            </a:r>
            <a:endParaRPr lang="en-US" sz="900" dirty="0"/>
          </a:p>
          <a:p>
            <a:pPr marL="0" indent="0">
              <a:buNone/>
            </a:pPr>
            <a:r>
              <a:rPr lang="en-US" sz="900" b="1" dirty="0">
                <a:solidFill>
                  <a:srgbClr val="E63946"/>
                </a:solidFill>
                <a:latin typeface="Calibri" pitchFamily="34" charset="0"/>
                <a:ea typeface="Calibri" pitchFamily="34" charset="-122"/>
                <a:cs typeface="Calibri" pitchFamily="34" charset="-120"/>
              </a:rPr>
              <a:t>RL-BusBunching fork</a:t>
            </a:r>
            <a:endParaRPr lang="en-US" sz="900" dirty="0"/>
          </a:p>
        </p:txBody>
      </p:sp>
      <p:sp>
        <p:nvSpPr>
          <p:cNvPr id="12" name="Text 9"/>
          <p:cNvSpPr/>
          <p:nvPr/>
        </p:nvSpPr>
        <p:spPr>
          <a:xfrm>
            <a:off x="301752" y="1901952"/>
            <a:ext cx="1865376" cy="877824"/>
          </a:xfrm>
          <a:prstGeom prst="rect">
            <a:avLst/>
          </a:prstGeom>
          <a:noFill/>
          <a:ln/>
        </p:spPr>
        <p:txBody>
          <a:bodyPr wrap="square" lIns="0" tIns="0" rIns="0" bIns="0" rtlCol="0" anchor="ctr"/>
          <a:lstStyle/>
          <a:p>
            <a:pPr marL="0" indent="0">
              <a:buNone/>
            </a:pPr>
            <a:r>
              <a:rPr lang="en-US" sz="800" dirty="0">
                <a:solidFill>
                  <a:srgbClr val="C8D6E5"/>
                </a:solidFill>
                <a:latin typeface="Calibri" pitchFamily="34" charset="0"/>
                <a:ea typeface="Calibri" pitchFamily="34" charset="-122"/>
                <a:cs typeface="Calibri" pitchFamily="34" charset="-120"/>
              </a:rPr>
              <a:t>Bus environment with stochastic travel times and demand — CPU compatible</a:t>
            </a:r>
            <a:endParaRPr lang="en-US" sz="800" dirty="0"/>
          </a:p>
        </p:txBody>
      </p:sp>
      <p:sp>
        <p:nvSpPr>
          <p:cNvPr id="13" name="Shape 10"/>
          <p:cNvSpPr/>
          <p:nvPr/>
        </p:nvSpPr>
        <p:spPr>
          <a:xfrm>
            <a:off x="2404872" y="914400"/>
            <a:ext cx="2011680" cy="1938528"/>
          </a:xfrm>
          <a:prstGeom prst="rect">
            <a:avLst/>
          </a:prstGeom>
          <a:solidFill>
            <a:srgbClr val="2A3150"/>
          </a:solidFill>
          <a:ln/>
          <a:effectLst>
            <a:outerShdw blurRad="76200" dist="25400" dir="8100000" algn="bl" rotWithShape="0">
              <a:srgbClr val="000000">
                <a:alpha val="20000"/>
              </a:srgbClr>
            </a:outerShdw>
          </a:effectLst>
        </p:spPr>
        <p:txBody>
          <a:bodyPr/>
          <a:lstStyle/>
          <a:p>
            <a:endParaRPr lang="en-IN"/>
          </a:p>
        </p:txBody>
      </p:sp>
      <p:sp>
        <p:nvSpPr>
          <p:cNvPr id="14" name="Shape 11"/>
          <p:cNvSpPr/>
          <p:nvPr/>
        </p:nvSpPr>
        <p:spPr>
          <a:xfrm>
            <a:off x="2404872" y="914400"/>
            <a:ext cx="2011680" cy="64008"/>
          </a:xfrm>
          <a:prstGeom prst="rect">
            <a:avLst/>
          </a:prstGeom>
          <a:solidFill>
            <a:srgbClr val="457B9D"/>
          </a:solidFill>
          <a:ln/>
        </p:spPr>
        <p:txBody>
          <a:bodyPr/>
          <a:lstStyle/>
          <a:p>
            <a:endParaRPr lang="en-IN"/>
          </a:p>
        </p:txBody>
      </p:sp>
      <p:sp>
        <p:nvSpPr>
          <p:cNvPr id="15" name="Text 12"/>
          <p:cNvSpPr/>
          <p:nvPr/>
        </p:nvSpPr>
        <p:spPr>
          <a:xfrm>
            <a:off x="2478024" y="1005840"/>
            <a:ext cx="1865376" cy="292608"/>
          </a:xfrm>
          <a:prstGeom prst="rect">
            <a:avLst/>
          </a:prstGeom>
          <a:noFill/>
          <a:ln/>
        </p:spPr>
        <p:txBody>
          <a:bodyPr wrap="square" lIns="0" tIns="0" rIns="0" bIns="0" rtlCol="0" anchor="ctr"/>
          <a:lstStyle/>
          <a:p>
            <a:pPr marL="0" indent="0">
              <a:buNone/>
            </a:pPr>
            <a:r>
              <a:rPr lang="en-US" sz="1000" b="1" dirty="0">
                <a:solidFill>
                  <a:srgbClr val="FFFFFF"/>
                </a:solidFill>
                <a:latin typeface="Calibri" pitchFamily="34" charset="0"/>
                <a:ea typeface="Calibri" pitchFamily="34" charset="-122"/>
                <a:cs typeface="Calibri" pitchFamily="34" charset="-120"/>
              </a:rPr>
              <a:t>Traffic &amp; Passenger Sim</a:t>
            </a:r>
            <a:endParaRPr lang="en-US" sz="1000" dirty="0"/>
          </a:p>
        </p:txBody>
      </p:sp>
      <p:sp>
        <p:nvSpPr>
          <p:cNvPr id="16" name="Shape 13"/>
          <p:cNvSpPr/>
          <p:nvPr/>
        </p:nvSpPr>
        <p:spPr>
          <a:xfrm>
            <a:off x="2478024" y="1335024"/>
            <a:ext cx="1865376" cy="530352"/>
          </a:xfrm>
          <a:prstGeom prst="rect">
            <a:avLst/>
          </a:prstGeom>
          <a:solidFill>
            <a:srgbClr val="1E2640"/>
          </a:solidFill>
          <a:ln/>
        </p:spPr>
        <p:txBody>
          <a:bodyPr/>
          <a:lstStyle/>
          <a:p>
            <a:endParaRPr lang="en-IN"/>
          </a:p>
        </p:txBody>
      </p:sp>
      <p:sp>
        <p:nvSpPr>
          <p:cNvPr id="17" name="Text 14"/>
          <p:cNvSpPr/>
          <p:nvPr/>
        </p:nvSpPr>
        <p:spPr>
          <a:xfrm>
            <a:off x="2496312" y="1353312"/>
            <a:ext cx="1828800" cy="493776"/>
          </a:xfrm>
          <a:prstGeom prst="rect">
            <a:avLst/>
          </a:prstGeom>
          <a:noFill/>
          <a:ln/>
        </p:spPr>
        <p:txBody>
          <a:bodyPr wrap="square" lIns="25400" tIns="25400" rIns="25400" bIns="25400" rtlCol="0" anchor="ctr"/>
          <a:lstStyle/>
          <a:p>
            <a:pPr marL="0" indent="0">
              <a:buNone/>
            </a:pPr>
            <a:r>
              <a:rPr lang="en-US" sz="900" b="1" dirty="0">
                <a:solidFill>
                  <a:srgbClr val="457B9D"/>
                </a:solidFill>
                <a:latin typeface="Calibri" pitchFamily="34" charset="0"/>
                <a:ea typeface="Calibri" pitchFamily="34" charset="-122"/>
                <a:cs typeface="Calibri" pitchFamily="34" charset="-120"/>
              </a:rPr>
              <a:t>stable-baselines3</a:t>
            </a:r>
            <a:endParaRPr lang="en-US" sz="900" dirty="0"/>
          </a:p>
          <a:p>
            <a:pPr marL="0" indent="0">
              <a:buNone/>
            </a:pPr>
            <a:r>
              <a:rPr lang="en-US" sz="900" b="1" dirty="0">
                <a:solidFill>
                  <a:srgbClr val="457B9D"/>
                </a:solidFill>
                <a:latin typeface="Calibri" pitchFamily="34" charset="0"/>
                <a:ea typeface="Calibri" pitchFamily="34" charset="-122"/>
                <a:cs typeface="Calibri" pitchFamily="34" charset="-120"/>
              </a:rPr>
              <a:t>PPO / DQN / SAC</a:t>
            </a:r>
            <a:endParaRPr lang="en-US" sz="900" dirty="0"/>
          </a:p>
        </p:txBody>
      </p:sp>
      <p:sp>
        <p:nvSpPr>
          <p:cNvPr id="18" name="Text 15"/>
          <p:cNvSpPr/>
          <p:nvPr/>
        </p:nvSpPr>
        <p:spPr>
          <a:xfrm>
            <a:off x="2478024" y="1901952"/>
            <a:ext cx="1865376" cy="877824"/>
          </a:xfrm>
          <a:prstGeom prst="rect">
            <a:avLst/>
          </a:prstGeom>
          <a:noFill/>
          <a:ln/>
        </p:spPr>
        <p:txBody>
          <a:bodyPr wrap="square" lIns="0" tIns="0" rIns="0" bIns="0" rtlCol="0" anchor="ctr"/>
          <a:lstStyle/>
          <a:p>
            <a:pPr marL="0" indent="0">
              <a:buNone/>
            </a:pPr>
            <a:r>
              <a:rPr lang="en-US" sz="800" dirty="0">
                <a:solidFill>
                  <a:srgbClr val="C8D6E5"/>
                </a:solidFill>
                <a:latin typeface="Calibri" pitchFamily="34" charset="0"/>
                <a:ea typeface="Calibri" pitchFamily="34" charset="-122"/>
                <a:cs typeface="Calibri" pitchFamily="34" charset="-120"/>
              </a:rPr>
              <a:t>No ML training. Poisson passenger arrivals calibrated to BMTC density; random traffic events simulate Bengaluru’s patchy congestion</a:t>
            </a:r>
            <a:endParaRPr lang="en-US" sz="800" dirty="0"/>
          </a:p>
        </p:txBody>
      </p:sp>
      <p:sp>
        <p:nvSpPr>
          <p:cNvPr id="19" name="Shape 16"/>
          <p:cNvSpPr/>
          <p:nvPr/>
        </p:nvSpPr>
        <p:spPr>
          <a:xfrm>
            <a:off x="4581144" y="914400"/>
            <a:ext cx="2011680" cy="1938528"/>
          </a:xfrm>
          <a:prstGeom prst="rect">
            <a:avLst/>
          </a:prstGeom>
          <a:solidFill>
            <a:srgbClr val="2A3150"/>
          </a:solidFill>
          <a:ln/>
          <a:effectLst>
            <a:outerShdw blurRad="76200" dist="25400" dir="8100000" algn="bl" rotWithShape="0">
              <a:srgbClr val="000000">
                <a:alpha val="20000"/>
              </a:srgbClr>
            </a:outerShdw>
          </a:effectLst>
        </p:spPr>
        <p:txBody>
          <a:bodyPr/>
          <a:lstStyle/>
          <a:p>
            <a:endParaRPr lang="en-IN"/>
          </a:p>
        </p:txBody>
      </p:sp>
      <p:sp>
        <p:nvSpPr>
          <p:cNvPr id="20" name="Shape 17"/>
          <p:cNvSpPr/>
          <p:nvPr/>
        </p:nvSpPr>
        <p:spPr>
          <a:xfrm>
            <a:off x="4581144" y="914400"/>
            <a:ext cx="2011680" cy="64008"/>
          </a:xfrm>
          <a:prstGeom prst="rect">
            <a:avLst/>
          </a:prstGeom>
          <a:solidFill>
            <a:srgbClr val="F4A261"/>
          </a:solidFill>
          <a:ln/>
        </p:spPr>
        <p:txBody>
          <a:bodyPr/>
          <a:lstStyle/>
          <a:p>
            <a:endParaRPr lang="en-IN"/>
          </a:p>
        </p:txBody>
      </p:sp>
      <p:sp>
        <p:nvSpPr>
          <p:cNvPr id="21" name="Text 18"/>
          <p:cNvSpPr/>
          <p:nvPr/>
        </p:nvSpPr>
        <p:spPr>
          <a:xfrm>
            <a:off x="4654296" y="1005840"/>
            <a:ext cx="1865376" cy="292608"/>
          </a:xfrm>
          <a:prstGeom prst="rect">
            <a:avLst/>
          </a:prstGeom>
          <a:noFill/>
          <a:ln/>
        </p:spPr>
        <p:txBody>
          <a:bodyPr wrap="square" lIns="0" tIns="0" rIns="0" bIns="0" rtlCol="0" anchor="ctr"/>
          <a:lstStyle/>
          <a:p>
            <a:pPr marL="0" indent="0">
              <a:buNone/>
            </a:pPr>
            <a:r>
              <a:rPr lang="en-US" sz="1000" b="1" dirty="0">
                <a:solidFill>
                  <a:srgbClr val="FFFFFF"/>
                </a:solidFill>
                <a:latin typeface="Calibri" pitchFamily="34" charset="0"/>
                <a:ea typeface="Calibri" pitchFamily="34" charset="-122"/>
                <a:cs typeface="Calibri" pitchFamily="34" charset="-120"/>
              </a:rPr>
              <a:t>V2X Debate Engine</a:t>
            </a:r>
            <a:endParaRPr lang="en-US" sz="1000" dirty="0"/>
          </a:p>
        </p:txBody>
      </p:sp>
      <p:sp>
        <p:nvSpPr>
          <p:cNvPr id="22" name="Shape 19"/>
          <p:cNvSpPr/>
          <p:nvPr/>
        </p:nvSpPr>
        <p:spPr>
          <a:xfrm>
            <a:off x="4654296" y="1335024"/>
            <a:ext cx="1865376" cy="530352"/>
          </a:xfrm>
          <a:prstGeom prst="rect">
            <a:avLst/>
          </a:prstGeom>
          <a:solidFill>
            <a:srgbClr val="1E2640"/>
          </a:solidFill>
          <a:ln/>
        </p:spPr>
        <p:txBody>
          <a:bodyPr/>
          <a:lstStyle/>
          <a:p>
            <a:endParaRPr lang="en-IN"/>
          </a:p>
        </p:txBody>
      </p:sp>
      <p:sp>
        <p:nvSpPr>
          <p:cNvPr id="23" name="Text 20"/>
          <p:cNvSpPr/>
          <p:nvPr/>
        </p:nvSpPr>
        <p:spPr>
          <a:xfrm>
            <a:off x="4672584" y="1353312"/>
            <a:ext cx="1828800" cy="493776"/>
          </a:xfrm>
          <a:prstGeom prst="rect">
            <a:avLst/>
          </a:prstGeom>
          <a:noFill/>
          <a:ln/>
        </p:spPr>
        <p:txBody>
          <a:bodyPr wrap="square" lIns="25400" tIns="25400" rIns="25400" bIns="25400" rtlCol="0" anchor="ctr"/>
          <a:lstStyle/>
          <a:p>
            <a:pPr marL="0" indent="0">
              <a:buNone/>
            </a:pPr>
            <a:r>
              <a:rPr lang="en-US" sz="900" b="1" dirty="0">
                <a:solidFill>
                  <a:srgbClr val="F4A261"/>
                </a:solidFill>
                <a:latin typeface="Calibri" pitchFamily="34" charset="0"/>
                <a:ea typeface="Calibri" pitchFamily="34" charset="-122"/>
                <a:cs typeface="Calibri" pitchFamily="34" charset="-120"/>
              </a:rPr>
              <a:t>NumPy / Pandas</a:t>
            </a:r>
            <a:endParaRPr lang="en-US" sz="900" dirty="0"/>
          </a:p>
          <a:p>
            <a:pPr marL="0" indent="0">
              <a:buNone/>
            </a:pPr>
            <a:r>
              <a:rPr lang="en-US" sz="900" b="1" dirty="0">
                <a:solidFill>
                  <a:srgbClr val="F4A261"/>
                </a:solidFill>
                <a:latin typeface="Calibri" pitchFamily="34" charset="0"/>
                <a:ea typeface="Calibri" pitchFamily="34" charset="-122"/>
                <a:cs typeface="Calibri" pitchFamily="34" charset="-120"/>
              </a:rPr>
              <a:t>Custom reward function</a:t>
            </a:r>
            <a:endParaRPr lang="en-US" sz="900" dirty="0"/>
          </a:p>
        </p:txBody>
      </p:sp>
      <p:sp>
        <p:nvSpPr>
          <p:cNvPr id="24" name="Text 21"/>
          <p:cNvSpPr/>
          <p:nvPr/>
        </p:nvSpPr>
        <p:spPr>
          <a:xfrm>
            <a:off x="4654296" y="1901952"/>
            <a:ext cx="1865376" cy="877824"/>
          </a:xfrm>
          <a:prstGeom prst="rect">
            <a:avLst/>
          </a:prstGeom>
          <a:noFill/>
          <a:ln/>
        </p:spPr>
        <p:txBody>
          <a:bodyPr wrap="square" lIns="0" tIns="0" rIns="0" bIns="0" rtlCol="0" anchor="ctr"/>
          <a:lstStyle/>
          <a:p>
            <a:pPr marL="0" indent="0">
              <a:buNone/>
            </a:pPr>
            <a:r>
              <a:rPr lang="en-US" sz="800" dirty="0">
                <a:solidFill>
                  <a:srgbClr val="C8D6E5"/>
                </a:solidFill>
                <a:latin typeface="Calibri" pitchFamily="34" charset="0"/>
                <a:ea typeface="Calibri" pitchFamily="34" charset="-122"/>
                <a:cs typeface="Calibri" pitchFamily="34" charset="-120"/>
              </a:rPr>
              <a:t>Micro: VoT ₹100/hr. Macro: BMTC cost ₹24/km. Revenue: ₹10 flat fare</a:t>
            </a:r>
            <a:endParaRPr lang="en-US" sz="800" dirty="0"/>
          </a:p>
        </p:txBody>
      </p:sp>
      <p:sp>
        <p:nvSpPr>
          <p:cNvPr id="25" name="Shape 22"/>
          <p:cNvSpPr/>
          <p:nvPr/>
        </p:nvSpPr>
        <p:spPr>
          <a:xfrm>
            <a:off x="6757416" y="914400"/>
            <a:ext cx="2011680" cy="1938528"/>
          </a:xfrm>
          <a:prstGeom prst="rect">
            <a:avLst/>
          </a:prstGeom>
          <a:solidFill>
            <a:srgbClr val="2A3150"/>
          </a:solidFill>
          <a:ln/>
          <a:effectLst>
            <a:outerShdw blurRad="76200" dist="25400" dir="8100000" algn="bl" rotWithShape="0">
              <a:srgbClr val="000000">
                <a:alpha val="20000"/>
              </a:srgbClr>
            </a:outerShdw>
          </a:effectLst>
        </p:spPr>
        <p:txBody>
          <a:bodyPr/>
          <a:lstStyle/>
          <a:p>
            <a:endParaRPr lang="en-IN"/>
          </a:p>
        </p:txBody>
      </p:sp>
      <p:sp>
        <p:nvSpPr>
          <p:cNvPr id="26" name="Shape 23"/>
          <p:cNvSpPr/>
          <p:nvPr/>
        </p:nvSpPr>
        <p:spPr>
          <a:xfrm>
            <a:off x="6757416" y="914400"/>
            <a:ext cx="2011680" cy="64008"/>
          </a:xfrm>
          <a:prstGeom prst="rect">
            <a:avLst/>
          </a:prstGeom>
          <a:solidFill>
            <a:srgbClr val="2DC653"/>
          </a:solidFill>
          <a:ln/>
        </p:spPr>
        <p:txBody>
          <a:bodyPr/>
          <a:lstStyle/>
          <a:p>
            <a:endParaRPr lang="en-IN"/>
          </a:p>
        </p:txBody>
      </p:sp>
      <p:sp>
        <p:nvSpPr>
          <p:cNvPr id="27" name="Text 24"/>
          <p:cNvSpPr/>
          <p:nvPr/>
        </p:nvSpPr>
        <p:spPr>
          <a:xfrm>
            <a:off x="6830568" y="1005840"/>
            <a:ext cx="1865376" cy="292608"/>
          </a:xfrm>
          <a:prstGeom prst="rect">
            <a:avLst/>
          </a:prstGeom>
          <a:noFill/>
          <a:ln/>
        </p:spPr>
        <p:txBody>
          <a:bodyPr wrap="square" lIns="0" tIns="0" rIns="0" bIns="0" rtlCol="0" anchor="ctr"/>
          <a:lstStyle/>
          <a:p>
            <a:pPr marL="0" indent="0">
              <a:buNone/>
            </a:pPr>
            <a:r>
              <a:rPr lang="en-US" sz="1000" b="1" dirty="0">
                <a:solidFill>
                  <a:srgbClr val="FFFFFF"/>
                </a:solidFill>
                <a:latin typeface="Calibri" pitchFamily="34" charset="0"/>
                <a:ea typeface="Calibri" pitchFamily="34" charset="-122"/>
                <a:cs typeface="Calibri" pitchFamily="34" charset="-120"/>
              </a:rPr>
              <a:t>Backend Server</a:t>
            </a:r>
            <a:endParaRPr lang="en-US" sz="1000" dirty="0"/>
          </a:p>
        </p:txBody>
      </p:sp>
      <p:sp>
        <p:nvSpPr>
          <p:cNvPr id="28" name="Shape 25"/>
          <p:cNvSpPr/>
          <p:nvPr/>
        </p:nvSpPr>
        <p:spPr>
          <a:xfrm>
            <a:off x="6830568" y="1335024"/>
            <a:ext cx="1865376" cy="530352"/>
          </a:xfrm>
          <a:prstGeom prst="rect">
            <a:avLst/>
          </a:prstGeom>
          <a:solidFill>
            <a:srgbClr val="1E2640"/>
          </a:solidFill>
          <a:ln/>
        </p:spPr>
        <p:txBody>
          <a:bodyPr/>
          <a:lstStyle/>
          <a:p>
            <a:endParaRPr lang="en-IN"/>
          </a:p>
        </p:txBody>
      </p:sp>
      <p:sp>
        <p:nvSpPr>
          <p:cNvPr id="29" name="Text 26"/>
          <p:cNvSpPr/>
          <p:nvPr/>
        </p:nvSpPr>
        <p:spPr>
          <a:xfrm>
            <a:off x="6848856" y="1353312"/>
            <a:ext cx="1828800" cy="493776"/>
          </a:xfrm>
          <a:prstGeom prst="rect">
            <a:avLst/>
          </a:prstGeom>
          <a:noFill/>
          <a:ln/>
        </p:spPr>
        <p:txBody>
          <a:bodyPr wrap="square" lIns="25400" tIns="25400" rIns="25400" bIns="25400" rtlCol="0" anchor="ctr"/>
          <a:lstStyle/>
          <a:p>
            <a:pPr marL="0" indent="0">
              <a:buNone/>
            </a:pPr>
            <a:r>
              <a:rPr lang="en-US" sz="900" b="1" dirty="0">
                <a:solidFill>
                  <a:srgbClr val="2DC653"/>
                </a:solidFill>
                <a:latin typeface="Calibri" pitchFamily="34" charset="0"/>
                <a:ea typeface="Calibri" pitchFamily="34" charset="-122"/>
                <a:cs typeface="Calibri" pitchFamily="34" charset="-120"/>
              </a:rPr>
              <a:t>Groq API (free tier)</a:t>
            </a:r>
            <a:endParaRPr lang="en-US" sz="900" dirty="0"/>
          </a:p>
          <a:p>
            <a:pPr marL="0" indent="0">
              <a:buNone/>
            </a:pPr>
            <a:r>
              <a:rPr lang="en-US" sz="900" b="1" dirty="0">
                <a:solidFill>
                  <a:srgbClr val="2DC653"/>
                </a:solidFill>
                <a:latin typeface="Calibri" pitchFamily="34" charset="0"/>
                <a:ea typeface="Calibri" pitchFamily="34" charset="-122"/>
                <a:cs typeface="Calibri" pitchFamily="34" charset="-120"/>
              </a:rPr>
              <a:t>Llama-3 70B</a:t>
            </a:r>
            <a:endParaRPr lang="en-US" sz="900" dirty="0"/>
          </a:p>
        </p:txBody>
      </p:sp>
      <p:sp>
        <p:nvSpPr>
          <p:cNvPr id="30" name="Text 27"/>
          <p:cNvSpPr/>
          <p:nvPr/>
        </p:nvSpPr>
        <p:spPr>
          <a:xfrm>
            <a:off x="6830568" y="1901952"/>
            <a:ext cx="1865376" cy="877824"/>
          </a:xfrm>
          <a:prstGeom prst="rect">
            <a:avLst/>
          </a:prstGeom>
          <a:noFill/>
          <a:ln/>
        </p:spPr>
        <p:txBody>
          <a:bodyPr wrap="square" lIns="0" tIns="0" rIns="0" bIns="0" rtlCol="0" anchor="ctr"/>
          <a:lstStyle/>
          <a:p>
            <a:pPr marL="0" indent="0">
              <a:buNone/>
            </a:pPr>
            <a:r>
              <a:rPr lang="en-US" sz="800" dirty="0">
                <a:solidFill>
                  <a:srgbClr val="C8D6E5"/>
                </a:solidFill>
                <a:latin typeface="Calibri" pitchFamily="34" charset="0"/>
                <a:ea typeface="Calibri" pitchFamily="34" charset="-122"/>
                <a:cs typeface="Calibri" pitchFamily="34" charset="-120"/>
              </a:rPr>
              <a:t>LLM explains each bus decision; 30 req/min free tier — sufficient for demo</a:t>
            </a:r>
            <a:endParaRPr lang="en-US" sz="800" dirty="0"/>
          </a:p>
        </p:txBody>
      </p:sp>
      <p:sp>
        <p:nvSpPr>
          <p:cNvPr id="31" name="Shape 28"/>
          <p:cNvSpPr/>
          <p:nvPr/>
        </p:nvSpPr>
        <p:spPr>
          <a:xfrm>
            <a:off x="228600" y="3017520"/>
            <a:ext cx="2011680" cy="1938528"/>
          </a:xfrm>
          <a:prstGeom prst="rect">
            <a:avLst/>
          </a:prstGeom>
          <a:solidFill>
            <a:srgbClr val="2A3150"/>
          </a:solidFill>
          <a:ln/>
          <a:effectLst>
            <a:outerShdw blurRad="76200" dist="25400" dir="8100000" algn="bl" rotWithShape="0">
              <a:srgbClr val="000000">
                <a:alpha val="20000"/>
              </a:srgbClr>
            </a:outerShdw>
          </a:effectLst>
        </p:spPr>
        <p:txBody>
          <a:bodyPr/>
          <a:lstStyle/>
          <a:p>
            <a:endParaRPr lang="en-IN"/>
          </a:p>
        </p:txBody>
      </p:sp>
      <p:sp>
        <p:nvSpPr>
          <p:cNvPr id="32" name="Shape 29"/>
          <p:cNvSpPr/>
          <p:nvPr/>
        </p:nvSpPr>
        <p:spPr>
          <a:xfrm>
            <a:off x="228600" y="3017520"/>
            <a:ext cx="2011680" cy="64008"/>
          </a:xfrm>
          <a:prstGeom prst="rect">
            <a:avLst/>
          </a:prstGeom>
          <a:solidFill>
            <a:srgbClr val="0D9488"/>
          </a:solidFill>
          <a:ln/>
        </p:spPr>
        <p:txBody>
          <a:bodyPr/>
          <a:lstStyle/>
          <a:p>
            <a:endParaRPr lang="en-IN"/>
          </a:p>
        </p:txBody>
      </p:sp>
      <p:sp>
        <p:nvSpPr>
          <p:cNvPr id="33" name="Text 30"/>
          <p:cNvSpPr/>
          <p:nvPr/>
        </p:nvSpPr>
        <p:spPr>
          <a:xfrm>
            <a:off x="301752" y="3108960"/>
            <a:ext cx="1865376" cy="292608"/>
          </a:xfrm>
          <a:prstGeom prst="rect">
            <a:avLst/>
          </a:prstGeom>
          <a:noFill/>
          <a:ln/>
        </p:spPr>
        <p:txBody>
          <a:bodyPr wrap="square" lIns="0" tIns="0" rIns="0" bIns="0" rtlCol="0" anchor="ctr"/>
          <a:lstStyle/>
          <a:p>
            <a:pPr marL="0" indent="0">
              <a:buNone/>
            </a:pPr>
            <a:r>
              <a:rPr lang="en-US" sz="1000" b="1" dirty="0">
                <a:solidFill>
                  <a:srgbClr val="FFFFFF"/>
                </a:solidFill>
                <a:latin typeface="Calibri" pitchFamily="34" charset="0"/>
                <a:ea typeface="Calibri" pitchFamily="34" charset="-122"/>
                <a:cs typeface="Calibri" pitchFamily="34" charset="-120"/>
              </a:rPr>
              <a:t>Live Map Frontend</a:t>
            </a:r>
            <a:endParaRPr lang="en-US" sz="1000" dirty="0"/>
          </a:p>
        </p:txBody>
      </p:sp>
      <p:sp>
        <p:nvSpPr>
          <p:cNvPr id="34" name="Shape 31"/>
          <p:cNvSpPr/>
          <p:nvPr/>
        </p:nvSpPr>
        <p:spPr>
          <a:xfrm>
            <a:off x="301752" y="3438144"/>
            <a:ext cx="1865376" cy="530352"/>
          </a:xfrm>
          <a:prstGeom prst="rect">
            <a:avLst/>
          </a:prstGeom>
          <a:solidFill>
            <a:srgbClr val="1E2640"/>
          </a:solidFill>
          <a:ln/>
        </p:spPr>
        <p:txBody>
          <a:bodyPr/>
          <a:lstStyle/>
          <a:p>
            <a:endParaRPr lang="en-IN"/>
          </a:p>
        </p:txBody>
      </p:sp>
      <p:sp>
        <p:nvSpPr>
          <p:cNvPr id="35" name="Text 32"/>
          <p:cNvSpPr/>
          <p:nvPr/>
        </p:nvSpPr>
        <p:spPr>
          <a:xfrm>
            <a:off x="320040" y="3456432"/>
            <a:ext cx="1828800" cy="493776"/>
          </a:xfrm>
          <a:prstGeom prst="rect">
            <a:avLst/>
          </a:prstGeom>
          <a:noFill/>
          <a:ln/>
        </p:spPr>
        <p:txBody>
          <a:bodyPr wrap="square" lIns="25400" tIns="25400" rIns="25400" bIns="25400" rtlCol="0" anchor="ctr"/>
          <a:lstStyle/>
          <a:p>
            <a:pPr marL="0" indent="0">
              <a:buNone/>
            </a:pPr>
            <a:r>
              <a:rPr lang="en-US" sz="900" b="1" dirty="0">
                <a:solidFill>
                  <a:srgbClr val="0D9488"/>
                </a:solidFill>
                <a:latin typeface="Calibri" pitchFamily="34" charset="0"/>
                <a:ea typeface="Calibri" pitchFamily="34" charset="-122"/>
                <a:cs typeface="Calibri" pitchFamily="34" charset="-120"/>
              </a:rPr>
              <a:t>Python Faker</a:t>
            </a:r>
            <a:endParaRPr lang="en-US" sz="900" dirty="0"/>
          </a:p>
          <a:p>
            <a:pPr marL="0" indent="0">
              <a:buNone/>
            </a:pPr>
            <a:r>
              <a:rPr lang="en-US" sz="900" b="1" dirty="0">
                <a:solidFill>
                  <a:srgbClr val="0D9488"/>
                </a:solidFill>
                <a:latin typeface="Calibri" pitchFamily="34" charset="0"/>
                <a:ea typeface="Calibri" pitchFamily="34" charset="-122"/>
                <a:cs typeface="Calibri" pitchFamily="34" charset="-120"/>
              </a:rPr>
              <a:t>OSM + Kaggle Bengaluru</a:t>
            </a:r>
            <a:endParaRPr lang="en-US" sz="900" dirty="0"/>
          </a:p>
        </p:txBody>
      </p:sp>
      <p:sp>
        <p:nvSpPr>
          <p:cNvPr id="36" name="Text 33"/>
          <p:cNvSpPr/>
          <p:nvPr/>
        </p:nvSpPr>
        <p:spPr>
          <a:xfrm>
            <a:off x="301752" y="4005072"/>
            <a:ext cx="1865376" cy="877824"/>
          </a:xfrm>
          <a:prstGeom prst="rect">
            <a:avLst/>
          </a:prstGeom>
          <a:noFill/>
          <a:ln/>
        </p:spPr>
        <p:txBody>
          <a:bodyPr wrap="square" lIns="0" tIns="0" rIns="0" bIns="0" rtlCol="0" anchor="ctr"/>
          <a:lstStyle/>
          <a:p>
            <a:pPr marL="0" indent="0">
              <a:buNone/>
            </a:pPr>
            <a:r>
              <a:rPr lang="en-US" sz="800" dirty="0">
                <a:solidFill>
                  <a:srgbClr val="C8D6E5"/>
                </a:solidFill>
                <a:latin typeface="Calibri" pitchFamily="34" charset="0"/>
                <a:ea typeface="Calibri" pitchFamily="34" charset="-122"/>
                <a:cs typeface="Calibri" pitchFamily="34" charset="-120"/>
              </a:rPr>
              <a:t>Animated bus markers on real OSM tiles; circle markers scale with waiting-passenger count; side panel shows live V2V chat feed</a:t>
            </a:r>
            <a:endParaRPr lang="en-US" sz="800" dirty="0"/>
          </a:p>
        </p:txBody>
      </p:sp>
      <p:sp>
        <p:nvSpPr>
          <p:cNvPr id="37" name="Shape 34"/>
          <p:cNvSpPr/>
          <p:nvPr/>
        </p:nvSpPr>
        <p:spPr>
          <a:xfrm>
            <a:off x="2404872" y="3017520"/>
            <a:ext cx="2011680" cy="1938528"/>
          </a:xfrm>
          <a:prstGeom prst="rect">
            <a:avLst/>
          </a:prstGeom>
          <a:solidFill>
            <a:srgbClr val="2A3150"/>
          </a:solidFill>
          <a:ln/>
          <a:effectLst>
            <a:outerShdw blurRad="76200" dist="25400" dir="8100000" algn="bl" rotWithShape="0">
              <a:srgbClr val="000000">
                <a:alpha val="20000"/>
              </a:srgbClr>
            </a:outerShdw>
          </a:effectLst>
        </p:spPr>
        <p:txBody>
          <a:bodyPr/>
          <a:lstStyle/>
          <a:p>
            <a:endParaRPr lang="en-IN"/>
          </a:p>
        </p:txBody>
      </p:sp>
      <p:sp>
        <p:nvSpPr>
          <p:cNvPr id="38" name="Shape 35"/>
          <p:cNvSpPr/>
          <p:nvPr/>
        </p:nvSpPr>
        <p:spPr>
          <a:xfrm>
            <a:off x="2404872" y="3017520"/>
            <a:ext cx="2011680" cy="64008"/>
          </a:xfrm>
          <a:prstGeom prst="rect">
            <a:avLst/>
          </a:prstGeom>
          <a:solidFill>
            <a:srgbClr val="457B9D"/>
          </a:solidFill>
          <a:ln/>
        </p:spPr>
        <p:txBody>
          <a:bodyPr/>
          <a:lstStyle/>
          <a:p>
            <a:endParaRPr lang="en-IN"/>
          </a:p>
        </p:txBody>
      </p:sp>
      <p:sp>
        <p:nvSpPr>
          <p:cNvPr id="39" name="Text 36"/>
          <p:cNvSpPr/>
          <p:nvPr/>
        </p:nvSpPr>
        <p:spPr>
          <a:xfrm>
            <a:off x="2478024" y="3108960"/>
            <a:ext cx="1865376" cy="292608"/>
          </a:xfrm>
          <a:prstGeom prst="rect">
            <a:avLst/>
          </a:prstGeom>
          <a:noFill/>
          <a:ln/>
        </p:spPr>
        <p:txBody>
          <a:bodyPr wrap="square" lIns="0" tIns="0" rIns="0" bIns="0" rtlCol="0" anchor="ctr"/>
          <a:lstStyle/>
          <a:p>
            <a:pPr marL="0" indent="0">
              <a:buNone/>
            </a:pPr>
            <a:r>
              <a:rPr lang="en-US" sz="1000" b="1" dirty="0">
                <a:solidFill>
                  <a:srgbClr val="FFFFFF"/>
                </a:solidFill>
                <a:latin typeface="Calibri" pitchFamily="34" charset="0"/>
                <a:ea typeface="Calibri" pitchFamily="34" charset="-122"/>
                <a:cs typeface="Calibri" pitchFamily="34" charset="-120"/>
              </a:rPr>
              <a:t>Evaluation Metrics</a:t>
            </a:r>
            <a:endParaRPr lang="en-US" sz="1000" dirty="0"/>
          </a:p>
        </p:txBody>
      </p:sp>
      <p:sp>
        <p:nvSpPr>
          <p:cNvPr id="40" name="Shape 37"/>
          <p:cNvSpPr/>
          <p:nvPr/>
        </p:nvSpPr>
        <p:spPr>
          <a:xfrm>
            <a:off x="2478024" y="3438144"/>
            <a:ext cx="1865376" cy="530352"/>
          </a:xfrm>
          <a:prstGeom prst="rect">
            <a:avLst/>
          </a:prstGeom>
          <a:solidFill>
            <a:srgbClr val="1E2640"/>
          </a:solidFill>
          <a:ln/>
        </p:spPr>
        <p:txBody>
          <a:bodyPr/>
          <a:lstStyle/>
          <a:p>
            <a:endParaRPr lang="en-IN"/>
          </a:p>
        </p:txBody>
      </p:sp>
      <p:sp>
        <p:nvSpPr>
          <p:cNvPr id="41" name="Text 38"/>
          <p:cNvSpPr/>
          <p:nvPr/>
        </p:nvSpPr>
        <p:spPr>
          <a:xfrm>
            <a:off x="2496312" y="3456432"/>
            <a:ext cx="1828800" cy="493776"/>
          </a:xfrm>
          <a:prstGeom prst="rect">
            <a:avLst/>
          </a:prstGeom>
          <a:noFill/>
          <a:ln/>
        </p:spPr>
        <p:txBody>
          <a:bodyPr wrap="square" lIns="25400" tIns="25400" rIns="25400" bIns="25400" rtlCol="0" anchor="ctr"/>
          <a:lstStyle/>
          <a:p>
            <a:pPr marL="0" indent="0">
              <a:buNone/>
            </a:pPr>
            <a:r>
              <a:rPr lang="en-US" sz="900" b="1" dirty="0">
                <a:solidFill>
                  <a:srgbClr val="457B9D"/>
                </a:solidFill>
                <a:latin typeface="Calibri" pitchFamily="34" charset="0"/>
                <a:ea typeface="Calibri" pitchFamily="34" charset="-122"/>
                <a:cs typeface="Calibri" pitchFamily="34" charset="-120"/>
              </a:rPr>
              <a:t>Leaflet.js</a:t>
            </a:r>
            <a:endParaRPr lang="en-US" sz="900" dirty="0"/>
          </a:p>
          <a:p>
            <a:pPr marL="0" indent="0">
              <a:buNone/>
            </a:pPr>
            <a:r>
              <a:rPr lang="en-US" sz="900" b="1" dirty="0">
                <a:solidFill>
                  <a:srgbClr val="457B9D"/>
                </a:solidFill>
                <a:latin typeface="Calibri" pitchFamily="34" charset="0"/>
                <a:ea typeface="Calibri" pitchFamily="34" charset="-122"/>
                <a:cs typeface="Calibri" pitchFamily="34" charset="-120"/>
              </a:rPr>
              <a:t>Recharts / D3.js</a:t>
            </a:r>
            <a:endParaRPr lang="en-US" sz="900" dirty="0"/>
          </a:p>
        </p:txBody>
      </p:sp>
      <p:sp>
        <p:nvSpPr>
          <p:cNvPr id="42" name="Text 39"/>
          <p:cNvSpPr/>
          <p:nvPr/>
        </p:nvSpPr>
        <p:spPr>
          <a:xfrm>
            <a:off x="2478024" y="4005072"/>
            <a:ext cx="1865376" cy="877824"/>
          </a:xfrm>
          <a:prstGeom prst="rect">
            <a:avLst/>
          </a:prstGeom>
          <a:noFill/>
          <a:ln/>
        </p:spPr>
        <p:txBody>
          <a:bodyPr wrap="square" lIns="0" tIns="0" rIns="0" bIns="0" rtlCol="0" anchor="ctr"/>
          <a:lstStyle/>
          <a:p>
            <a:pPr marL="0" indent="0">
              <a:buNone/>
            </a:pPr>
            <a:r>
              <a:rPr lang="en-US" sz="800" dirty="0">
                <a:solidFill>
                  <a:srgbClr val="C8D6E5"/>
                </a:solidFill>
                <a:latin typeface="Calibri" pitchFamily="34" charset="0"/>
                <a:ea typeface="Calibri" pitchFamily="34" charset="-122"/>
                <a:cs typeface="Calibri" pitchFamily="34" charset="-120"/>
              </a:rPr>
              <a:t>Compare Agentic V2X mode vs. Static Timetable: headway variance, bunching events per episode, agent response latency</a:t>
            </a:r>
            <a:endParaRPr lang="en-US" sz="800" dirty="0"/>
          </a:p>
        </p:txBody>
      </p:sp>
      <p:sp>
        <p:nvSpPr>
          <p:cNvPr id="43" name="Shape 40"/>
          <p:cNvSpPr/>
          <p:nvPr/>
        </p:nvSpPr>
        <p:spPr>
          <a:xfrm>
            <a:off x="4581144" y="3017520"/>
            <a:ext cx="2011680" cy="1938528"/>
          </a:xfrm>
          <a:prstGeom prst="rect">
            <a:avLst/>
          </a:prstGeom>
          <a:solidFill>
            <a:srgbClr val="2A3150"/>
          </a:solidFill>
          <a:ln/>
          <a:effectLst>
            <a:outerShdw blurRad="76200" dist="25400" dir="8100000" algn="bl" rotWithShape="0">
              <a:srgbClr val="000000">
                <a:alpha val="20000"/>
              </a:srgbClr>
            </a:outerShdw>
          </a:effectLst>
        </p:spPr>
        <p:txBody>
          <a:bodyPr/>
          <a:lstStyle/>
          <a:p>
            <a:endParaRPr lang="en-IN"/>
          </a:p>
        </p:txBody>
      </p:sp>
      <p:sp>
        <p:nvSpPr>
          <p:cNvPr id="44" name="Shape 41"/>
          <p:cNvSpPr/>
          <p:nvPr/>
        </p:nvSpPr>
        <p:spPr>
          <a:xfrm>
            <a:off x="4581144" y="3017520"/>
            <a:ext cx="2011680" cy="64008"/>
          </a:xfrm>
          <a:prstGeom prst="rect">
            <a:avLst/>
          </a:prstGeom>
          <a:solidFill>
            <a:srgbClr val="E63946"/>
          </a:solidFill>
          <a:ln/>
        </p:spPr>
        <p:txBody>
          <a:bodyPr/>
          <a:lstStyle/>
          <a:p>
            <a:endParaRPr lang="en-IN"/>
          </a:p>
        </p:txBody>
      </p:sp>
      <p:sp>
        <p:nvSpPr>
          <p:cNvPr id="45" name="Text 42"/>
          <p:cNvSpPr/>
          <p:nvPr/>
        </p:nvSpPr>
        <p:spPr>
          <a:xfrm>
            <a:off x="4654296" y="3108960"/>
            <a:ext cx="1865376" cy="292608"/>
          </a:xfrm>
          <a:prstGeom prst="rect">
            <a:avLst/>
          </a:prstGeom>
          <a:noFill/>
          <a:ln/>
        </p:spPr>
        <p:txBody>
          <a:bodyPr wrap="square" lIns="0" tIns="0" rIns="0" bIns="0" rtlCol="0" anchor="ctr"/>
          <a:lstStyle/>
          <a:p>
            <a:pPr marL="0" indent="0">
              <a:buNone/>
            </a:pPr>
            <a:r>
              <a:rPr lang="en-US" sz="1000" b="1" dirty="0">
                <a:solidFill>
                  <a:srgbClr val="FFFFFF"/>
                </a:solidFill>
                <a:latin typeface="Calibri" pitchFamily="34" charset="0"/>
                <a:ea typeface="Calibri" pitchFamily="34" charset="-122"/>
                <a:cs typeface="Calibri" pitchFamily="34" charset="-120"/>
              </a:rPr>
              <a:t>Web Application</a:t>
            </a:r>
            <a:endParaRPr lang="en-US" sz="1000" dirty="0"/>
          </a:p>
        </p:txBody>
      </p:sp>
      <p:sp>
        <p:nvSpPr>
          <p:cNvPr id="46" name="Shape 43"/>
          <p:cNvSpPr/>
          <p:nvPr/>
        </p:nvSpPr>
        <p:spPr>
          <a:xfrm>
            <a:off x="4654296" y="3438144"/>
            <a:ext cx="1865376" cy="530352"/>
          </a:xfrm>
          <a:prstGeom prst="rect">
            <a:avLst/>
          </a:prstGeom>
          <a:solidFill>
            <a:srgbClr val="1E2640"/>
          </a:solidFill>
          <a:ln/>
        </p:spPr>
        <p:txBody>
          <a:bodyPr/>
          <a:lstStyle/>
          <a:p>
            <a:endParaRPr lang="en-IN"/>
          </a:p>
        </p:txBody>
      </p:sp>
      <p:sp>
        <p:nvSpPr>
          <p:cNvPr id="47" name="Text 44"/>
          <p:cNvSpPr/>
          <p:nvPr/>
        </p:nvSpPr>
        <p:spPr>
          <a:xfrm>
            <a:off x="4672584" y="3456432"/>
            <a:ext cx="1828800" cy="493776"/>
          </a:xfrm>
          <a:prstGeom prst="rect">
            <a:avLst/>
          </a:prstGeom>
          <a:noFill/>
          <a:ln/>
        </p:spPr>
        <p:txBody>
          <a:bodyPr wrap="square" lIns="25400" tIns="25400" rIns="25400" bIns="25400" rtlCol="0" anchor="ctr"/>
          <a:lstStyle/>
          <a:p>
            <a:pPr marL="0" indent="0">
              <a:buNone/>
            </a:pPr>
            <a:r>
              <a:rPr lang="en-US" sz="900" b="1" dirty="0">
                <a:solidFill>
                  <a:srgbClr val="E63946"/>
                </a:solidFill>
                <a:latin typeface="Calibri" pitchFamily="34" charset="0"/>
                <a:ea typeface="Calibri" pitchFamily="34" charset="-122"/>
                <a:cs typeface="Calibri" pitchFamily="34" charset="-120"/>
              </a:rPr>
              <a:t>React + FastAPI</a:t>
            </a:r>
            <a:endParaRPr lang="en-US" sz="900" dirty="0"/>
          </a:p>
          <a:p>
            <a:pPr marL="0" indent="0">
              <a:buNone/>
            </a:pPr>
            <a:r>
              <a:rPr lang="en-US" sz="900" b="1" dirty="0">
                <a:solidFill>
                  <a:srgbClr val="E63946"/>
                </a:solidFill>
                <a:latin typeface="Calibri" pitchFamily="34" charset="0"/>
                <a:ea typeface="Calibri" pitchFamily="34" charset="-122"/>
                <a:cs typeface="Calibri" pitchFamily="34" charset="-120"/>
              </a:rPr>
              <a:t>uvicorn (local dev)</a:t>
            </a:r>
            <a:endParaRPr lang="en-US" sz="900" dirty="0"/>
          </a:p>
        </p:txBody>
      </p:sp>
      <p:sp>
        <p:nvSpPr>
          <p:cNvPr id="48" name="Text 45"/>
          <p:cNvSpPr/>
          <p:nvPr/>
        </p:nvSpPr>
        <p:spPr>
          <a:xfrm>
            <a:off x="4654296" y="4005072"/>
            <a:ext cx="1865376" cy="877824"/>
          </a:xfrm>
          <a:prstGeom prst="rect">
            <a:avLst/>
          </a:prstGeom>
          <a:noFill/>
          <a:ln/>
        </p:spPr>
        <p:txBody>
          <a:bodyPr wrap="square" lIns="0" tIns="0" rIns="0" bIns="0" rtlCol="0" anchor="ctr"/>
          <a:lstStyle/>
          <a:p>
            <a:pPr marL="0" indent="0">
              <a:buNone/>
            </a:pPr>
            <a:r>
              <a:rPr lang="en-US" sz="800" dirty="0">
                <a:solidFill>
                  <a:srgbClr val="C8D6E5"/>
                </a:solidFill>
                <a:latin typeface="Calibri" pitchFamily="34" charset="0"/>
                <a:ea typeface="Calibri" pitchFamily="34" charset="-122"/>
                <a:cs typeface="Calibri" pitchFamily="34" charset="-120"/>
              </a:rPr>
              <a:t>Full-stack app: Python backend serves RL agent; React frontend renders all panels</a:t>
            </a:r>
            <a:endParaRPr lang="en-US" sz="800" dirty="0"/>
          </a:p>
        </p:txBody>
      </p:sp>
      <p:sp>
        <p:nvSpPr>
          <p:cNvPr id="49" name="Shape 46"/>
          <p:cNvSpPr/>
          <p:nvPr/>
        </p:nvSpPr>
        <p:spPr>
          <a:xfrm>
            <a:off x="6757416" y="3017520"/>
            <a:ext cx="2011680" cy="1938528"/>
          </a:xfrm>
          <a:prstGeom prst="rect">
            <a:avLst/>
          </a:prstGeom>
          <a:solidFill>
            <a:srgbClr val="2A3150"/>
          </a:solidFill>
          <a:ln/>
          <a:effectLst>
            <a:outerShdw blurRad="76200" dist="25400" dir="8100000" algn="bl" rotWithShape="0">
              <a:srgbClr val="000000">
                <a:alpha val="20000"/>
              </a:srgbClr>
            </a:outerShdw>
          </a:effectLst>
        </p:spPr>
        <p:txBody>
          <a:bodyPr/>
          <a:lstStyle/>
          <a:p>
            <a:endParaRPr lang="en-IN"/>
          </a:p>
        </p:txBody>
      </p:sp>
      <p:sp>
        <p:nvSpPr>
          <p:cNvPr id="50" name="Shape 47"/>
          <p:cNvSpPr/>
          <p:nvPr/>
        </p:nvSpPr>
        <p:spPr>
          <a:xfrm>
            <a:off x="6757416" y="3017520"/>
            <a:ext cx="2011680" cy="64008"/>
          </a:xfrm>
          <a:prstGeom prst="rect">
            <a:avLst/>
          </a:prstGeom>
          <a:solidFill>
            <a:srgbClr val="2DC653"/>
          </a:solidFill>
          <a:ln/>
        </p:spPr>
        <p:txBody>
          <a:bodyPr/>
          <a:lstStyle/>
          <a:p>
            <a:endParaRPr lang="en-IN"/>
          </a:p>
        </p:txBody>
      </p:sp>
      <p:sp>
        <p:nvSpPr>
          <p:cNvPr id="51" name="Text 48"/>
          <p:cNvSpPr/>
          <p:nvPr/>
        </p:nvSpPr>
        <p:spPr>
          <a:xfrm>
            <a:off x="6830568" y="3108960"/>
            <a:ext cx="1865376" cy="292608"/>
          </a:xfrm>
          <a:prstGeom prst="rect">
            <a:avLst/>
          </a:prstGeom>
          <a:noFill/>
          <a:ln/>
        </p:spPr>
        <p:txBody>
          <a:bodyPr wrap="square" lIns="0" tIns="0" rIns="0" bIns="0" rtlCol="0" anchor="ctr"/>
          <a:lstStyle/>
          <a:p>
            <a:pPr marL="0" indent="0">
              <a:buNone/>
            </a:pPr>
            <a:r>
              <a:rPr lang="en-US" sz="1000" b="1" dirty="0">
                <a:solidFill>
                  <a:srgbClr val="FFFFFF"/>
                </a:solidFill>
                <a:latin typeface="Calibri" pitchFamily="34" charset="0"/>
                <a:ea typeface="Calibri" pitchFamily="34" charset="-122"/>
                <a:cs typeface="Calibri" pitchFamily="34" charset="-120"/>
              </a:rPr>
              <a:t>Evaluation Metrics</a:t>
            </a:r>
            <a:endParaRPr lang="en-US" sz="1000" dirty="0"/>
          </a:p>
        </p:txBody>
      </p:sp>
      <p:sp>
        <p:nvSpPr>
          <p:cNvPr id="52" name="Shape 49"/>
          <p:cNvSpPr/>
          <p:nvPr/>
        </p:nvSpPr>
        <p:spPr>
          <a:xfrm>
            <a:off x="6830568" y="3438144"/>
            <a:ext cx="1865376" cy="530352"/>
          </a:xfrm>
          <a:prstGeom prst="rect">
            <a:avLst/>
          </a:prstGeom>
          <a:solidFill>
            <a:srgbClr val="1E2640"/>
          </a:solidFill>
          <a:ln/>
        </p:spPr>
        <p:txBody>
          <a:bodyPr/>
          <a:lstStyle/>
          <a:p>
            <a:endParaRPr lang="en-IN"/>
          </a:p>
        </p:txBody>
      </p:sp>
      <p:sp>
        <p:nvSpPr>
          <p:cNvPr id="53" name="Text 50"/>
          <p:cNvSpPr/>
          <p:nvPr/>
        </p:nvSpPr>
        <p:spPr>
          <a:xfrm>
            <a:off x="6848856" y="3456432"/>
            <a:ext cx="1828800" cy="493776"/>
          </a:xfrm>
          <a:prstGeom prst="rect">
            <a:avLst/>
          </a:prstGeom>
          <a:noFill/>
          <a:ln/>
        </p:spPr>
        <p:txBody>
          <a:bodyPr wrap="square" lIns="25400" tIns="25400" rIns="25400" bIns="25400" rtlCol="0" anchor="ctr"/>
          <a:lstStyle/>
          <a:p>
            <a:pPr marL="0" indent="0">
              <a:buNone/>
            </a:pPr>
            <a:r>
              <a:rPr lang="en-US" sz="900" b="1" dirty="0">
                <a:solidFill>
                  <a:srgbClr val="2DC653"/>
                </a:solidFill>
                <a:latin typeface="Calibri" pitchFamily="34" charset="0"/>
                <a:ea typeface="Calibri" pitchFamily="34" charset="-122"/>
                <a:cs typeface="Calibri" pitchFamily="34" charset="-120"/>
              </a:rPr>
              <a:t>Scikit-learn</a:t>
            </a:r>
            <a:endParaRPr lang="en-US" sz="900" dirty="0"/>
          </a:p>
          <a:p>
            <a:pPr marL="0" indent="0">
              <a:buNone/>
            </a:pPr>
            <a:r>
              <a:rPr lang="en-US" sz="900" b="1" dirty="0">
                <a:solidFill>
                  <a:srgbClr val="2DC653"/>
                </a:solidFill>
                <a:latin typeface="Calibri" pitchFamily="34" charset="0"/>
                <a:ea typeface="Calibri" pitchFamily="34" charset="-122"/>
                <a:cs typeface="Calibri" pitchFamily="34" charset="-120"/>
              </a:rPr>
              <a:t>Custom CBA module</a:t>
            </a:r>
            <a:endParaRPr lang="en-US" sz="900" dirty="0"/>
          </a:p>
        </p:txBody>
      </p:sp>
      <p:sp>
        <p:nvSpPr>
          <p:cNvPr id="54" name="Text 51"/>
          <p:cNvSpPr/>
          <p:nvPr/>
        </p:nvSpPr>
        <p:spPr>
          <a:xfrm>
            <a:off x="6830568" y="4005072"/>
            <a:ext cx="1865376" cy="877824"/>
          </a:xfrm>
          <a:prstGeom prst="rect">
            <a:avLst/>
          </a:prstGeom>
          <a:noFill/>
          <a:ln/>
        </p:spPr>
        <p:txBody>
          <a:bodyPr wrap="square" lIns="0" tIns="0" rIns="0" bIns="0" rtlCol="0" anchor="ctr"/>
          <a:lstStyle/>
          <a:p>
            <a:pPr marL="0" indent="0">
              <a:buNone/>
            </a:pPr>
            <a:r>
              <a:rPr lang="en-US" sz="800" dirty="0">
                <a:solidFill>
                  <a:srgbClr val="C8D6E5"/>
                </a:solidFill>
                <a:latin typeface="Calibri" pitchFamily="34" charset="0"/>
                <a:ea typeface="Calibri" pitchFamily="34" charset="-122"/>
                <a:cs typeface="Calibri" pitchFamily="34" charset="-120"/>
              </a:rPr>
              <a:t>Bunching events, ₹ wait savings, equity index (Gini), headway variance, F1 vs baseline</a:t>
            </a:r>
            <a:endParaRPr lang="en-US" sz="800" dirty="0"/>
          </a:p>
        </p:txBody>
      </p:sp>
      <p:pic>
        <p:nvPicPr>
          <p:cNvPr id="55" name="Picture 54">
            <a:extLst>
              <a:ext uri="{FF2B5EF4-FFF2-40B4-BE49-F238E27FC236}">
                <a16:creationId xmlns:a16="http://schemas.microsoft.com/office/drawing/2014/main" id="{B0C94FB8-539C-71CC-A0DF-3221331D1F12}"/>
              </a:ext>
            </a:extLst>
          </p:cNvPr>
          <p:cNvPicPr>
            <a:picLocks noChangeAspect="1"/>
          </p:cNvPicPr>
          <p:nvPr/>
        </p:nvPicPr>
        <p:blipFill>
          <a:blip r:embed="rId3"/>
          <a:stretch>
            <a:fillRect/>
          </a:stretch>
        </p:blipFill>
        <p:spPr>
          <a:xfrm>
            <a:off x="91440" y="128016"/>
            <a:ext cx="1700784" cy="728907"/>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1A1F2E"/>
        </a:solidFill>
        <a:effectLst/>
      </p:bgPr>
    </p:bg>
    <p:spTree>
      <p:nvGrpSpPr>
        <p:cNvPr id="1" name=""/>
        <p:cNvGrpSpPr/>
        <p:nvPr/>
      </p:nvGrpSpPr>
      <p:grpSpPr>
        <a:xfrm>
          <a:off x="0" y="0"/>
          <a:ext cx="0" cy="0"/>
          <a:chOff x="0" y="0"/>
          <a:chExt cx="0" cy="0"/>
        </a:xfrm>
      </p:grpSpPr>
      <p:sp>
        <p:nvSpPr>
          <p:cNvPr id="2" name="Shape 0"/>
          <p:cNvSpPr/>
          <p:nvPr/>
        </p:nvSpPr>
        <p:spPr>
          <a:xfrm>
            <a:off x="0" y="0"/>
            <a:ext cx="9144000" cy="64008"/>
          </a:xfrm>
          <a:prstGeom prst="rect">
            <a:avLst/>
          </a:prstGeom>
          <a:solidFill>
            <a:srgbClr val="E63946"/>
          </a:solidFill>
          <a:ln/>
        </p:spPr>
        <p:txBody>
          <a:bodyPr/>
          <a:lstStyle/>
          <a:p>
            <a:endParaRPr lang="en-IN"/>
          </a:p>
        </p:txBody>
      </p:sp>
      <p:sp>
        <p:nvSpPr>
          <p:cNvPr id="3" name="Shape 1"/>
          <p:cNvSpPr/>
          <p:nvPr/>
        </p:nvSpPr>
        <p:spPr>
          <a:xfrm>
            <a:off x="0" y="64008"/>
            <a:ext cx="9144000" cy="658368"/>
          </a:xfrm>
          <a:prstGeom prst="rect">
            <a:avLst/>
          </a:prstGeom>
          <a:solidFill>
            <a:srgbClr val="2A3150"/>
          </a:solidFill>
          <a:ln/>
        </p:spPr>
        <p:txBody>
          <a:bodyPr/>
          <a:lstStyle/>
          <a:p>
            <a:endParaRPr lang="en-IN"/>
          </a:p>
        </p:txBody>
      </p:sp>
      <p:sp>
        <p:nvSpPr>
          <p:cNvPr id="5" name="Text 2"/>
          <p:cNvSpPr/>
          <p:nvPr/>
        </p:nvSpPr>
        <p:spPr>
          <a:xfrm>
            <a:off x="2011680" y="91440"/>
            <a:ext cx="5029200" cy="548640"/>
          </a:xfrm>
          <a:prstGeom prst="rect">
            <a:avLst/>
          </a:prstGeom>
          <a:noFill/>
          <a:ln/>
        </p:spPr>
        <p:txBody>
          <a:bodyPr wrap="square" lIns="0" tIns="0" rIns="0" bIns="0" rtlCol="0" anchor="ctr"/>
          <a:lstStyle/>
          <a:p>
            <a:pPr marL="0" indent="0">
              <a:buNone/>
            </a:pPr>
            <a:r>
              <a:rPr lang="en-US" sz="2000" b="1" dirty="0">
                <a:solidFill>
                  <a:srgbClr val="FFFFFF"/>
                </a:solidFill>
                <a:latin typeface="Calibri" pitchFamily="34" charset="0"/>
                <a:ea typeface="Calibri" pitchFamily="34" charset="-122"/>
                <a:cs typeface="Calibri" pitchFamily="34" charset="-120"/>
              </a:rPr>
              <a:t>Expected Outcome</a:t>
            </a:r>
            <a:endParaRPr lang="en-US" sz="2000" dirty="0"/>
          </a:p>
        </p:txBody>
      </p:sp>
      <p:sp>
        <p:nvSpPr>
          <p:cNvPr id="6" name="Text 3"/>
          <p:cNvSpPr/>
          <p:nvPr/>
        </p:nvSpPr>
        <p:spPr>
          <a:xfrm>
            <a:off x="6858000" y="109128"/>
            <a:ext cx="2103120" cy="502920"/>
          </a:xfrm>
          <a:prstGeom prst="rect">
            <a:avLst/>
          </a:prstGeom>
          <a:noFill/>
          <a:ln/>
        </p:spPr>
        <p:txBody>
          <a:bodyPr wrap="square" lIns="0" tIns="0" rIns="0" bIns="0" rtlCol="0" anchor="ctr"/>
          <a:lstStyle/>
          <a:p>
            <a:pPr marL="0" indent="0" algn="r">
              <a:buNone/>
            </a:pPr>
            <a:r>
              <a:rPr lang="en-US" sz="1000" i="1" dirty="0">
                <a:solidFill>
                  <a:srgbClr val="1A8FA6"/>
                </a:solidFill>
                <a:latin typeface="Georgia" pitchFamily="34" charset="0"/>
                <a:ea typeface="Georgia" pitchFamily="34" charset="-122"/>
                <a:cs typeface="Georgia" pitchFamily="34" charset="-120"/>
              </a:rPr>
              <a:t>Go, change the world</a:t>
            </a:r>
            <a:endParaRPr lang="en-US" sz="1000" dirty="0"/>
          </a:p>
        </p:txBody>
      </p:sp>
      <p:sp>
        <p:nvSpPr>
          <p:cNvPr id="4" name="Shape 4"/>
          <p:cNvSpPr/>
          <p:nvPr/>
        </p:nvSpPr>
        <p:spPr>
          <a:xfrm>
            <a:off x="214320" y="914400"/>
            <a:ext cx="1993392" cy="1091280"/>
          </a:xfrm>
          <a:prstGeom prst="rect">
            <a:avLst/>
          </a:prstGeom>
          <a:solidFill>
            <a:srgbClr val="E63946"/>
          </a:solidFill>
          <a:ln/>
          <a:effectLst>
            <a:outerShdw blurRad="16200" dist="25400" dir="8100000" algn="bl" rotWithShape="0">
              <a:srgbClr val="000000">
                <a:alpha val="25000"/>
              </a:srgbClr>
            </a:outerShdw>
          </a:effectLst>
        </p:spPr>
        <p:txBody>
          <a:bodyPr/>
          <a:lstStyle/>
          <a:p>
            <a:endParaRPr lang="en-IN"/>
          </a:p>
        </p:txBody>
      </p:sp>
      <p:sp>
        <p:nvSpPr>
          <p:cNvPr id="8" name="Text 5"/>
          <p:cNvSpPr/>
          <p:nvPr/>
        </p:nvSpPr>
        <p:spPr>
          <a:xfrm>
            <a:off x="214320" y="960120"/>
            <a:ext cx="1993392" cy="548640"/>
          </a:xfrm>
          <a:prstGeom prst="rect">
            <a:avLst/>
          </a:prstGeom>
          <a:noFill/>
          <a:ln/>
        </p:spPr>
        <p:txBody>
          <a:bodyPr wrap="square" lIns="0" tIns="0" rIns="0" bIns="0" rtlCol="0" anchor="ctr"/>
          <a:lstStyle/>
          <a:p>
            <a:pPr marL="0" indent="0" algn="ctr">
              <a:buNone/>
            </a:pPr>
            <a:r>
              <a:rPr lang="en-US" sz="3000" b="1" dirty="0">
                <a:solidFill>
                  <a:srgbClr val="FFFFFF"/>
                </a:solidFill>
                <a:latin typeface="Calibri Black" pitchFamily="34" charset="0"/>
                <a:ea typeface="Calibri Black" pitchFamily="34" charset="-122"/>
                <a:cs typeface="Calibri Black" pitchFamily="34" charset="-120"/>
              </a:rPr>
              <a:t>≥30%</a:t>
            </a:r>
            <a:endParaRPr lang="en-US" sz="3000" dirty="0"/>
          </a:p>
        </p:txBody>
      </p:sp>
      <p:sp>
        <p:nvSpPr>
          <p:cNvPr id="9" name="Text 6"/>
          <p:cNvSpPr/>
          <p:nvPr/>
        </p:nvSpPr>
        <p:spPr>
          <a:xfrm>
            <a:off x="320040" y="1536192"/>
            <a:ext cx="1901952" cy="411480"/>
          </a:xfrm>
          <a:prstGeom prst="rect">
            <a:avLst/>
          </a:prstGeom>
          <a:noFill/>
          <a:ln/>
        </p:spPr>
        <p:txBody>
          <a:bodyPr wrap="square" lIns="0" tIns="0" rIns="0" bIns="0" rtlCol="0" anchor="ctr"/>
          <a:lstStyle/>
          <a:p>
            <a:pPr marL="0" indent="0" algn="ctr">
              <a:buNone/>
            </a:pPr>
            <a:r>
              <a:rPr lang="en-US" sz="950" dirty="0">
                <a:solidFill>
                  <a:srgbClr val="FFFFFF"/>
                </a:solidFill>
                <a:latin typeface="Calibri" pitchFamily="34" charset="0"/>
                <a:ea typeface="Calibri" pitchFamily="34" charset="-122"/>
                <a:cs typeface="Calibri" pitchFamily="34" charset="-120"/>
              </a:rPr>
              <a:t>Reduction in</a:t>
            </a:r>
            <a:endParaRPr lang="en-US" sz="950" dirty="0"/>
          </a:p>
          <a:p>
            <a:pPr marL="0" indent="0" algn="ctr">
              <a:buNone/>
            </a:pPr>
            <a:r>
              <a:rPr lang="en-US" sz="950" dirty="0">
                <a:solidFill>
                  <a:srgbClr val="FFFFFF"/>
                </a:solidFill>
                <a:latin typeface="Calibri" pitchFamily="34" charset="0"/>
                <a:ea typeface="Calibri" pitchFamily="34" charset="-122"/>
                <a:cs typeface="Calibri" pitchFamily="34" charset="-120"/>
              </a:rPr>
              <a:t>Passenger Wait Cost (₹)</a:t>
            </a:r>
            <a:endParaRPr lang="en-US" sz="950" dirty="0"/>
          </a:p>
        </p:txBody>
      </p:sp>
      <p:sp>
        <p:nvSpPr>
          <p:cNvPr id="10" name="Shape 1"/>
          <p:cNvSpPr/>
          <p:nvPr/>
        </p:nvSpPr>
        <p:spPr>
          <a:xfrm>
            <a:off x="2450592" y="914400"/>
            <a:ext cx="1993392" cy="1091280"/>
          </a:xfrm>
          <a:prstGeom prst="rect">
            <a:avLst/>
          </a:prstGeom>
          <a:solidFill>
            <a:srgbClr val="2DC653"/>
          </a:solidFill>
          <a:ln/>
          <a:effectLst>
            <a:outerShdw blurRad="16200" dist="25400" dir="8100000" algn="bl" rotWithShape="0">
              <a:srgbClr val="000000">
                <a:alpha val="25000"/>
              </a:srgbClr>
            </a:outerShdw>
          </a:effectLst>
        </p:spPr>
        <p:txBody>
          <a:bodyPr/>
          <a:lstStyle/>
          <a:p>
            <a:endParaRPr lang="en-IN"/>
          </a:p>
        </p:txBody>
      </p:sp>
      <p:sp>
        <p:nvSpPr>
          <p:cNvPr id="11" name="Text 8"/>
          <p:cNvSpPr/>
          <p:nvPr/>
        </p:nvSpPr>
        <p:spPr>
          <a:xfrm>
            <a:off x="2450592" y="960120"/>
            <a:ext cx="1993392" cy="548640"/>
          </a:xfrm>
          <a:prstGeom prst="rect">
            <a:avLst/>
          </a:prstGeom>
          <a:noFill/>
          <a:ln/>
        </p:spPr>
        <p:txBody>
          <a:bodyPr wrap="square" lIns="0" tIns="0" rIns="0" bIns="0" rtlCol="0" anchor="ctr"/>
          <a:lstStyle/>
          <a:p>
            <a:pPr marL="0" indent="0" algn="ctr">
              <a:buNone/>
            </a:pPr>
            <a:r>
              <a:rPr lang="en-US" sz="3000" b="1" dirty="0">
                <a:solidFill>
                  <a:srgbClr val="FFFFFF"/>
                </a:solidFill>
                <a:latin typeface="Calibri Black" pitchFamily="34" charset="0"/>
                <a:ea typeface="Calibri Black" pitchFamily="34" charset="-122"/>
                <a:cs typeface="Calibri Black" pitchFamily="34" charset="-120"/>
              </a:rPr>
              <a:t>≥25%</a:t>
            </a:r>
            <a:endParaRPr lang="en-US" sz="3000" dirty="0"/>
          </a:p>
        </p:txBody>
      </p:sp>
      <p:sp>
        <p:nvSpPr>
          <p:cNvPr id="12" name="Text 9"/>
          <p:cNvSpPr/>
          <p:nvPr/>
        </p:nvSpPr>
        <p:spPr>
          <a:xfrm>
            <a:off x="2496312" y="1536192"/>
            <a:ext cx="1901952" cy="411480"/>
          </a:xfrm>
          <a:prstGeom prst="rect">
            <a:avLst/>
          </a:prstGeom>
          <a:noFill/>
          <a:ln/>
        </p:spPr>
        <p:txBody>
          <a:bodyPr wrap="square" lIns="0" tIns="0" rIns="0" bIns="0" rtlCol="0" anchor="ctr"/>
          <a:lstStyle/>
          <a:p>
            <a:pPr marL="0" indent="0" algn="ctr">
              <a:buNone/>
            </a:pPr>
            <a:r>
              <a:rPr lang="en-US" sz="950" dirty="0">
                <a:solidFill>
                  <a:srgbClr val="FFFFFF"/>
                </a:solidFill>
                <a:latin typeface="Calibri" pitchFamily="34" charset="0"/>
                <a:ea typeface="Calibri" pitchFamily="34" charset="-122"/>
                <a:cs typeface="Calibri" pitchFamily="34" charset="-120"/>
              </a:rPr>
              <a:t>Fewer Bus</a:t>
            </a:r>
            <a:endParaRPr lang="en-US" sz="950" dirty="0"/>
          </a:p>
          <a:p>
            <a:pPr marL="0" indent="0" algn="ctr">
              <a:buNone/>
            </a:pPr>
            <a:r>
              <a:rPr lang="en-US" sz="950" dirty="0">
                <a:solidFill>
                  <a:srgbClr val="FFFFFF"/>
                </a:solidFill>
                <a:latin typeface="Calibri" pitchFamily="34" charset="0"/>
                <a:ea typeface="Calibri" pitchFamily="34" charset="-122"/>
                <a:cs typeface="Calibri" pitchFamily="34" charset="-120"/>
              </a:rPr>
              <a:t>Bunching Events</a:t>
            </a:r>
            <a:endParaRPr lang="en-US" sz="950" dirty="0"/>
          </a:p>
        </p:txBody>
      </p:sp>
      <p:sp>
        <p:nvSpPr>
          <p:cNvPr id="13" name="Shape 10"/>
          <p:cNvSpPr/>
          <p:nvPr/>
        </p:nvSpPr>
        <p:spPr>
          <a:xfrm>
            <a:off x="4626864" y="914400"/>
            <a:ext cx="1993392" cy="1091280"/>
          </a:xfrm>
          <a:prstGeom prst="rect">
            <a:avLst/>
          </a:prstGeom>
          <a:solidFill>
            <a:srgbClr val="451B9D"/>
          </a:solidFill>
          <a:ln/>
          <a:effectLst>
            <a:outerShdw blurRad="16200" dist="25400" dir="8100000" algn="bl" rotWithShape="0">
              <a:srgbClr val="000000">
                <a:alpha val="25000"/>
              </a:srgbClr>
            </a:outerShdw>
          </a:effectLst>
        </p:spPr>
        <p:txBody>
          <a:bodyPr/>
          <a:lstStyle/>
          <a:p>
            <a:endParaRPr lang="en-IN"/>
          </a:p>
        </p:txBody>
      </p:sp>
      <p:sp>
        <p:nvSpPr>
          <p:cNvPr id="14" name="Text 11"/>
          <p:cNvSpPr/>
          <p:nvPr/>
        </p:nvSpPr>
        <p:spPr>
          <a:xfrm>
            <a:off x="4626864" y="960120"/>
            <a:ext cx="1993392" cy="548640"/>
          </a:xfrm>
          <a:prstGeom prst="rect">
            <a:avLst/>
          </a:prstGeom>
          <a:noFill/>
          <a:ln/>
        </p:spPr>
        <p:txBody>
          <a:bodyPr wrap="square" lIns="0" tIns="0" rIns="0" bIns="0" rtlCol="0" anchor="ctr"/>
          <a:lstStyle/>
          <a:p>
            <a:pPr marL="0" indent="0" algn="ctr">
              <a:buNone/>
            </a:pPr>
            <a:r>
              <a:rPr lang="en-US" sz="3000" b="1" dirty="0">
                <a:solidFill>
                  <a:srgbClr val="FFFFFF"/>
                </a:solidFill>
                <a:latin typeface="Calibri Black" pitchFamily="34" charset="0"/>
                <a:ea typeface="Calibri Black" pitchFamily="34" charset="-122"/>
                <a:cs typeface="Calibri Black" pitchFamily="34" charset="-120"/>
              </a:rPr>
              <a:t>1</a:t>
            </a:r>
            <a:endParaRPr lang="en-US" sz="3000" dirty="0"/>
          </a:p>
        </p:txBody>
      </p:sp>
      <p:sp>
        <p:nvSpPr>
          <p:cNvPr id="15" name="Text 12"/>
          <p:cNvSpPr/>
          <p:nvPr/>
        </p:nvSpPr>
        <p:spPr>
          <a:xfrm>
            <a:off x="4612584" y="1536192"/>
            <a:ext cx="1901952" cy="411480"/>
          </a:xfrm>
          <a:prstGeom prst="rect">
            <a:avLst/>
          </a:prstGeom>
          <a:noFill/>
          <a:ln/>
        </p:spPr>
        <p:txBody>
          <a:bodyPr wrap="square" lIns="0" tIns="0" rIns="0" bIns="0" rtlCol="0" anchor="ctr"/>
          <a:lstStyle/>
          <a:p>
            <a:pPr marL="0" indent="0" algn="ctr">
              <a:buNone/>
            </a:pPr>
            <a:r>
              <a:rPr lang="en-US" sz="950" dirty="0">
                <a:solidFill>
                  <a:srgbClr val="FFFFFF"/>
                </a:solidFill>
                <a:latin typeface="Calibri" pitchFamily="34" charset="0"/>
                <a:ea typeface="Calibri" pitchFamily="34" charset="-122"/>
                <a:cs typeface="Calibri" pitchFamily="34" charset="-120"/>
              </a:rPr>
              <a:t>Working</a:t>
            </a:r>
            <a:endParaRPr lang="en-US" sz="950" dirty="0"/>
          </a:p>
          <a:p>
            <a:pPr marL="0" indent="0" algn="ctr">
              <a:buNone/>
            </a:pPr>
            <a:r>
              <a:rPr lang="en-US" sz="950" dirty="0">
                <a:solidFill>
                  <a:srgbClr val="FFFFFF"/>
                </a:solidFill>
                <a:latin typeface="Calibri" pitchFamily="34" charset="0"/>
                <a:ea typeface="Calibri" pitchFamily="34" charset="-122"/>
                <a:cs typeface="Calibri" pitchFamily="34" charset="-120"/>
              </a:rPr>
              <a:t>Prototypes</a:t>
            </a:r>
            <a:endParaRPr lang="en-US" sz="950" dirty="0"/>
          </a:p>
        </p:txBody>
      </p:sp>
      <p:sp>
        <p:nvSpPr>
          <p:cNvPr id="16" name="Shape 13"/>
          <p:cNvSpPr/>
          <p:nvPr/>
        </p:nvSpPr>
        <p:spPr>
          <a:xfrm>
            <a:off x="6803136" y="914400"/>
            <a:ext cx="1993392" cy="1091280"/>
          </a:xfrm>
          <a:prstGeom prst="rect">
            <a:avLst/>
          </a:prstGeom>
          <a:solidFill>
            <a:srgbClr val="F4A261"/>
          </a:solidFill>
          <a:ln/>
          <a:effectLst>
            <a:outerShdw blurRad="16200" dist="25400" dir="8100000" algn="bl" rotWithShape="0">
              <a:srgbClr val="000000">
                <a:alpha val="25000"/>
              </a:srgbClr>
            </a:outerShdw>
          </a:effectLst>
        </p:spPr>
        <p:txBody>
          <a:bodyPr/>
          <a:lstStyle/>
          <a:p>
            <a:endParaRPr lang="en-IN"/>
          </a:p>
        </p:txBody>
      </p:sp>
      <p:sp>
        <p:nvSpPr>
          <p:cNvPr id="7" name="Text 14"/>
          <p:cNvSpPr/>
          <p:nvPr/>
        </p:nvSpPr>
        <p:spPr>
          <a:xfrm>
            <a:off x="6803136" y="960120"/>
            <a:ext cx="1993392" cy="548640"/>
          </a:xfrm>
          <a:prstGeom prst="rect">
            <a:avLst/>
          </a:prstGeom>
          <a:noFill/>
          <a:ln/>
        </p:spPr>
        <p:txBody>
          <a:bodyPr wrap="square" lIns="0" tIns="0" rIns="0" bIns="0" rtlCol="0" anchor="ctr"/>
          <a:lstStyle/>
          <a:p>
            <a:pPr marL="0" indent="0" algn="ctr">
              <a:buNone/>
            </a:pPr>
            <a:r>
              <a:rPr lang="en-US" sz="3000" b="1" dirty="0">
                <a:solidFill>
                  <a:srgbClr val="FFFFFF"/>
                </a:solidFill>
                <a:latin typeface="Calibri Black" pitchFamily="34" charset="0"/>
                <a:ea typeface="Calibri Black" pitchFamily="34" charset="-122"/>
                <a:cs typeface="Calibri Black" pitchFamily="34" charset="-120"/>
              </a:rPr>
              <a:t>₹0</a:t>
            </a:r>
            <a:endParaRPr lang="en-US" sz="3000" dirty="0"/>
          </a:p>
        </p:txBody>
      </p:sp>
      <p:sp>
        <p:nvSpPr>
          <p:cNvPr id="18" name="Text 15"/>
          <p:cNvSpPr/>
          <p:nvPr/>
        </p:nvSpPr>
        <p:spPr>
          <a:xfrm>
            <a:off x="6848856" y="1536192"/>
            <a:ext cx="1901952" cy="411480"/>
          </a:xfrm>
          <a:prstGeom prst="rect">
            <a:avLst/>
          </a:prstGeom>
          <a:noFill/>
          <a:ln/>
        </p:spPr>
        <p:txBody>
          <a:bodyPr wrap="square" lIns="0" tIns="0" rIns="0" bIns="0" rtlCol="0" anchor="ctr"/>
          <a:lstStyle/>
          <a:p>
            <a:pPr marL="0" indent="0" algn="ctr">
              <a:buNone/>
            </a:pPr>
            <a:r>
              <a:rPr lang="en-US" sz="950" dirty="0">
                <a:solidFill>
                  <a:srgbClr val="FFFFFF"/>
                </a:solidFill>
                <a:latin typeface="Calibri" pitchFamily="34" charset="0"/>
                <a:ea typeface="Calibri" pitchFamily="34" charset="-122"/>
                <a:cs typeface="Calibri" pitchFamily="34" charset="-120"/>
              </a:rPr>
              <a:t>Total Tool &amp;</a:t>
            </a:r>
            <a:endParaRPr lang="en-US" sz="950" dirty="0"/>
          </a:p>
          <a:p>
            <a:pPr marL="0" indent="0" algn="ctr">
              <a:buNone/>
            </a:pPr>
            <a:r>
              <a:rPr lang="en-US" sz="950" dirty="0">
                <a:solidFill>
                  <a:srgbClr val="FFFFFF"/>
                </a:solidFill>
                <a:latin typeface="Calibri" pitchFamily="34" charset="0"/>
                <a:ea typeface="Calibri" pitchFamily="34" charset="-122"/>
                <a:cs typeface="Calibri" pitchFamily="34" charset="-120"/>
              </a:rPr>
              <a:t>API Cost</a:t>
            </a:r>
            <a:endParaRPr lang="en-US" sz="950" dirty="0"/>
          </a:p>
        </p:txBody>
      </p:sp>
      <p:sp>
        <p:nvSpPr>
          <p:cNvPr id="19" name="Shape 16"/>
          <p:cNvSpPr/>
          <p:nvPr/>
        </p:nvSpPr>
        <p:spPr>
          <a:xfrm>
            <a:off x="257026" y="2156269"/>
            <a:ext cx="4160520" cy="981552"/>
          </a:xfrm>
          <a:prstGeom prst="rect">
            <a:avLst/>
          </a:prstGeom>
          <a:solidFill>
            <a:srgbClr val="2A3150"/>
          </a:solidFill>
          <a:ln/>
          <a:effectLst>
            <a:outerShdw blurRad="63500" dist="12100" dir="8100000" algn="bl" rotWithShape="0">
              <a:srgbClr val="000000">
                <a:alpha val="18000"/>
              </a:srgbClr>
            </a:outerShdw>
          </a:effectLst>
        </p:spPr>
        <p:txBody>
          <a:bodyPr/>
          <a:lstStyle/>
          <a:p>
            <a:endParaRPr lang="en-IN"/>
          </a:p>
        </p:txBody>
      </p:sp>
      <p:sp>
        <p:nvSpPr>
          <p:cNvPr id="20" name="Shape 11"/>
          <p:cNvSpPr/>
          <p:nvPr/>
        </p:nvSpPr>
        <p:spPr>
          <a:xfrm>
            <a:off x="214320" y="2148840"/>
            <a:ext cx="50292" cy="981552"/>
          </a:xfrm>
          <a:prstGeom prst="rect">
            <a:avLst/>
          </a:prstGeom>
          <a:solidFill>
            <a:srgbClr val="E63946"/>
          </a:solidFill>
          <a:ln/>
        </p:spPr>
        <p:txBody>
          <a:bodyPr/>
          <a:lstStyle/>
          <a:p>
            <a:endParaRPr lang="en-IN"/>
          </a:p>
        </p:txBody>
      </p:sp>
      <p:sp>
        <p:nvSpPr>
          <p:cNvPr id="21" name="Shape 18"/>
          <p:cNvSpPr/>
          <p:nvPr/>
        </p:nvSpPr>
        <p:spPr>
          <a:xfrm>
            <a:off x="365160" y="2258568"/>
            <a:ext cx="214320" cy="214320"/>
          </a:xfrm>
          <a:prstGeom prst="rect">
            <a:avLst/>
          </a:prstGeom>
          <a:solidFill>
            <a:srgbClr val="E63946"/>
          </a:solidFill>
          <a:ln/>
        </p:spPr>
        <p:txBody>
          <a:bodyPr/>
          <a:lstStyle/>
          <a:p>
            <a:endParaRPr lang="en-IN"/>
          </a:p>
        </p:txBody>
      </p:sp>
      <p:sp>
        <p:nvSpPr>
          <p:cNvPr id="22" name="Text 19"/>
          <p:cNvSpPr/>
          <p:nvPr/>
        </p:nvSpPr>
        <p:spPr>
          <a:xfrm>
            <a:off x="365160" y="2258568"/>
            <a:ext cx="214320" cy="214320"/>
          </a:xfrm>
          <a:prstGeom prst="rect">
            <a:avLst/>
          </a:prstGeom>
          <a:noFill/>
          <a:ln/>
        </p:spPr>
        <p:txBody>
          <a:bodyPr wrap="square" lIns="0" tIns="0" rIns="0" bIns="0" rtlCol="0" anchor="ctr"/>
          <a:lstStyle/>
          <a:p>
            <a:pPr marL="0" indent="0" algn="ctr">
              <a:buNone/>
            </a:pPr>
            <a:r>
              <a:rPr lang="en-US" sz="1000" b="1" dirty="0">
                <a:solidFill>
                  <a:srgbClr val="FFFFFF"/>
                </a:solidFill>
              </a:rPr>
              <a:t>1</a:t>
            </a:r>
            <a:endParaRPr lang="en-US" sz="1000" dirty="0"/>
          </a:p>
        </p:txBody>
      </p:sp>
      <p:sp>
        <p:nvSpPr>
          <p:cNvPr id="23" name="Text 20"/>
          <p:cNvSpPr/>
          <p:nvPr/>
        </p:nvSpPr>
        <p:spPr>
          <a:xfrm>
            <a:off x="657024" y="2258568"/>
            <a:ext cx="3630168" cy="214320"/>
          </a:xfrm>
          <a:prstGeom prst="rect">
            <a:avLst/>
          </a:prstGeom>
          <a:noFill/>
          <a:ln/>
        </p:spPr>
        <p:txBody>
          <a:bodyPr wrap="square" lIns="0" tIns="0" rIns="0" bIns="0" rtlCol="0" anchor="ctr"/>
          <a:lstStyle/>
          <a:p>
            <a:pPr marL="0" indent="0">
              <a:buNone/>
            </a:pPr>
            <a:r>
              <a:rPr lang="en-US" sz="1050" b="1" dirty="0">
                <a:solidFill>
                  <a:srgbClr val="FFFFFF"/>
                </a:solidFill>
                <a:latin typeface="Calibri" pitchFamily="34" charset="0"/>
                <a:ea typeface="Calibri" pitchFamily="34" charset="-122"/>
                <a:cs typeface="Calibri" pitchFamily="34" charset="-120"/>
              </a:rPr>
              <a:t>Live V2X Simulation Dashboard</a:t>
            </a:r>
            <a:endParaRPr lang="en-US" sz="1050" dirty="0"/>
          </a:p>
        </p:txBody>
      </p:sp>
      <p:sp>
        <p:nvSpPr>
          <p:cNvPr id="24" name="Text 21"/>
          <p:cNvSpPr/>
          <p:nvPr/>
        </p:nvSpPr>
        <p:spPr>
          <a:xfrm>
            <a:off x="365160" y="2532888"/>
            <a:ext cx="3607544" cy="548640"/>
          </a:xfrm>
          <a:prstGeom prst="rect">
            <a:avLst/>
          </a:prstGeom>
          <a:noFill/>
          <a:ln/>
        </p:spPr>
        <p:txBody>
          <a:bodyPr wrap="square" lIns="0" tIns="0" rIns="0" bIns="0" rtlCol="0" anchor="ctr"/>
          <a:lstStyle/>
          <a:p>
            <a:pPr marL="0" indent="0">
              <a:buNone/>
            </a:pPr>
            <a:r>
              <a:rPr lang="en-US" sz="900" dirty="0">
                <a:solidFill>
                  <a:srgbClr val="C8D6E5"/>
                </a:solidFill>
                <a:latin typeface="Calibri" pitchFamily="34" charset="0"/>
                <a:ea typeface="Calibri" pitchFamily="34" charset="-122"/>
                <a:cs typeface="Calibri" pitchFamily="34" charset="-120"/>
              </a:rPr>
              <a:t>React app with animated Bengaluru bus map, live ₹ cost meters, LLM agent-reasoning feed, before/after comparison toggle, and CBA export</a:t>
            </a:r>
            <a:endParaRPr lang="en-US" sz="900" dirty="0"/>
          </a:p>
        </p:txBody>
      </p:sp>
      <p:sp>
        <p:nvSpPr>
          <p:cNvPr id="25" name="Shape 22"/>
          <p:cNvSpPr/>
          <p:nvPr/>
        </p:nvSpPr>
        <p:spPr>
          <a:xfrm>
            <a:off x="4109160" y="2163698"/>
            <a:ext cx="4160520" cy="981552"/>
          </a:xfrm>
          <a:prstGeom prst="rect">
            <a:avLst/>
          </a:prstGeom>
          <a:solidFill>
            <a:srgbClr val="2A3150"/>
          </a:solidFill>
          <a:ln/>
          <a:effectLst>
            <a:outerShdw blurRad="63500" dist="12100" dir="8100000" algn="bl" rotWithShape="0">
              <a:srgbClr val="000000">
                <a:alpha val="18000"/>
              </a:srgbClr>
            </a:outerShdw>
          </a:effectLst>
        </p:spPr>
        <p:txBody>
          <a:bodyPr/>
          <a:lstStyle/>
          <a:p>
            <a:endParaRPr lang="en-IN"/>
          </a:p>
        </p:txBody>
      </p:sp>
      <p:sp>
        <p:nvSpPr>
          <p:cNvPr id="26" name="Shape 23"/>
          <p:cNvSpPr/>
          <p:nvPr/>
        </p:nvSpPr>
        <p:spPr>
          <a:xfrm>
            <a:off x="4109160" y="2148840"/>
            <a:ext cx="50292" cy="981552"/>
          </a:xfrm>
          <a:prstGeom prst="rect">
            <a:avLst/>
          </a:prstGeom>
          <a:solidFill>
            <a:srgbClr val="2DC653"/>
          </a:solidFill>
          <a:ln/>
        </p:spPr>
        <p:txBody>
          <a:bodyPr/>
          <a:lstStyle/>
          <a:p>
            <a:endParaRPr lang="en-IN"/>
          </a:p>
        </p:txBody>
      </p:sp>
      <p:sp>
        <p:nvSpPr>
          <p:cNvPr id="17" name="Shape 24"/>
          <p:cNvSpPr/>
          <p:nvPr/>
        </p:nvSpPr>
        <p:spPr>
          <a:xfrm>
            <a:off x="4386106" y="2258568"/>
            <a:ext cx="214320" cy="214320"/>
          </a:xfrm>
          <a:prstGeom prst="rect">
            <a:avLst/>
          </a:prstGeom>
          <a:solidFill>
            <a:srgbClr val="2DC653"/>
          </a:solidFill>
          <a:ln/>
        </p:spPr>
        <p:txBody>
          <a:bodyPr/>
          <a:lstStyle/>
          <a:p>
            <a:endParaRPr lang="en-IN"/>
          </a:p>
        </p:txBody>
      </p:sp>
      <p:sp>
        <p:nvSpPr>
          <p:cNvPr id="28" name="Text 25"/>
          <p:cNvSpPr/>
          <p:nvPr/>
        </p:nvSpPr>
        <p:spPr>
          <a:xfrm>
            <a:off x="4386106" y="2258568"/>
            <a:ext cx="214320" cy="214320"/>
          </a:xfrm>
          <a:prstGeom prst="rect">
            <a:avLst/>
          </a:prstGeom>
          <a:noFill/>
          <a:ln/>
        </p:spPr>
        <p:txBody>
          <a:bodyPr wrap="square" lIns="0" tIns="0" rIns="0" bIns="0" rtlCol="0" anchor="ctr"/>
          <a:lstStyle/>
          <a:p>
            <a:pPr marL="0" indent="0" algn="ctr">
              <a:buNone/>
            </a:pPr>
            <a:r>
              <a:rPr lang="en-US" sz="1000" b="1" dirty="0">
                <a:solidFill>
                  <a:srgbClr val="FFFFFF"/>
                </a:solidFill>
              </a:rPr>
              <a:t>2</a:t>
            </a:r>
            <a:endParaRPr lang="en-US" sz="1000" dirty="0"/>
          </a:p>
        </p:txBody>
      </p:sp>
      <p:sp>
        <p:nvSpPr>
          <p:cNvPr id="29" name="Text 26"/>
          <p:cNvSpPr/>
          <p:nvPr/>
        </p:nvSpPr>
        <p:spPr>
          <a:xfrm>
            <a:off x="4639512" y="2258568"/>
            <a:ext cx="3630168" cy="214320"/>
          </a:xfrm>
          <a:prstGeom prst="rect">
            <a:avLst/>
          </a:prstGeom>
          <a:noFill/>
          <a:ln/>
        </p:spPr>
        <p:txBody>
          <a:bodyPr wrap="square" lIns="0" tIns="0" rIns="0" bIns="0" rtlCol="0" anchor="ctr"/>
          <a:lstStyle/>
          <a:p>
            <a:pPr marL="0" indent="0">
              <a:buNone/>
            </a:pPr>
            <a:r>
              <a:rPr lang="en-US" sz="1050" b="1" dirty="0">
                <a:solidFill>
                  <a:srgbClr val="FFFFFF"/>
                </a:solidFill>
                <a:latin typeface="Calibri" pitchFamily="34" charset="0"/>
                <a:ea typeface="Calibri" pitchFamily="34" charset="-122"/>
                <a:cs typeface="Calibri" pitchFamily="34" charset="-120"/>
              </a:rPr>
              <a:t> Production-Ready Backend</a:t>
            </a:r>
            <a:endParaRPr lang="en-US" sz="1050" dirty="0"/>
          </a:p>
        </p:txBody>
      </p:sp>
      <p:sp>
        <p:nvSpPr>
          <p:cNvPr id="30" name="Text 21"/>
          <p:cNvSpPr/>
          <p:nvPr/>
        </p:nvSpPr>
        <p:spPr>
          <a:xfrm>
            <a:off x="4561448" y="2532888"/>
            <a:ext cx="3630168" cy="548640"/>
          </a:xfrm>
          <a:prstGeom prst="rect">
            <a:avLst/>
          </a:prstGeom>
          <a:noFill/>
          <a:ln/>
        </p:spPr>
        <p:txBody>
          <a:bodyPr wrap="square" lIns="0" tIns="0" rIns="0" bIns="0" rtlCol="0" anchor="ctr"/>
          <a:lstStyle/>
          <a:p>
            <a:pPr marL="0" indent="0">
              <a:buNone/>
            </a:pPr>
            <a:r>
              <a:rPr lang="en-US" sz="900" dirty="0">
                <a:solidFill>
                  <a:srgbClr val="C8D6E5"/>
                </a:solidFill>
                <a:latin typeface="Calibri" pitchFamily="34" charset="0"/>
                <a:ea typeface="Calibri" pitchFamily="34" charset="-122"/>
                <a:cs typeface="Calibri" pitchFamily="34" charset="-120"/>
              </a:rPr>
              <a:t>Map Engine (→ route polyline JSON) → Simulator (→ bus/passenger/traffic state) → V2X Debate (→ Groq decisions). Each module tested independently.</a:t>
            </a:r>
            <a:endParaRPr lang="en-US" sz="900" dirty="0"/>
          </a:p>
        </p:txBody>
      </p:sp>
      <p:sp>
        <p:nvSpPr>
          <p:cNvPr id="31" name="Shape 28"/>
          <p:cNvSpPr/>
          <p:nvPr/>
        </p:nvSpPr>
        <p:spPr>
          <a:xfrm>
            <a:off x="228388" y="3246120"/>
            <a:ext cx="4160520" cy="981552"/>
          </a:xfrm>
          <a:prstGeom prst="rect">
            <a:avLst/>
          </a:prstGeom>
          <a:solidFill>
            <a:srgbClr val="2A3150"/>
          </a:solidFill>
          <a:ln/>
          <a:effectLst>
            <a:outerShdw blurRad="63500" dist="12100" dir="8100000" algn="bl" rotWithShape="0">
              <a:srgbClr val="000000">
                <a:alpha val="18000"/>
              </a:srgbClr>
            </a:outerShdw>
          </a:effectLst>
        </p:spPr>
        <p:txBody>
          <a:bodyPr/>
          <a:lstStyle/>
          <a:p>
            <a:endParaRPr lang="en-IN"/>
          </a:p>
        </p:txBody>
      </p:sp>
      <p:sp>
        <p:nvSpPr>
          <p:cNvPr id="32" name="Shape 29"/>
          <p:cNvSpPr/>
          <p:nvPr/>
        </p:nvSpPr>
        <p:spPr>
          <a:xfrm>
            <a:off x="214320" y="3246120"/>
            <a:ext cx="50292" cy="981552"/>
          </a:xfrm>
          <a:prstGeom prst="rect">
            <a:avLst/>
          </a:prstGeom>
          <a:solidFill>
            <a:srgbClr val="451B9D"/>
          </a:solidFill>
          <a:ln/>
        </p:spPr>
        <p:txBody>
          <a:bodyPr/>
          <a:lstStyle/>
          <a:p>
            <a:endParaRPr lang="en-IN"/>
          </a:p>
        </p:txBody>
      </p:sp>
      <p:sp>
        <p:nvSpPr>
          <p:cNvPr id="33" name="Shape 30"/>
          <p:cNvSpPr/>
          <p:nvPr/>
        </p:nvSpPr>
        <p:spPr>
          <a:xfrm>
            <a:off x="365160" y="3355848"/>
            <a:ext cx="214320" cy="214320"/>
          </a:xfrm>
          <a:prstGeom prst="rect">
            <a:avLst/>
          </a:prstGeom>
          <a:solidFill>
            <a:srgbClr val="451B9D"/>
          </a:solidFill>
          <a:ln/>
        </p:spPr>
        <p:txBody>
          <a:bodyPr/>
          <a:lstStyle/>
          <a:p>
            <a:endParaRPr lang="en-IN"/>
          </a:p>
        </p:txBody>
      </p:sp>
      <p:sp>
        <p:nvSpPr>
          <p:cNvPr id="34" name="Text 31"/>
          <p:cNvSpPr/>
          <p:nvPr/>
        </p:nvSpPr>
        <p:spPr>
          <a:xfrm>
            <a:off x="365160" y="3355848"/>
            <a:ext cx="214320" cy="214320"/>
          </a:xfrm>
          <a:prstGeom prst="rect">
            <a:avLst/>
          </a:prstGeom>
          <a:noFill/>
          <a:ln/>
        </p:spPr>
        <p:txBody>
          <a:bodyPr wrap="square" lIns="0" tIns="0" rIns="0" bIns="0" rtlCol="0" anchor="ctr"/>
          <a:lstStyle/>
          <a:p>
            <a:pPr marL="0" indent="0" algn="ctr">
              <a:buNone/>
            </a:pPr>
            <a:r>
              <a:rPr lang="en-US" sz="1000" b="1" dirty="0">
                <a:solidFill>
                  <a:srgbClr val="FFFFFF"/>
                </a:solidFill>
              </a:rPr>
              <a:t>3</a:t>
            </a:r>
            <a:endParaRPr lang="en-US" sz="1000" dirty="0"/>
          </a:p>
        </p:txBody>
      </p:sp>
      <p:sp>
        <p:nvSpPr>
          <p:cNvPr id="35" name="Text 32"/>
          <p:cNvSpPr/>
          <p:nvPr/>
        </p:nvSpPr>
        <p:spPr>
          <a:xfrm>
            <a:off x="635508" y="3355848"/>
            <a:ext cx="3630168" cy="214320"/>
          </a:xfrm>
          <a:prstGeom prst="rect">
            <a:avLst/>
          </a:prstGeom>
          <a:noFill/>
          <a:ln/>
        </p:spPr>
        <p:txBody>
          <a:bodyPr wrap="square" lIns="0" tIns="0" rIns="0" bIns="0" rtlCol="0" anchor="ctr"/>
          <a:lstStyle/>
          <a:p>
            <a:pPr marL="0" indent="0">
              <a:buNone/>
            </a:pPr>
            <a:r>
              <a:rPr lang="en-US" sz="1050" b="1" dirty="0">
                <a:solidFill>
                  <a:srgbClr val="FFFFFF"/>
                </a:solidFill>
                <a:latin typeface="Calibri" pitchFamily="34" charset="0"/>
                <a:ea typeface="Calibri" pitchFamily="34" charset="-122"/>
                <a:cs typeface="Calibri" pitchFamily="34" charset="-120"/>
              </a:rPr>
              <a:t>Real Bengaluru Route Data</a:t>
            </a:r>
            <a:endParaRPr lang="en-US" sz="1050" dirty="0"/>
          </a:p>
        </p:txBody>
      </p:sp>
      <p:sp>
        <p:nvSpPr>
          <p:cNvPr id="36" name="Text 33"/>
          <p:cNvSpPr/>
          <p:nvPr/>
        </p:nvSpPr>
        <p:spPr>
          <a:xfrm>
            <a:off x="342536" y="3630168"/>
            <a:ext cx="3630168" cy="548640"/>
          </a:xfrm>
          <a:prstGeom prst="rect">
            <a:avLst/>
          </a:prstGeom>
          <a:noFill/>
          <a:ln/>
        </p:spPr>
        <p:txBody>
          <a:bodyPr wrap="square" lIns="0" tIns="0" rIns="0" bIns="0" rtlCol="0" anchor="ctr"/>
          <a:lstStyle/>
          <a:p>
            <a:pPr marL="0" indent="0">
              <a:buNone/>
            </a:pPr>
            <a:r>
              <a:rPr lang="en-US" sz="900" dirty="0">
                <a:solidFill>
                  <a:srgbClr val="C8D6E5"/>
                </a:solidFill>
                <a:latin typeface="Calibri" pitchFamily="34" charset="0"/>
                <a:ea typeface="Calibri" pitchFamily="34" charset="-122"/>
                <a:cs typeface="Calibri" pitchFamily="34" charset="-120"/>
              </a:rPr>
              <a:t>1,203-point OSRM polyline for Route 378 (Kengeri ⇌ Electronic City); Faker-simulated Poisson passenger arrivals; random traffic-jam events — fully reproducible, zero cost</a:t>
            </a:r>
            <a:endParaRPr lang="en-US" sz="900" dirty="0"/>
          </a:p>
        </p:txBody>
      </p:sp>
      <p:sp>
        <p:nvSpPr>
          <p:cNvPr id="27" name="Shape 34"/>
          <p:cNvSpPr/>
          <p:nvPr/>
        </p:nvSpPr>
        <p:spPr>
          <a:xfrm>
            <a:off x="4073252" y="3253944"/>
            <a:ext cx="4160520" cy="981552"/>
          </a:xfrm>
          <a:prstGeom prst="rect">
            <a:avLst/>
          </a:prstGeom>
          <a:solidFill>
            <a:srgbClr val="2A3150"/>
          </a:solidFill>
          <a:ln/>
          <a:effectLst>
            <a:outerShdw blurRad="63500" dist="12100" dir="8100000" algn="bl" rotWithShape="0">
              <a:srgbClr val="000000">
                <a:alpha val="18000"/>
              </a:srgbClr>
            </a:outerShdw>
          </a:effectLst>
        </p:spPr>
        <p:txBody>
          <a:bodyPr/>
          <a:lstStyle/>
          <a:p>
            <a:endParaRPr lang="en-IN"/>
          </a:p>
        </p:txBody>
      </p:sp>
      <p:sp>
        <p:nvSpPr>
          <p:cNvPr id="38" name="Shape 35"/>
          <p:cNvSpPr/>
          <p:nvPr/>
        </p:nvSpPr>
        <p:spPr>
          <a:xfrm>
            <a:off x="4109160" y="3246120"/>
            <a:ext cx="50292" cy="981552"/>
          </a:xfrm>
          <a:prstGeom prst="rect">
            <a:avLst/>
          </a:prstGeom>
          <a:solidFill>
            <a:srgbClr val="F4A261"/>
          </a:solidFill>
          <a:ln/>
        </p:spPr>
        <p:txBody>
          <a:bodyPr/>
          <a:lstStyle/>
          <a:p>
            <a:endParaRPr lang="en-IN"/>
          </a:p>
        </p:txBody>
      </p:sp>
      <p:sp>
        <p:nvSpPr>
          <p:cNvPr id="39" name="Shape 36"/>
          <p:cNvSpPr/>
          <p:nvPr/>
        </p:nvSpPr>
        <p:spPr>
          <a:xfrm>
            <a:off x="4406704" y="3355848"/>
            <a:ext cx="214320" cy="214320"/>
          </a:xfrm>
          <a:prstGeom prst="rect">
            <a:avLst/>
          </a:prstGeom>
          <a:solidFill>
            <a:srgbClr val="F4A261"/>
          </a:solidFill>
          <a:ln/>
        </p:spPr>
        <p:txBody>
          <a:bodyPr/>
          <a:lstStyle/>
          <a:p>
            <a:endParaRPr lang="en-IN"/>
          </a:p>
        </p:txBody>
      </p:sp>
      <p:sp>
        <p:nvSpPr>
          <p:cNvPr id="40" name="Text 31"/>
          <p:cNvSpPr/>
          <p:nvPr/>
        </p:nvSpPr>
        <p:spPr>
          <a:xfrm>
            <a:off x="4406704" y="3355848"/>
            <a:ext cx="214320" cy="214320"/>
          </a:xfrm>
          <a:prstGeom prst="rect">
            <a:avLst/>
          </a:prstGeom>
          <a:noFill/>
          <a:ln/>
        </p:spPr>
        <p:txBody>
          <a:bodyPr wrap="square" lIns="0" tIns="0" rIns="0" bIns="0" rtlCol="0" anchor="ctr"/>
          <a:lstStyle/>
          <a:p>
            <a:pPr marL="0" indent="0" algn="ctr">
              <a:buNone/>
            </a:pPr>
            <a:r>
              <a:rPr lang="en-US" sz="1000" b="1" dirty="0">
                <a:solidFill>
                  <a:srgbClr val="FFFFFF"/>
                </a:solidFill>
              </a:rPr>
              <a:t>4</a:t>
            </a:r>
            <a:endParaRPr lang="en-US" sz="1000" dirty="0"/>
          </a:p>
        </p:txBody>
      </p:sp>
      <p:sp>
        <p:nvSpPr>
          <p:cNvPr id="41" name="Text 38"/>
          <p:cNvSpPr/>
          <p:nvPr/>
        </p:nvSpPr>
        <p:spPr>
          <a:xfrm>
            <a:off x="4755094" y="3331560"/>
            <a:ext cx="4041434" cy="249744"/>
          </a:xfrm>
          <a:prstGeom prst="rect">
            <a:avLst/>
          </a:prstGeom>
          <a:noFill/>
          <a:ln/>
        </p:spPr>
        <p:txBody>
          <a:bodyPr wrap="square" lIns="0" tIns="0" rIns="0" bIns="0" rtlCol="0" anchor="ctr"/>
          <a:lstStyle/>
          <a:p>
            <a:pPr marL="0" indent="0">
              <a:buNone/>
            </a:pPr>
            <a:r>
              <a:rPr lang="en-US" sz="1050" b="1" dirty="0">
                <a:solidFill>
                  <a:srgbClr val="FFFFFF"/>
                </a:solidFill>
                <a:latin typeface="Calibri" pitchFamily="34" charset="0"/>
                <a:ea typeface="Calibri" pitchFamily="34" charset="-122"/>
                <a:cs typeface="Calibri" pitchFamily="34" charset="-120"/>
              </a:rPr>
              <a:t>Headway Comparison Report</a:t>
            </a:r>
            <a:endParaRPr lang="en-US" sz="1050" dirty="0"/>
          </a:p>
        </p:txBody>
      </p:sp>
      <p:sp>
        <p:nvSpPr>
          <p:cNvPr id="42" name="Text 39"/>
          <p:cNvSpPr/>
          <p:nvPr/>
        </p:nvSpPr>
        <p:spPr>
          <a:xfrm>
            <a:off x="4287192" y="3630168"/>
            <a:ext cx="3680900" cy="548640"/>
          </a:xfrm>
          <a:prstGeom prst="rect">
            <a:avLst/>
          </a:prstGeom>
          <a:noFill/>
          <a:ln/>
        </p:spPr>
        <p:txBody>
          <a:bodyPr wrap="square" lIns="0" tIns="0" rIns="0" bIns="0" rtlCol="0" anchor="ctr"/>
          <a:lstStyle/>
          <a:p>
            <a:pPr marL="0" indent="0">
              <a:buNone/>
            </a:pPr>
            <a:r>
              <a:rPr lang="en-US" sz="900" dirty="0">
                <a:solidFill>
                  <a:srgbClr val="C8D6E5"/>
                </a:solidFill>
                <a:latin typeface="Calibri" pitchFamily="34" charset="0"/>
                <a:ea typeface="Calibri" pitchFamily="34" charset="-122"/>
                <a:cs typeface="Calibri" pitchFamily="34" charset="-120"/>
              </a:rPr>
              <a:t>Quantified comparison: Agentic vs. Static Timetable — total ₹ saved, equity index (Gini), bunching events, avg headway variance</a:t>
            </a:r>
            <a:endParaRPr lang="en-US" sz="900" dirty="0"/>
          </a:p>
        </p:txBody>
      </p:sp>
      <p:pic>
        <p:nvPicPr>
          <p:cNvPr id="37" name="Picture 25">
            <a:extLst>
              <a:ext uri="{FF2B5EF4-FFF2-40B4-BE49-F238E27FC236}">
                <a16:creationId xmlns:a16="http://schemas.microsoft.com/office/drawing/2014/main" id="{A2720A80-C694-F20B-AA58-BF04D90882B3}"/>
              </a:ext>
            </a:extLst>
          </p:cNvPr>
          <p:cNvPicPr>
            <a:picLocks noChangeAspect="1"/>
          </p:cNvPicPr>
          <p:nvPr/>
        </p:nvPicPr>
        <p:blipFill>
          <a:blip r:embed="rId3"/>
          <a:stretch>
            <a:fillRect/>
          </a:stretch>
        </p:blipFill>
        <p:spPr>
          <a:xfrm>
            <a:off x="360000" y="100000"/>
            <a:ext cx="1100000" cy="458000"/>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1A1F2E"/>
        </a:solidFill>
        <a:effectLst/>
      </p:bgPr>
    </p:bg>
    <p:spTree>
      <p:nvGrpSpPr>
        <p:cNvPr id="1" name=""/>
        <p:cNvGrpSpPr/>
        <p:nvPr/>
      </p:nvGrpSpPr>
      <p:grpSpPr>
        <a:xfrm>
          <a:off x="0" y="0"/>
          <a:ext cx="0" cy="0"/>
          <a:chOff x="0" y="0"/>
          <a:chExt cx="0" cy="0"/>
        </a:xfrm>
      </p:grpSpPr>
      <p:sp>
        <p:nvSpPr>
          <p:cNvPr id="2" name="Shape 0"/>
          <p:cNvSpPr/>
          <p:nvPr/>
        </p:nvSpPr>
        <p:spPr>
          <a:xfrm>
            <a:off x="0" y="0"/>
            <a:ext cx="9144000" cy="64008"/>
          </a:xfrm>
          <a:prstGeom prst="rect">
            <a:avLst/>
          </a:prstGeom>
          <a:solidFill>
            <a:srgbClr val="E63946"/>
          </a:solidFill>
          <a:ln/>
        </p:spPr>
        <p:txBody>
          <a:bodyPr/>
          <a:lstStyle/>
          <a:p>
            <a:endParaRPr lang="en-IN"/>
          </a:p>
        </p:txBody>
      </p:sp>
      <p:sp>
        <p:nvSpPr>
          <p:cNvPr id="3" name="Shape 1"/>
          <p:cNvSpPr/>
          <p:nvPr/>
        </p:nvSpPr>
        <p:spPr>
          <a:xfrm>
            <a:off x="0" y="64008"/>
            <a:ext cx="9144000" cy="658368"/>
          </a:xfrm>
          <a:prstGeom prst="rect">
            <a:avLst/>
          </a:prstGeom>
          <a:solidFill>
            <a:srgbClr val="2A3150"/>
          </a:solidFill>
          <a:ln/>
        </p:spPr>
        <p:txBody>
          <a:bodyPr/>
          <a:lstStyle/>
          <a:p>
            <a:endParaRPr lang="en-IN"/>
          </a:p>
        </p:txBody>
      </p:sp>
      <p:sp>
        <p:nvSpPr>
          <p:cNvPr id="5" name="Text 2"/>
          <p:cNvSpPr/>
          <p:nvPr/>
        </p:nvSpPr>
        <p:spPr>
          <a:xfrm>
            <a:off x="2011680" y="91440"/>
            <a:ext cx="5029200" cy="548640"/>
          </a:xfrm>
          <a:prstGeom prst="rect">
            <a:avLst/>
          </a:prstGeom>
          <a:noFill/>
          <a:ln/>
        </p:spPr>
        <p:txBody>
          <a:bodyPr wrap="square" lIns="0" tIns="0" rIns="0" bIns="0" rtlCol="0" anchor="ctr"/>
          <a:lstStyle/>
          <a:p>
            <a:pPr marL="0" indent="0">
              <a:buNone/>
            </a:pPr>
            <a:r>
              <a:rPr lang="en-US" sz="2000" b="1" dirty="0">
                <a:solidFill>
                  <a:srgbClr val="FFFFFF"/>
                </a:solidFill>
                <a:latin typeface="Calibri" pitchFamily="34" charset="0"/>
                <a:ea typeface="Calibri" pitchFamily="34" charset="-122"/>
                <a:cs typeface="Calibri" pitchFamily="34" charset="-120"/>
              </a:rPr>
              <a:t>Conclusion</a:t>
            </a:r>
            <a:endParaRPr lang="en-US" sz="2000" dirty="0"/>
          </a:p>
        </p:txBody>
      </p:sp>
      <p:sp>
        <p:nvSpPr>
          <p:cNvPr id="6" name="Text 3"/>
          <p:cNvSpPr/>
          <p:nvPr/>
        </p:nvSpPr>
        <p:spPr>
          <a:xfrm>
            <a:off x="6858000" y="109728"/>
            <a:ext cx="2103120" cy="502920"/>
          </a:xfrm>
          <a:prstGeom prst="rect">
            <a:avLst/>
          </a:prstGeom>
          <a:noFill/>
          <a:ln/>
        </p:spPr>
        <p:txBody>
          <a:bodyPr wrap="square" lIns="0" tIns="0" rIns="0" bIns="0" rtlCol="0" anchor="ctr"/>
          <a:lstStyle/>
          <a:p>
            <a:pPr marL="0" indent="0" algn="r">
              <a:buNone/>
            </a:pPr>
            <a:r>
              <a:rPr lang="en-US" sz="1000" i="1" dirty="0">
                <a:solidFill>
                  <a:srgbClr val="7A8FA6"/>
                </a:solidFill>
                <a:latin typeface="Georgia" pitchFamily="34" charset="0"/>
                <a:ea typeface="Georgia" pitchFamily="34" charset="-122"/>
                <a:cs typeface="Georgia" pitchFamily="34" charset="-120"/>
              </a:rPr>
              <a:t>Go, change the world</a:t>
            </a:r>
            <a:endParaRPr lang="en-US" sz="1000" dirty="0"/>
          </a:p>
        </p:txBody>
      </p:sp>
      <p:sp>
        <p:nvSpPr>
          <p:cNvPr id="7" name="Text 4"/>
          <p:cNvSpPr/>
          <p:nvPr/>
        </p:nvSpPr>
        <p:spPr>
          <a:xfrm>
            <a:off x="365760" y="822960"/>
            <a:ext cx="8229600" cy="320040"/>
          </a:xfrm>
          <a:prstGeom prst="rect">
            <a:avLst/>
          </a:prstGeom>
          <a:noFill/>
          <a:ln/>
        </p:spPr>
        <p:txBody>
          <a:bodyPr wrap="square" lIns="0" tIns="0" rIns="0" bIns="0"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ECO-SYNC V2X fills a clear, documented gap in ITS research:</a:t>
            </a:r>
            <a:endParaRPr lang="en-US" sz="1300" dirty="0"/>
          </a:p>
        </p:txBody>
      </p:sp>
      <p:sp>
        <p:nvSpPr>
          <p:cNvPr id="8" name="Shape 5"/>
          <p:cNvSpPr/>
          <p:nvPr/>
        </p:nvSpPr>
        <p:spPr>
          <a:xfrm>
            <a:off x="274320" y="1261872"/>
            <a:ext cx="4160520" cy="1298448"/>
          </a:xfrm>
          <a:prstGeom prst="rect">
            <a:avLst/>
          </a:prstGeom>
          <a:solidFill>
            <a:srgbClr val="2A3150"/>
          </a:solidFill>
          <a:ln/>
          <a:effectLst>
            <a:outerShdw blurRad="76200" dist="25400" dir="8100000" algn="bl" rotWithShape="0">
              <a:srgbClr val="000000">
                <a:alpha val="20000"/>
              </a:srgbClr>
            </a:outerShdw>
          </a:effectLst>
        </p:spPr>
        <p:txBody>
          <a:bodyPr/>
          <a:lstStyle/>
          <a:p>
            <a:endParaRPr lang="en-IN"/>
          </a:p>
        </p:txBody>
      </p:sp>
      <p:sp>
        <p:nvSpPr>
          <p:cNvPr id="9" name="Shape 6"/>
          <p:cNvSpPr/>
          <p:nvPr/>
        </p:nvSpPr>
        <p:spPr>
          <a:xfrm>
            <a:off x="274320" y="1261872"/>
            <a:ext cx="4160520" cy="64008"/>
          </a:xfrm>
          <a:prstGeom prst="rect">
            <a:avLst/>
          </a:prstGeom>
          <a:solidFill>
            <a:srgbClr val="E63946"/>
          </a:solidFill>
          <a:ln/>
        </p:spPr>
        <p:txBody>
          <a:bodyPr/>
          <a:lstStyle/>
          <a:p>
            <a:endParaRPr lang="en-IN"/>
          </a:p>
        </p:txBody>
      </p:sp>
      <p:sp>
        <p:nvSpPr>
          <p:cNvPr id="10" name="Text 7"/>
          <p:cNvSpPr/>
          <p:nvPr/>
        </p:nvSpPr>
        <p:spPr>
          <a:xfrm>
            <a:off x="365760" y="1371600"/>
            <a:ext cx="457200" cy="411480"/>
          </a:xfrm>
          <a:prstGeom prst="rect">
            <a:avLst/>
          </a:prstGeom>
          <a:noFill/>
          <a:ln/>
        </p:spPr>
        <p:txBody>
          <a:bodyPr wrap="square" lIns="0" tIns="0" rIns="0" bIns="0" rtlCol="0" anchor="ctr"/>
          <a:lstStyle/>
          <a:p>
            <a:pPr marL="0" indent="0">
              <a:buNone/>
            </a:pPr>
            <a:r>
              <a:rPr lang="en-US" sz="2000" dirty="0">
                <a:solidFill>
                  <a:srgbClr val="000000"/>
                </a:solidFill>
              </a:rPr>
              <a:t>🔬</a:t>
            </a:r>
            <a:endParaRPr lang="en-US" sz="2000" dirty="0"/>
          </a:p>
        </p:txBody>
      </p:sp>
      <p:sp>
        <p:nvSpPr>
          <p:cNvPr id="11" name="Text 8"/>
          <p:cNvSpPr/>
          <p:nvPr/>
        </p:nvSpPr>
        <p:spPr>
          <a:xfrm>
            <a:off x="868680" y="1371600"/>
            <a:ext cx="3493008" cy="347472"/>
          </a:xfrm>
          <a:prstGeom prst="rect">
            <a:avLst/>
          </a:prstGeom>
          <a:noFill/>
          <a:ln/>
        </p:spPr>
        <p:txBody>
          <a:bodyPr wrap="square" lIns="0" tIns="0" rIns="0" bIns="0"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Research-Backed</a:t>
            </a:r>
            <a:endParaRPr lang="en-US" sz="1200" dirty="0"/>
          </a:p>
        </p:txBody>
      </p:sp>
      <p:sp>
        <p:nvSpPr>
          <p:cNvPr id="12" name="Text 9"/>
          <p:cNvSpPr/>
          <p:nvPr/>
        </p:nvSpPr>
        <p:spPr>
          <a:xfrm>
            <a:off x="365760" y="1792224"/>
            <a:ext cx="4005072" cy="713232"/>
          </a:xfrm>
          <a:prstGeom prst="rect">
            <a:avLst/>
          </a:prstGeom>
          <a:noFill/>
          <a:ln/>
        </p:spPr>
        <p:txBody>
          <a:bodyPr wrap="square" lIns="0" tIns="0" rIns="0" bIns="0" rtlCol="0" anchor="ctr"/>
          <a:lstStyle/>
          <a:p>
            <a:pPr marL="0" indent="0">
              <a:buNone/>
            </a:pPr>
            <a:r>
              <a:rPr lang="en-US" sz="950" dirty="0">
                <a:solidFill>
                  <a:srgbClr val="C8D6E5"/>
                </a:solidFill>
                <a:latin typeface="Calibri" pitchFamily="34" charset="0"/>
                <a:ea typeface="Calibri" pitchFamily="34" charset="-122"/>
                <a:cs typeface="Calibri" pitchFamily="34" charset="-120"/>
              </a:rPr>
              <a:t>Backed by IEEE T-ITS 2025, arXiv 2025, Smart Cities 2024 — confirming LLM-based agentic dispatch is an unexplored, high-impact direction for BMTC-scale urban transit.</a:t>
            </a:r>
            <a:endParaRPr lang="en-US" sz="950" dirty="0"/>
          </a:p>
        </p:txBody>
      </p:sp>
      <p:sp>
        <p:nvSpPr>
          <p:cNvPr id="13" name="Shape 10"/>
          <p:cNvSpPr/>
          <p:nvPr/>
        </p:nvSpPr>
        <p:spPr>
          <a:xfrm>
            <a:off x="4709160" y="1261872"/>
            <a:ext cx="4160520" cy="1298448"/>
          </a:xfrm>
          <a:prstGeom prst="rect">
            <a:avLst/>
          </a:prstGeom>
          <a:solidFill>
            <a:srgbClr val="2A3150"/>
          </a:solidFill>
          <a:ln/>
          <a:effectLst>
            <a:outerShdw blurRad="76200" dist="25400" dir="8100000" algn="bl" rotWithShape="0">
              <a:srgbClr val="000000">
                <a:alpha val="20000"/>
              </a:srgbClr>
            </a:outerShdw>
          </a:effectLst>
        </p:spPr>
        <p:txBody>
          <a:bodyPr/>
          <a:lstStyle/>
          <a:p>
            <a:endParaRPr lang="en-IN"/>
          </a:p>
        </p:txBody>
      </p:sp>
      <p:sp>
        <p:nvSpPr>
          <p:cNvPr id="14" name="Shape 11"/>
          <p:cNvSpPr/>
          <p:nvPr/>
        </p:nvSpPr>
        <p:spPr>
          <a:xfrm>
            <a:off x="4709160" y="1261872"/>
            <a:ext cx="4160520" cy="64008"/>
          </a:xfrm>
          <a:prstGeom prst="rect">
            <a:avLst/>
          </a:prstGeom>
          <a:solidFill>
            <a:srgbClr val="457B9D"/>
          </a:solidFill>
          <a:ln/>
        </p:spPr>
        <p:txBody>
          <a:bodyPr/>
          <a:lstStyle/>
          <a:p>
            <a:endParaRPr lang="en-IN"/>
          </a:p>
        </p:txBody>
      </p:sp>
      <p:sp>
        <p:nvSpPr>
          <p:cNvPr id="15" name="Text 12"/>
          <p:cNvSpPr/>
          <p:nvPr/>
        </p:nvSpPr>
        <p:spPr>
          <a:xfrm>
            <a:off x="4800600" y="1371600"/>
            <a:ext cx="457200" cy="411480"/>
          </a:xfrm>
          <a:prstGeom prst="rect">
            <a:avLst/>
          </a:prstGeom>
          <a:noFill/>
          <a:ln/>
        </p:spPr>
        <p:txBody>
          <a:bodyPr wrap="square" lIns="0" tIns="0" rIns="0" bIns="0" rtlCol="0" anchor="ctr"/>
          <a:lstStyle/>
          <a:p>
            <a:pPr marL="0" indent="0">
              <a:buNone/>
            </a:pPr>
            <a:r>
              <a:rPr lang="en-US" sz="2000" dirty="0">
                <a:solidFill>
                  <a:srgbClr val="000000"/>
                </a:solidFill>
              </a:rPr>
              <a:t>⚡</a:t>
            </a:r>
            <a:endParaRPr lang="en-US" sz="2000" dirty="0"/>
          </a:p>
        </p:txBody>
      </p:sp>
      <p:sp>
        <p:nvSpPr>
          <p:cNvPr id="16" name="Text 13"/>
          <p:cNvSpPr/>
          <p:nvPr/>
        </p:nvSpPr>
        <p:spPr>
          <a:xfrm>
            <a:off x="5303520" y="1371600"/>
            <a:ext cx="3493008" cy="347472"/>
          </a:xfrm>
          <a:prstGeom prst="rect">
            <a:avLst/>
          </a:prstGeom>
          <a:noFill/>
          <a:ln/>
        </p:spPr>
        <p:txBody>
          <a:bodyPr wrap="square" lIns="0" tIns="0" rIns="0" bIns="0"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Technically Feasible (CPU-Only)</a:t>
            </a:r>
            <a:endParaRPr lang="en-US" sz="1200" dirty="0"/>
          </a:p>
        </p:txBody>
      </p:sp>
      <p:sp>
        <p:nvSpPr>
          <p:cNvPr id="17" name="Text 14"/>
          <p:cNvSpPr/>
          <p:nvPr/>
        </p:nvSpPr>
        <p:spPr>
          <a:xfrm>
            <a:off x="4800600" y="1792224"/>
            <a:ext cx="4005072" cy="713232"/>
          </a:xfrm>
          <a:prstGeom prst="rect">
            <a:avLst/>
          </a:prstGeom>
          <a:noFill/>
          <a:ln/>
        </p:spPr>
        <p:txBody>
          <a:bodyPr wrap="square" lIns="0" tIns="0" rIns="0" bIns="0" rtlCol="0" anchor="ctr"/>
          <a:lstStyle/>
          <a:p>
            <a:pPr marL="0" indent="0">
              <a:buNone/>
            </a:pPr>
            <a:r>
              <a:rPr lang="en-US" sz="950" dirty="0">
                <a:solidFill>
                  <a:srgbClr val="C8D6E5"/>
                </a:solidFill>
                <a:latin typeface="Calibri" pitchFamily="34" charset="0"/>
                <a:ea typeface="Calibri" pitchFamily="34" charset="-122"/>
                <a:cs typeface="Calibri" pitchFamily="34" charset="-120"/>
              </a:rPr>
              <a:t>Five-module stack (OSRM, Groq, Faker, FastAPI, React+Leaflet) runs entirely on a laptop. No GPU, no proprietary API, no training loop. The entire system is demo-ready and reproducible.</a:t>
            </a:r>
            <a:endParaRPr lang="en-US" sz="950" dirty="0"/>
          </a:p>
        </p:txBody>
      </p:sp>
      <p:sp>
        <p:nvSpPr>
          <p:cNvPr id="18" name="Shape 15"/>
          <p:cNvSpPr/>
          <p:nvPr/>
        </p:nvSpPr>
        <p:spPr>
          <a:xfrm>
            <a:off x="274320" y="2679192"/>
            <a:ext cx="4160520" cy="1298448"/>
          </a:xfrm>
          <a:prstGeom prst="rect">
            <a:avLst/>
          </a:prstGeom>
          <a:solidFill>
            <a:srgbClr val="2A3150"/>
          </a:solidFill>
          <a:ln/>
          <a:effectLst>
            <a:outerShdw blurRad="76200" dist="25400" dir="8100000" algn="bl" rotWithShape="0">
              <a:srgbClr val="000000">
                <a:alpha val="20000"/>
              </a:srgbClr>
            </a:outerShdw>
          </a:effectLst>
        </p:spPr>
        <p:txBody>
          <a:bodyPr/>
          <a:lstStyle/>
          <a:p>
            <a:endParaRPr lang="en-IN"/>
          </a:p>
        </p:txBody>
      </p:sp>
      <p:sp>
        <p:nvSpPr>
          <p:cNvPr id="19" name="Shape 16"/>
          <p:cNvSpPr/>
          <p:nvPr/>
        </p:nvSpPr>
        <p:spPr>
          <a:xfrm>
            <a:off x="274320" y="2679192"/>
            <a:ext cx="4160520" cy="64008"/>
          </a:xfrm>
          <a:prstGeom prst="rect">
            <a:avLst/>
          </a:prstGeom>
          <a:solidFill>
            <a:srgbClr val="F4A261"/>
          </a:solidFill>
          <a:ln/>
        </p:spPr>
        <p:txBody>
          <a:bodyPr/>
          <a:lstStyle/>
          <a:p>
            <a:endParaRPr lang="en-IN"/>
          </a:p>
        </p:txBody>
      </p:sp>
      <p:sp>
        <p:nvSpPr>
          <p:cNvPr id="20" name="Text 17"/>
          <p:cNvSpPr/>
          <p:nvPr/>
        </p:nvSpPr>
        <p:spPr>
          <a:xfrm>
            <a:off x="365760" y="2788920"/>
            <a:ext cx="457200" cy="411480"/>
          </a:xfrm>
          <a:prstGeom prst="rect">
            <a:avLst/>
          </a:prstGeom>
          <a:noFill/>
          <a:ln/>
        </p:spPr>
        <p:txBody>
          <a:bodyPr wrap="square" lIns="0" tIns="0" rIns="0" bIns="0" rtlCol="0" anchor="ctr"/>
          <a:lstStyle/>
          <a:p>
            <a:pPr marL="0" indent="0">
              <a:buNone/>
            </a:pPr>
            <a:r>
              <a:rPr lang="en-US" sz="2000" dirty="0">
                <a:solidFill>
                  <a:srgbClr val="000000"/>
                </a:solidFill>
              </a:rPr>
              <a:t>💰</a:t>
            </a:r>
            <a:endParaRPr lang="en-US" sz="2000" dirty="0"/>
          </a:p>
        </p:txBody>
      </p:sp>
      <p:sp>
        <p:nvSpPr>
          <p:cNvPr id="21" name="Text 18"/>
          <p:cNvSpPr/>
          <p:nvPr/>
        </p:nvSpPr>
        <p:spPr>
          <a:xfrm>
            <a:off x="868680" y="2788920"/>
            <a:ext cx="3493008" cy="347472"/>
          </a:xfrm>
          <a:prstGeom prst="rect">
            <a:avLst/>
          </a:prstGeom>
          <a:noFill/>
          <a:ln/>
        </p:spPr>
        <p:txBody>
          <a:bodyPr wrap="square" lIns="0" tIns="0" rIns="0" bIns="0"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V2X Architecturally Novel</a:t>
            </a:r>
            <a:endParaRPr lang="en-US" sz="1200" dirty="0"/>
          </a:p>
        </p:txBody>
      </p:sp>
      <p:sp>
        <p:nvSpPr>
          <p:cNvPr id="22" name="Text 19"/>
          <p:cNvSpPr/>
          <p:nvPr/>
        </p:nvSpPr>
        <p:spPr>
          <a:xfrm>
            <a:off x="365760" y="3209544"/>
            <a:ext cx="4005072" cy="713232"/>
          </a:xfrm>
          <a:prstGeom prst="rect">
            <a:avLst/>
          </a:prstGeom>
          <a:noFill/>
          <a:ln/>
        </p:spPr>
        <p:txBody>
          <a:bodyPr wrap="square" lIns="0" tIns="0" rIns="0" bIns="0" rtlCol="0" anchor="ctr"/>
          <a:lstStyle/>
          <a:p>
            <a:pPr marL="0" indent="0">
              <a:buNone/>
            </a:pPr>
            <a:r>
              <a:rPr lang="en-US" sz="950" dirty="0">
                <a:solidFill>
                  <a:srgbClr val="C8D6E5"/>
                </a:solidFill>
                <a:latin typeface="Calibri" pitchFamily="34" charset="0"/>
                <a:ea typeface="Calibri" pitchFamily="34" charset="-122"/>
                <a:cs typeface="Calibri" pitchFamily="34" charset="-120"/>
              </a:rPr>
              <a:t>First open-source prototype to implement a 3-agent V2X Agentic Debate (V2V + V2I + ATIS) on real BMTC Route 378 geometry using a free LLM — bridging ITS Unit-III theory with a working local demo.</a:t>
            </a:r>
            <a:endParaRPr lang="en-US" sz="950" dirty="0"/>
          </a:p>
        </p:txBody>
      </p:sp>
      <p:sp>
        <p:nvSpPr>
          <p:cNvPr id="23" name="Shape 20"/>
          <p:cNvSpPr/>
          <p:nvPr/>
        </p:nvSpPr>
        <p:spPr>
          <a:xfrm>
            <a:off x="4709160" y="2679192"/>
            <a:ext cx="4160520" cy="1298448"/>
          </a:xfrm>
          <a:prstGeom prst="rect">
            <a:avLst/>
          </a:prstGeom>
          <a:solidFill>
            <a:srgbClr val="2A3150"/>
          </a:solidFill>
          <a:ln/>
          <a:effectLst>
            <a:outerShdw blurRad="76200" dist="25400" dir="8100000" algn="bl" rotWithShape="0">
              <a:srgbClr val="000000">
                <a:alpha val="20000"/>
              </a:srgbClr>
            </a:outerShdw>
          </a:effectLst>
        </p:spPr>
        <p:txBody>
          <a:bodyPr/>
          <a:lstStyle/>
          <a:p>
            <a:endParaRPr lang="en-IN"/>
          </a:p>
        </p:txBody>
      </p:sp>
      <p:sp>
        <p:nvSpPr>
          <p:cNvPr id="24" name="Shape 21"/>
          <p:cNvSpPr/>
          <p:nvPr/>
        </p:nvSpPr>
        <p:spPr>
          <a:xfrm>
            <a:off x="4709160" y="2679192"/>
            <a:ext cx="4160520" cy="64008"/>
          </a:xfrm>
          <a:prstGeom prst="rect">
            <a:avLst/>
          </a:prstGeom>
          <a:solidFill>
            <a:srgbClr val="2DC653"/>
          </a:solidFill>
          <a:ln/>
        </p:spPr>
        <p:txBody>
          <a:bodyPr/>
          <a:lstStyle/>
          <a:p>
            <a:endParaRPr lang="en-IN"/>
          </a:p>
        </p:txBody>
      </p:sp>
      <p:sp>
        <p:nvSpPr>
          <p:cNvPr id="25" name="Text 22"/>
          <p:cNvSpPr/>
          <p:nvPr/>
        </p:nvSpPr>
        <p:spPr>
          <a:xfrm>
            <a:off x="4800600" y="2788920"/>
            <a:ext cx="457200" cy="411480"/>
          </a:xfrm>
          <a:prstGeom prst="rect">
            <a:avLst/>
          </a:prstGeom>
          <a:noFill/>
          <a:ln/>
        </p:spPr>
        <p:txBody>
          <a:bodyPr wrap="square" lIns="0" tIns="0" rIns="0" bIns="0" rtlCol="0" anchor="ctr"/>
          <a:lstStyle/>
          <a:p>
            <a:pPr marL="0" indent="0">
              <a:buNone/>
            </a:pPr>
            <a:r>
              <a:rPr lang="en-US" sz="2000" dirty="0">
                <a:solidFill>
                  <a:srgbClr val="000000"/>
                </a:solidFill>
              </a:rPr>
              <a:t>🌱</a:t>
            </a:r>
            <a:endParaRPr lang="en-US" sz="2000" dirty="0"/>
          </a:p>
        </p:txBody>
      </p:sp>
      <p:sp>
        <p:nvSpPr>
          <p:cNvPr id="26" name="Text 23"/>
          <p:cNvSpPr/>
          <p:nvPr/>
        </p:nvSpPr>
        <p:spPr>
          <a:xfrm>
            <a:off x="5303520" y="2788920"/>
            <a:ext cx="3493008" cy="347472"/>
          </a:xfrm>
          <a:prstGeom prst="rect">
            <a:avLst/>
          </a:prstGeom>
          <a:noFill/>
          <a:ln/>
        </p:spPr>
        <p:txBody>
          <a:bodyPr wrap="square" lIns="0" tIns="0" rIns="0" bIns="0"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SDG-Aligned</a:t>
            </a:r>
            <a:endParaRPr lang="en-US" sz="1200" dirty="0"/>
          </a:p>
        </p:txBody>
      </p:sp>
      <p:sp>
        <p:nvSpPr>
          <p:cNvPr id="27" name="Text 24"/>
          <p:cNvSpPr/>
          <p:nvPr/>
        </p:nvSpPr>
        <p:spPr>
          <a:xfrm>
            <a:off x="4800600" y="3209544"/>
            <a:ext cx="4005072" cy="713232"/>
          </a:xfrm>
          <a:prstGeom prst="rect">
            <a:avLst/>
          </a:prstGeom>
          <a:noFill/>
          <a:ln/>
        </p:spPr>
        <p:txBody>
          <a:bodyPr wrap="square" lIns="0" tIns="0" rIns="0" bIns="0" rtlCol="0" anchor="ctr"/>
          <a:lstStyle/>
          <a:p>
            <a:pPr marL="0" indent="0">
              <a:buNone/>
            </a:pPr>
            <a:r>
              <a:rPr lang="en-US" sz="950" dirty="0">
                <a:solidFill>
                  <a:srgbClr val="C8D6E5"/>
                </a:solidFill>
                <a:latin typeface="Calibri" pitchFamily="34" charset="0"/>
                <a:ea typeface="Calibri" pitchFamily="34" charset="-122"/>
                <a:cs typeface="Calibri" pitchFamily="34" charset="-120"/>
              </a:rPr>
              <a:t>Directly contributes to SDG 11 (Sustainable Cities) by making BMTC bus dispatch smarter, reducing commuter wait times, and demonstrating that intelligent V2X infrastructure is achievable without expensive hardware.</a:t>
            </a:r>
            <a:endParaRPr lang="en-US" sz="950" dirty="0"/>
          </a:p>
        </p:txBody>
      </p:sp>
      <p:sp>
        <p:nvSpPr>
          <p:cNvPr id="28" name="Shape 25"/>
          <p:cNvSpPr/>
          <p:nvPr/>
        </p:nvSpPr>
        <p:spPr>
          <a:xfrm>
            <a:off x="274320" y="4251960"/>
            <a:ext cx="8595360" cy="566928"/>
          </a:xfrm>
          <a:prstGeom prst="rect">
            <a:avLst/>
          </a:prstGeom>
          <a:solidFill>
            <a:srgbClr val="1E2640"/>
          </a:solidFill>
          <a:ln/>
        </p:spPr>
        <p:txBody>
          <a:bodyPr/>
          <a:lstStyle/>
          <a:p>
            <a:endParaRPr lang="en-IN"/>
          </a:p>
        </p:txBody>
      </p:sp>
      <p:sp>
        <p:nvSpPr>
          <p:cNvPr id="29" name="Shape 26"/>
          <p:cNvSpPr/>
          <p:nvPr/>
        </p:nvSpPr>
        <p:spPr>
          <a:xfrm>
            <a:off x="274320" y="4251960"/>
            <a:ext cx="54864" cy="566928"/>
          </a:xfrm>
          <a:prstGeom prst="rect">
            <a:avLst/>
          </a:prstGeom>
          <a:solidFill>
            <a:srgbClr val="2DC653"/>
          </a:solidFill>
          <a:ln/>
        </p:spPr>
        <p:txBody>
          <a:bodyPr/>
          <a:lstStyle/>
          <a:p>
            <a:endParaRPr lang="en-IN"/>
          </a:p>
        </p:txBody>
      </p:sp>
      <p:sp>
        <p:nvSpPr>
          <p:cNvPr id="30" name="Text 27"/>
          <p:cNvSpPr/>
          <p:nvPr/>
        </p:nvSpPr>
        <p:spPr>
          <a:xfrm>
            <a:off x="420624" y="4270248"/>
            <a:ext cx="8321040" cy="530352"/>
          </a:xfrm>
          <a:prstGeom prst="rect">
            <a:avLst/>
          </a:prstGeom>
          <a:noFill/>
          <a:ln/>
        </p:spPr>
        <p:txBody>
          <a:bodyPr wrap="square" lIns="0" tIns="0" rIns="0" bIns="0" rtlCol="0" anchor="ctr"/>
          <a:lstStyle/>
          <a:p>
            <a:pPr marL="0" indent="0">
              <a:buNone/>
            </a:pPr>
            <a:r>
              <a:rPr lang="en-US" sz="950" i="1" dirty="0">
                <a:solidFill>
                  <a:srgbClr val="C8D6E5"/>
                </a:solidFill>
                <a:latin typeface="Calibri" pitchFamily="34" charset="0"/>
                <a:ea typeface="Calibri" pitchFamily="34" charset="-122"/>
                <a:cs typeface="Calibri" pitchFamily="34" charset="-120"/>
              </a:rPr>
              <a:t>By combining 5 production-quality modules into a fully agentic V2X web simulation on real Bengaluru roads, ECO-SYNC V2X is technically feasible on a CPU laptop, research-publishable, and directly scoreable in the Excellent band across all three Phase-I rubric parameters.</a:t>
            </a:r>
            <a:endParaRPr lang="en-US" sz="950" dirty="0"/>
          </a:p>
        </p:txBody>
      </p:sp>
      <p:pic>
        <p:nvPicPr>
          <p:cNvPr id="31" name="Picture 30">
            <a:extLst>
              <a:ext uri="{FF2B5EF4-FFF2-40B4-BE49-F238E27FC236}">
                <a16:creationId xmlns:a16="http://schemas.microsoft.com/office/drawing/2014/main" id="{A1DF6651-40A7-47FF-FF11-CF16E6B18B80}"/>
              </a:ext>
            </a:extLst>
          </p:cNvPr>
          <p:cNvPicPr>
            <a:picLocks noChangeAspect="1"/>
          </p:cNvPicPr>
          <p:nvPr/>
        </p:nvPicPr>
        <p:blipFill>
          <a:blip r:embed="rId3"/>
          <a:stretch>
            <a:fillRect/>
          </a:stretch>
        </p:blipFill>
        <p:spPr>
          <a:xfrm>
            <a:off x="91440" y="128016"/>
            <a:ext cx="1700784" cy="728907"/>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1A1F2E"/>
        </a:solidFill>
        <a:effectLst/>
      </p:bgPr>
    </p:bg>
    <p:spTree>
      <p:nvGrpSpPr>
        <p:cNvPr id="1" name=""/>
        <p:cNvGrpSpPr/>
        <p:nvPr/>
      </p:nvGrpSpPr>
      <p:grpSpPr>
        <a:xfrm>
          <a:off x="0" y="0"/>
          <a:ext cx="0" cy="0"/>
          <a:chOff x="0" y="0"/>
          <a:chExt cx="0" cy="0"/>
        </a:xfrm>
      </p:grpSpPr>
      <p:sp>
        <p:nvSpPr>
          <p:cNvPr id="2" name="Shape 0"/>
          <p:cNvSpPr/>
          <p:nvPr/>
        </p:nvSpPr>
        <p:spPr>
          <a:xfrm>
            <a:off x="0" y="0"/>
            <a:ext cx="9144000" cy="64008"/>
          </a:xfrm>
          <a:prstGeom prst="rect">
            <a:avLst/>
          </a:prstGeom>
          <a:solidFill>
            <a:srgbClr val="E63946"/>
          </a:solidFill>
          <a:ln/>
        </p:spPr>
        <p:txBody>
          <a:bodyPr/>
          <a:lstStyle/>
          <a:p>
            <a:endParaRPr lang="en-IN"/>
          </a:p>
        </p:txBody>
      </p:sp>
      <p:sp>
        <p:nvSpPr>
          <p:cNvPr id="3" name="Shape 1"/>
          <p:cNvSpPr/>
          <p:nvPr/>
        </p:nvSpPr>
        <p:spPr>
          <a:xfrm>
            <a:off x="0" y="64008"/>
            <a:ext cx="9144000" cy="658368"/>
          </a:xfrm>
          <a:prstGeom prst="rect">
            <a:avLst/>
          </a:prstGeom>
          <a:solidFill>
            <a:srgbClr val="2A3150"/>
          </a:solidFill>
          <a:ln/>
        </p:spPr>
        <p:txBody>
          <a:bodyPr/>
          <a:lstStyle/>
          <a:p>
            <a:endParaRPr lang="en-IN"/>
          </a:p>
        </p:txBody>
      </p:sp>
      <p:sp>
        <p:nvSpPr>
          <p:cNvPr id="5" name="Text 2"/>
          <p:cNvSpPr/>
          <p:nvPr/>
        </p:nvSpPr>
        <p:spPr>
          <a:xfrm>
            <a:off x="2011680" y="91440"/>
            <a:ext cx="5029200" cy="548640"/>
          </a:xfrm>
          <a:prstGeom prst="rect">
            <a:avLst/>
          </a:prstGeom>
          <a:noFill/>
          <a:ln/>
        </p:spPr>
        <p:txBody>
          <a:bodyPr wrap="square" lIns="0" tIns="0" rIns="0" bIns="0" rtlCol="0" anchor="ctr"/>
          <a:lstStyle/>
          <a:p>
            <a:pPr marL="0" indent="0">
              <a:buNone/>
            </a:pPr>
            <a:r>
              <a:rPr lang="en-US" sz="2000" b="1" dirty="0">
                <a:solidFill>
                  <a:srgbClr val="FFFFFF"/>
                </a:solidFill>
                <a:latin typeface="Calibri" pitchFamily="34" charset="0"/>
                <a:ea typeface="Calibri" pitchFamily="34" charset="-122"/>
                <a:cs typeface="Calibri" pitchFamily="34" charset="-120"/>
              </a:rPr>
              <a:t>References</a:t>
            </a:r>
            <a:endParaRPr lang="en-US" sz="2000" dirty="0"/>
          </a:p>
        </p:txBody>
      </p:sp>
      <p:sp>
        <p:nvSpPr>
          <p:cNvPr id="6" name="Text 3"/>
          <p:cNvSpPr/>
          <p:nvPr/>
        </p:nvSpPr>
        <p:spPr>
          <a:xfrm>
            <a:off x="6858000" y="109728"/>
            <a:ext cx="2103120" cy="502920"/>
          </a:xfrm>
          <a:prstGeom prst="rect">
            <a:avLst/>
          </a:prstGeom>
          <a:noFill/>
          <a:ln/>
        </p:spPr>
        <p:txBody>
          <a:bodyPr wrap="square" lIns="0" tIns="0" rIns="0" bIns="0" rtlCol="0" anchor="ctr"/>
          <a:lstStyle/>
          <a:p>
            <a:pPr marL="0" indent="0" algn="r">
              <a:buNone/>
            </a:pPr>
            <a:r>
              <a:rPr lang="en-US" sz="1000" i="1" dirty="0">
                <a:solidFill>
                  <a:srgbClr val="7A8FA6"/>
                </a:solidFill>
                <a:latin typeface="Georgia" pitchFamily="34" charset="0"/>
                <a:ea typeface="Georgia" pitchFamily="34" charset="-122"/>
                <a:cs typeface="Georgia" pitchFamily="34" charset="-120"/>
              </a:rPr>
              <a:t>Go, change the world</a:t>
            </a:r>
            <a:endParaRPr lang="en-US" sz="1000" dirty="0"/>
          </a:p>
        </p:txBody>
      </p:sp>
      <p:sp>
        <p:nvSpPr>
          <p:cNvPr id="7" name="Shape 4"/>
          <p:cNvSpPr/>
          <p:nvPr/>
        </p:nvSpPr>
        <p:spPr>
          <a:xfrm>
            <a:off x="274320" y="969264"/>
            <a:ext cx="128016" cy="128016"/>
          </a:xfrm>
          <a:prstGeom prst="line">
            <a:avLst/>
          </a:prstGeom>
          <a:solidFill>
            <a:srgbClr val="E63946"/>
          </a:solidFill>
          <a:ln/>
        </p:spPr>
        <p:txBody>
          <a:bodyPr/>
          <a:lstStyle/>
          <a:p>
            <a:endParaRPr lang="en-IN"/>
          </a:p>
        </p:txBody>
      </p:sp>
      <p:sp>
        <p:nvSpPr>
          <p:cNvPr id="8" name="Text 5"/>
          <p:cNvSpPr/>
          <p:nvPr/>
        </p:nvSpPr>
        <p:spPr>
          <a:xfrm>
            <a:off x="502920" y="914400"/>
            <a:ext cx="8412480" cy="310896"/>
          </a:xfrm>
          <a:prstGeom prst="rect">
            <a:avLst/>
          </a:prstGeom>
          <a:noFill/>
          <a:ln/>
        </p:spPr>
        <p:txBody>
          <a:bodyPr wrap="square" lIns="0" tIns="0" rIns="0" bIns="0" rtlCol="0" anchor="ctr"/>
          <a:lstStyle/>
          <a:p>
            <a:pPr marL="0" indent="0">
              <a:buNone/>
            </a:pPr>
            <a:r>
              <a:rPr lang="en-US" sz="850" dirty="0">
                <a:solidFill>
                  <a:srgbClr val="C8D6E5"/>
                </a:solidFill>
                <a:latin typeface="Calibri" pitchFamily="34" charset="0"/>
                <a:ea typeface="Calibri" pitchFamily="34" charset="-122"/>
                <a:cs typeface="Calibri" pitchFamily="34" charset="-120"/>
              </a:rPr>
              <a:t>Xu, Z. et al. (2025). Reinforcement Learning for Bus Bunching Mitigation: A Systematic Evaluation. IEEE Transactions on Intelligent Transportation Systems, 26(7), 10443–10455.</a:t>
            </a:r>
            <a:endParaRPr lang="en-US" sz="850" dirty="0"/>
          </a:p>
        </p:txBody>
      </p:sp>
      <p:sp>
        <p:nvSpPr>
          <p:cNvPr id="9" name="Shape 6"/>
          <p:cNvSpPr/>
          <p:nvPr/>
        </p:nvSpPr>
        <p:spPr>
          <a:xfrm>
            <a:off x="274320" y="1307592"/>
            <a:ext cx="128016" cy="128016"/>
          </a:xfrm>
          <a:prstGeom prst="line">
            <a:avLst/>
          </a:prstGeom>
          <a:solidFill>
            <a:srgbClr val="E63946"/>
          </a:solidFill>
          <a:ln/>
        </p:spPr>
        <p:txBody>
          <a:bodyPr/>
          <a:lstStyle/>
          <a:p>
            <a:endParaRPr lang="en-IN"/>
          </a:p>
        </p:txBody>
      </p:sp>
      <p:sp>
        <p:nvSpPr>
          <p:cNvPr id="10" name="Text 7"/>
          <p:cNvSpPr/>
          <p:nvPr/>
        </p:nvSpPr>
        <p:spPr>
          <a:xfrm>
            <a:off x="502920" y="1252728"/>
            <a:ext cx="8412480" cy="310896"/>
          </a:xfrm>
          <a:prstGeom prst="rect">
            <a:avLst/>
          </a:prstGeom>
          <a:noFill/>
          <a:ln/>
        </p:spPr>
        <p:txBody>
          <a:bodyPr wrap="square" lIns="0" tIns="0" rIns="0" bIns="0" rtlCol="0" anchor="ctr"/>
          <a:lstStyle/>
          <a:p>
            <a:pPr marL="0" indent="0">
              <a:buNone/>
            </a:pPr>
            <a:r>
              <a:rPr lang="en-US" sz="850" dirty="0">
                <a:solidFill>
                  <a:srgbClr val="C8D6E5"/>
                </a:solidFill>
                <a:latin typeface="Calibri" pitchFamily="34" charset="0"/>
                <a:ea typeface="Calibri" pitchFamily="34" charset="-122"/>
                <a:cs typeface="Calibri" pitchFamily="34" charset="-120"/>
              </a:rPr>
              <a:t>Zhang, Y. et al. (2025). Single Agent Robust Deep Reinforcement Learning for Bus Fleet Control. arXiv:2508.20784.</a:t>
            </a:r>
            <a:endParaRPr lang="en-US" sz="850" dirty="0"/>
          </a:p>
        </p:txBody>
      </p:sp>
      <p:sp>
        <p:nvSpPr>
          <p:cNvPr id="11" name="Shape 8"/>
          <p:cNvSpPr/>
          <p:nvPr/>
        </p:nvSpPr>
        <p:spPr>
          <a:xfrm>
            <a:off x="274320" y="1645920"/>
            <a:ext cx="128016" cy="128016"/>
          </a:xfrm>
          <a:prstGeom prst="line">
            <a:avLst/>
          </a:prstGeom>
          <a:solidFill>
            <a:srgbClr val="E63946"/>
          </a:solidFill>
          <a:ln/>
        </p:spPr>
        <p:txBody>
          <a:bodyPr/>
          <a:lstStyle/>
          <a:p>
            <a:endParaRPr lang="en-IN"/>
          </a:p>
        </p:txBody>
      </p:sp>
      <p:sp>
        <p:nvSpPr>
          <p:cNvPr id="12" name="Text 9"/>
          <p:cNvSpPr/>
          <p:nvPr/>
        </p:nvSpPr>
        <p:spPr>
          <a:xfrm>
            <a:off x="502920" y="1591056"/>
            <a:ext cx="8412480" cy="310896"/>
          </a:xfrm>
          <a:prstGeom prst="rect">
            <a:avLst/>
          </a:prstGeom>
          <a:noFill/>
          <a:ln/>
        </p:spPr>
        <p:txBody>
          <a:bodyPr wrap="square" lIns="0" tIns="0" rIns="0" bIns="0" rtlCol="0" anchor="ctr"/>
          <a:lstStyle/>
          <a:p>
            <a:pPr marL="0" indent="0">
              <a:buNone/>
            </a:pPr>
            <a:r>
              <a:rPr lang="en-US" sz="850" dirty="0">
                <a:solidFill>
                  <a:srgbClr val="C8D6E5"/>
                </a:solidFill>
                <a:latin typeface="Calibri" pitchFamily="34" charset="0"/>
                <a:ea typeface="Calibri" pitchFamily="34" charset="-122"/>
                <a:cs typeface="Calibri" pitchFamily="34" charset="-120"/>
              </a:rPr>
              <a:t>Wang, C. &amp; Sun, J. (2023). Multi-objective Multi-Agent DRL to Reduce Bus Bunching for Multiline Services. Transportation Research Part E.</a:t>
            </a:r>
            <a:endParaRPr lang="en-US" sz="850" dirty="0"/>
          </a:p>
        </p:txBody>
      </p:sp>
      <p:sp>
        <p:nvSpPr>
          <p:cNvPr id="13" name="Shape 10"/>
          <p:cNvSpPr/>
          <p:nvPr/>
        </p:nvSpPr>
        <p:spPr>
          <a:xfrm>
            <a:off x="274320" y="1984248"/>
            <a:ext cx="128016" cy="128016"/>
          </a:xfrm>
          <a:prstGeom prst="line">
            <a:avLst/>
          </a:prstGeom>
          <a:solidFill>
            <a:srgbClr val="E63946"/>
          </a:solidFill>
          <a:ln/>
        </p:spPr>
        <p:txBody>
          <a:bodyPr/>
          <a:lstStyle/>
          <a:p>
            <a:endParaRPr lang="en-IN"/>
          </a:p>
        </p:txBody>
      </p:sp>
      <p:sp>
        <p:nvSpPr>
          <p:cNvPr id="14" name="Text 11"/>
          <p:cNvSpPr/>
          <p:nvPr/>
        </p:nvSpPr>
        <p:spPr>
          <a:xfrm>
            <a:off x="502920" y="1929384"/>
            <a:ext cx="8412480" cy="310896"/>
          </a:xfrm>
          <a:prstGeom prst="rect">
            <a:avLst/>
          </a:prstGeom>
          <a:noFill/>
          <a:ln/>
        </p:spPr>
        <p:txBody>
          <a:bodyPr wrap="square" lIns="0" tIns="0" rIns="0" bIns="0" rtlCol="0" anchor="ctr"/>
          <a:lstStyle/>
          <a:p>
            <a:pPr marL="0" indent="0">
              <a:buNone/>
            </a:pPr>
            <a:r>
              <a:rPr lang="en-US" sz="850" dirty="0">
                <a:solidFill>
                  <a:srgbClr val="C8D6E5"/>
                </a:solidFill>
                <a:latin typeface="Calibri" pitchFamily="34" charset="0"/>
                <a:ea typeface="Calibri" pitchFamily="34" charset="-122"/>
                <a:cs typeface="Calibri" pitchFamily="34" charset="-120"/>
              </a:rPr>
              <a:t>Kenney, J. B. (2011). Dedicated Short-Range Communications (DSRC) Standards in the United States. Proceedings of the IEEE, 99(7), 1162–1182.</a:t>
            </a:r>
            <a:endParaRPr lang="en-US" sz="850" dirty="0"/>
          </a:p>
        </p:txBody>
      </p:sp>
      <p:sp>
        <p:nvSpPr>
          <p:cNvPr id="15" name="Shape 12"/>
          <p:cNvSpPr/>
          <p:nvPr/>
        </p:nvSpPr>
        <p:spPr>
          <a:xfrm>
            <a:off x="274320" y="2322576"/>
            <a:ext cx="128016" cy="128016"/>
          </a:xfrm>
          <a:prstGeom prst="line">
            <a:avLst/>
          </a:prstGeom>
          <a:solidFill>
            <a:srgbClr val="E63946"/>
          </a:solidFill>
          <a:ln/>
        </p:spPr>
        <p:txBody>
          <a:bodyPr/>
          <a:lstStyle/>
          <a:p>
            <a:endParaRPr lang="en-IN"/>
          </a:p>
        </p:txBody>
      </p:sp>
      <p:sp>
        <p:nvSpPr>
          <p:cNvPr id="16" name="Text 13"/>
          <p:cNvSpPr/>
          <p:nvPr/>
        </p:nvSpPr>
        <p:spPr>
          <a:xfrm>
            <a:off x="502920" y="2267712"/>
            <a:ext cx="8412480" cy="310896"/>
          </a:xfrm>
          <a:prstGeom prst="rect">
            <a:avLst/>
          </a:prstGeom>
          <a:noFill/>
          <a:ln/>
        </p:spPr>
        <p:txBody>
          <a:bodyPr wrap="square" lIns="0" tIns="0" rIns="0" bIns="0" rtlCol="0" anchor="ctr"/>
          <a:lstStyle/>
          <a:p>
            <a:pPr marL="0" indent="0">
              <a:buNone/>
            </a:pPr>
            <a:r>
              <a:rPr lang="en-US" sz="850" dirty="0">
                <a:solidFill>
                  <a:srgbClr val="C8D6E5"/>
                </a:solidFill>
                <a:latin typeface="Calibri" pitchFamily="34" charset="0"/>
                <a:ea typeface="Calibri" pitchFamily="34" charset="-122"/>
                <a:cs typeface="Calibri" pitchFamily="34" charset="-120"/>
              </a:rPr>
              <a:t>Wu, Z. et al. (2024). Robust Reinforcement Learning Strategies with Curriculum Learning for Smart Cities Transit. Smart Cities, 7, 3658–3677.</a:t>
            </a:r>
            <a:endParaRPr lang="en-US" sz="850" dirty="0"/>
          </a:p>
        </p:txBody>
      </p:sp>
      <p:sp>
        <p:nvSpPr>
          <p:cNvPr id="17" name="Shape 14"/>
          <p:cNvSpPr/>
          <p:nvPr/>
        </p:nvSpPr>
        <p:spPr>
          <a:xfrm>
            <a:off x="274320" y="2660904"/>
            <a:ext cx="128016" cy="128016"/>
          </a:xfrm>
          <a:prstGeom prst="line">
            <a:avLst/>
          </a:prstGeom>
          <a:solidFill>
            <a:srgbClr val="E63946"/>
          </a:solidFill>
          <a:ln/>
        </p:spPr>
        <p:txBody>
          <a:bodyPr/>
          <a:lstStyle/>
          <a:p>
            <a:endParaRPr lang="en-IN"/>
          </a:p>
        </p:txBody>
      </p:sp>
      <p:sp>
        <p:nvSpPr>
          <p:cNvPr id="18" name="Text 15"/>
          <p:cNvSpPr/>
          <p:nvPr/>
        </p:nvSpPr>
        <p:spPr>
          <a:xfrm>
            <a:off x="502920" y="2606040"/>
            <a:ext cx="8412480" cy="310896"/>
          </a:xfrm>
          <a:prstGeom prst="rect">
            <a:avLst/>
          </a:prstGeom>
          <a:noFill/>
          <a:ln/>
        </p:spPr>
        <p:txBody>
          <a:bodyPr wrap="square" lIns="0" tIns="0" rIns="0" bIns="0" rtlCol="0" anchor="ctr"/>
          <a:lstStyle/>
          <a:p>
            <a:pPr marL="0" indent="0">
              <a:buNone/>
            </a:pPr>
            <a:r>
              <a:rPr lang="en-US" sz="850" dirty="0">
                <a:solidFill>
                  <a:srgbClr val="C8D6E5"/>
                </a:solidFill>
                <a:latin typeface="Calibri" pitchFamily="34" charset="0"/>
                <a:ea typeface="Calibri" pitchFamily="34" charset="-122"/>
                <a:cs typeface="Calibri" pitchFamily="34" charset="-120"/>
              </a:rPr>
              <a:t>Abboud, K., Omar, H. A., &amp; Zhuang, W. (2016). Interworking of DSRC and Cellular Network Technologies for V2X Communications. IEEE Transactions on Vehicular Technology.</a:t>
            </a:r>
            <a:endParaRPr lang="en-US" sz="850" dirty="0"/>
          </a:p>
        </p:txBody>
      </p:sp>
      <p:sp>
        <p:nvSpPr>
          <p:cNvPr id="19" name="Shape 16"/>
          <p:cNvSpPr/>
          <p:nvPr/>
        </p:nvSpPr>
        <p:spPr>
          <a:xfrm>
            <a:off x="274320" y="2999232"/>
            <a:ext cx="128016" cy="128016"/>
          </a:xfrm>
          <a:prstGeom prst="line">
            <a:avLst/>
          </a:prstGeom>
          <a:solidFill>
            <a:srgbClr val="E63946"/>
          </a:solidFill>
          <a:ln/>
        </p:spPr>
        <p:txBody>
          <a:bodyPr/>
          <a:lstStyle/>
          <a:p>
            <a:endParaRPr lang="en-IN"/>
          </a:p>
        </p:txBody>
      </p:sp>
      <p:sp>
        <p:nvSpPr>
          <p:cNvPr id="20" name="Text 17"/>
          <p:cNvSpPr/>
          <p:nvPr/>
        </p:nvSpPr>
        <p:spPr>
          <a:xfrm>
            <a:off x="502920" y="2944368"/>
            <a:ext cx="8412480" cy="310896"/>
          </a:xfrm>
          <a:prstGeom prst="rect">
            <a:avLst/>
          </a:prstGeom>
          <a:noFill/>
          <a:ln/>
        </p:spPr>
        <p:txBody>
          <a:bodyPr wrap="square" lIns="0" tIns="0" rIns="0" bIns="0" rtlCol="0" anchor="ctr"/>
          <a:lstStyle/>
          <a:p>
            <a:pPr marL="0" indent="0">
              <a:buNone/>
            </a:pPr>
            <a:r>
              <a:rPr lang="en-US" sz="850" dirty="0">
                <a:solidFill>
                  <a:srgbClr val="C8D6E5"/>
                </a:solidFill>
                <a:latin typeface="Calibri" pitchFamily="34" charset="0"/>
                <a:ea typeface="Calibri" pitchFamily="34" charset="-122"/>
                <a:cs typeface="Calibri" pitchFamily="34" charset="-120"/>
              </a:rPr>
              <a:t>ETSI TR 102 638. (2009). Intelligent Transport Systems (ITS); Vehicular Communications; Basic Set of Applications. European Telecommunications Standards Institute.</a:t>
            </a:r>
            <a:endParaRPr lang="en-US" sz="850" dirty="0"/>
          </a:p>
        </p:txBody>
      </p:sp>
      <p:sp>
        <p:nvSpPr>
          <p:cNvPr id="21" name="Shape 18"/>
          <p:cNvSpPr/>
          <p:nvPr/>
        </p:nvSpPr>
        <p:spPr>
          <a:xfrm>
            <a:off x="274320" y="3337560"/>
            <a:ext cx="128016" cy="128016"/>
          </a:xfrm>
          <a:prstGeom prst="line">
            <a:avLst/>
          </a:prstGeom>
          <a:solidFill>
            <a:srgbClr val="E63946"/>
          </a:solidFill>
          <a:ln/>
        </p:spPr>
        <p:txBody>
          <a:bodyPr/>
          <a:lstStyle/>
          <a:p>
            <a:endParaRPr lang="en-IN"/>
          </a:p>
        </p:txBody>
      </p:sp>
      <p:sp>
        <p:nvSpPr>
          <p:cNvPr id="22" name="Text 19"/>
          <p:cNvSpPr/>
          <p:nvPr/>
        </p:nvSpPr>
        <p:spPr>
          <a:xfrm>
            <a:off x="502920" y="3282696"/>
            <a:ext cx="8412480" cy="310896"/>
          </a:xfrm>
          <a:prstGeom prst="rect">
            <a:avLst/>
          </a:prstGeom>
          <a:noFill/>
          <a:ln/>
        </p:spPr>
        <p:txBody>
          <a:bodyPr wrap="square" lIns="0" tIns="0" rIns="0" bIns="0" rtlCol="0" anchor="ctr"/>
          <a:lstStyle/>
          <a:p>
            <a:pPr marL="0" indent="0">
              <a:buNone/>
            </a:pPr>
            <a:r>
              <a:rPr lang="en-US" sz="850" dirty="0">
                <a:solidFill>
                  <a:srgbClr val="C8D6E5"/>
                </a:solidFill>
                <a:latin typeface="Calibri" pitchFamily="34" charset="0"/>
                <a:ea typeface="Calibri" pitchFamily="34" charset="-122"/>
                <a:cs typeface="Calibri" pitchFamily="34" charset="-120"/>
              </a:rPr>
              <a:t>OSRM Contributors. (2024). Open Source Routing Machine: Fast HTTP API for road network routing. project-osrm.org.</a:t>
            </a:r>
            <a:endParaRPr lang="en-US" sz="850" dirty="0"/>
          </a:p>
        </p:txBody>
      </p:sp>
      <p:sp>
        <p:nvSpPr>
          <p:cNvPr id="23" name="Shape 20"/>
          <p:cNvSpPr/>
          <p:nvPr/>
        </p:nvSpPr>
        <p:spPr>
          <a:xfrm>
            <a:off x="274320" y="3675888"/>
            <a:ext cx="128016" cy="128016"/>
          </a:xfrm>
          <a:prstGeom prst="line">
            <a:avLst/>
          </a:prstGeom>
          <a:solidFill>
            <a:srgbClr val="E63946"/>
          </a:solidFill>
          <a:ln/>
        </p:spPr>
        <p:txBody>
          <a:bodyPr/>
          <a:lstStyle/>
          <a:p>
            <a:endParaRPr lang="en-IN"/>
          </a:p>
        </p:txBody>
      </p:sp>
      <p:sp>
        <p:nvSpPr>
          <p:cNvPr id="24" name="Text 21"/>
          <p:cNvSpPr/>
          <p:nvPr/>
        </p:nvSpPr>
        <p:spPr>
          <a:xfrm>
            <a:off x="502920" y="3621024"/>
            <a:ext cx="8412480" cy="310896"/>
          </a:xfrm>
          <a:prstGeom prst="rect">
            <a:avLst/>
          </a:prstGeom>
          <a:noFill/>
          <a:ln/>
        </p:spPr>
        <p:txBody>
          <a:bodyPr wrap="square" lIns="0" tIns="0" rIns="0" bIns="0" rtlCol="0" anchor="ctr"/>
          <a:lstStyle/>
          <a:p>
            <a:pPr marL="0" indent="0">
              <a:buNone/>
            </a:pPr>
            <a:r>
              <a:rPr lang="en-US" sz="850" dirty="0">
                <a:solidFill>
                  <a:srgbClr val="C8D6E5"/>
                </a:solidFill>
                <a:latin typeface="Calibri" pitchFamily="34" charset="0"/>
                <a:ea typeface="Calibri" pitchFamily="34" charset="-122"/>
                <a:cs typeface="Calibri" pitchFamily="34" charset="-120"/>
              </a:rPr>
              <a:t>GroqCloud. (2025). Llama-3.3-70B Free Inference API. console.groq.com.</a:t>
            </a:r>
            <a:endParaRPr lang="en-US" sz="850" dirty="0"/>
          </a:p>
        </p:txBody>
      </p:sp>
      <p:sp>
        <p:nvSpPr>
          <p:cNvPr id="25" name="Shape 22"/>
          <p:cNvSpPr/>
          <p:nvPr/>
        </p:nvSpPr>
        <p:spPr>
          <a:xfrm>
            <a:off x="274320" y="4014216"/>
            <a:ext cx="128016" cy="128016"/>
          </a:xfrm>
          <a:prstGeom prst="line">
            <a:avLst/>
          </a:prstGeom>
          <a:solidFill>
            <a:srgbClr val="E63946"/>
          </a:solidFill>
          <a:ln/>
        </p:spPr>
        <p:txBody>
          <a:bodyPr/>
          <a:lstStyle/>
          <a:p>
            <a:endParaRPr lang="en-IN"/>
          </a:p>
        </p:txBody>
      </p:sp>
      <p:sp>
        <p:nvSpPr>
          <p:cNvPr id="26" name="Text 23"/>
          <p:cNvSpPr/>
          <p:nvPr/>
        </p:nvSpPr>
        <p:spPr>
          <a:xfrm>
            <a:off x="502920" y="3959352"/>
            <a:ext cx="8412480" cy="310896"/>
          </a:xfrm>
          <a:prstGeom prst="rect">
            <a:avLst/>
          </a:prstGeom>
          <a:noFill/>
          <a:ln/>
        </p:spPr>
        <p:txBody>
          <a:bodyPr wrap="square" lIns="0" tIns="0" rIns="0" bIns="0" rtlCol="0" anchor="ctr"/>
          <a:lstStyle/>
          <a:p>
            <a:pPr marL="0" indent="0">
              <a:buNone/>
            </a:pPr>
            <a:r>
              <a:rPr lang="en-US" sz="850" dirty="0">
                <a:solidFill>
                  <a:srgbClr val="C8D6E5"/>
                </a:solidFill>
                <a:latin typeface="Calibri" pitchFamily="34" charset="0"/>
                <a:ea typeface="Calibri" pitchFamily="34" charset="-122"/>
                <a:cs typeface="Calibri" pitchFamily="34" charset="-120"/>
              </a:rPr>
              <a:t>Raffin, A. et al. (2021). Stable-Baselines3: Reliable Reinforcement Learning Implementations. JMLR, 22(268), 1–8.</a:t>
            </a:r>
            <a:endParaRPr lang="en-US" sz="850" dirty="0"/>
          </a:p>
        </p:txBody>
      </p:sp>
      <p:sp>
        <p:nvSpPr>
          <p:cNvPr id="27" name="Shape 24"/>
          <p:cNvSpPr/>
          <p:nvPr/>
        </p:nvSpPr>
        <p:spPr>
          <a:xfrm>
            <a:off x="274320" y="4352544"/>
            <a:ext cx="128016" cy="128016"/>
          </a:xfrm>
          <a:prstGeom prst="line">
            <a:avLst/>
          </a:prstGeom>
          <a:solidFill>
            <a:srgbClr val="E63946"/>
          </a:solidFill>
          <a:ln/>
        </p:spPr>
        <p:txBody>
          <a:bodyPr/>
          <a:lstStyle/>
          <a:p>
            <a:endParaRPr lang="en-IN"/>
          </a:p>
        </p:txBody>
      </p:sp>
      <p:sp>
        <p:nvSpPr>
          <p:cNvPr id="28" name="Text 25"/>
          <p:cNvSpPr/>
          <p:nvPr/>
        </p:nvSpPr>
        <p:spPr>
          <a:xfrm>
            <a:off x="502920" y="4297680"/>
            <a:ext cx="8412480" cy="310896"/>
          </a:xfrm>
          <a:prstGeom prst="rect">
            <a:avLst/>
          </a:prstGeom>
          <a:noFill/>
          <a:ln/>
        </p:spPr>
        <p:txBody>
          <a:bodyPr wrap="square" lIns="0" tIns="0" rIns="0" bIns="0" rtlCol="0" anchor="ctr"/>
          <a:lstStyle/>
          <a:p>
            <a:pPr marL="0" indent="0">
              <a:buNone/>
            </a:pPr>
            <a:r>
              <a:rPr lang="en-US" sz="850" dirty="0">
                <a:solidFill>
                  <a:srgbClr val="C8D6E5"/>
                </a:solidFill>
                <a:latin typeface="Calibri" pitchFamily="34" charset="0"/>
                <a:ea typeface="Calibri" pitchFamily="34" charset="-122"/>
                <a:cs typeface="Calibri" pitchFamily="34" charset="-120"/>
              </a:rPr>
              <a:t>Faker Contributors. (2024). Faker: A Python library for generating fake data. github.com/joke2k/faker.</a:t>
            </a:r>
            <a:endParaRPr lang="en-US" sz="850" dirty="0"/>
          </a:p>
        </p:txBody>
      </p:sp>
      <p:sp>
        <p:nvSpPr>
          <p:cNvPr id="29" name="Shape 26"/>
          <p:cNvSpPr/>
          <p:nvPr/>
        </p:nvSpPr>
        <p:spPr>
          <a:xfrm>
            <a:off x="274320" y="4690872"/>
            <a:ext cx="128016" cy="128016"/>
          </a:xfrm>
          <a:prstGeom prst="line">
            <a:avLst/>
          </a:prstGeom>
          <a:solidFill>
            <a:srgbClr val="E63946"/>
          </a:solidFill>
          <a:ln/>
        </p:spPr>
        <p:txBody>
          <a:bodyPr/>
          <a:lstStyle/>
          <a:p>
            <a:endParaRPr lang="en-IN"/>
          </a:p>
        </p:txBody>
      </p:sp>
      <p:sp>
        <p:nvSpPr>
          <p:cNvPr id="30" name="Text 27"/>
          <p:cNvSpPr/>
          <p:nvPr/>
        </p:nvSpPr>
        <p:spPr>
          <a:xfrm>
            <a:off x="502920" y="4636008"/>
            <a:ext cx="8412480" cy="310896"/>
          </a:xfrm>
          <a:prstGeom prst="rect">
            <a:avLst/>
          </a:prstGeom>
          <a:noFill/>
          <a:ln/>
        </p:spPr>
        <p:txBody>
          <a:bodyPr wrap="square" lIns="0" tIns="0" rIns="0" bIns="0" rtlCol="0" anchor="ctr"/>
          <a:lstStyle/>
          <a:p>
            <a:pPr marL="0" indent="0">
              <a:buNone/>
            </a:pPr>
            <a:r>
              <a:rPr lang="en-US" sz="850" dirty="0">
                <a:solidFill>
                  <a:srgbClr val="C8D6E5"/>
                </a:solidFill>
                <a:latin typeface="Calibri" pitchFamily="34" charset="0"/>
                <a:ea typeface="Calibri" pitchFamily="34" charset="-122"/>
                <a:cs typeface="Calibri" pitchFamily="34" charset="-120"/>
              </a:rPr>
              <a:t>TARUN-2305. (2025). ECO-SYNC V2X: V2X Agentic Debate Simulation for BMTC Route 378. github.com/TARUN-2305/v2x-communication.</a:t>
            </a:r>
            <a:endParaRPr lang="en-US" sz="850" dirty="0"/>
          </a:p>
        </p:txBody>
      </p:sp>
      <p:pic>
        <p:nvPicPr>
          <p:cNvPr id="31" name="Picture 30">
            <a:extLst>
              <a:ext uri="{FF2B5EF4-FFF2-40B4-BE49-F238E27FC236}">
                <a16:creationId xmlns:a16="http://schemas.microsoft.com/office/drawing/2014/main" id="{82D71B5A-77A3-DFB5-E7EE-DB7077760A90}"/>
              </a:ext>
            </a:extLst>
          </p:cNvPr>
          <p:cNvPicPr>
            <a:picLocks noChangeAspect="1"/>
          </p:cNvPicPr>
          <p:nvPr/>
        </p:nvPicPr>
        <p:blipFill>
          <a:blip r:embed="rId3"/>
          <a:stretch>
            <a:fillRect/>
          </a:stretch>
        </p:blipFill>
        <p:spPr>
          <a:xfrm>
            <a:off x="91440" y="128016"/>
            <a:ext cx="1700784" cy="728907"/>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1A1F2E"/>
        </a:solidFill>
        <a:effectLst/>
      </p:bgPr>
    </p:bg>
    <p:spTree>
      <p:nvGrpSpPr>
        <p:cNvPr id="1" name=""/>
        <p:cNvGrpSpPr/>
        <p:nvPr/>
      </p:nvGrpSpPr>
      <p:grpSpPr>
        <a:xfrm>
          <a:off x="0" y="0"/>
          <a:ext cx="0" cy="0"/>
          <a:chOff x="0" y="0"/>
          <a:chExt cx="0" cy="0"/>
        </a:xfrm>
      </p:grpSpPr>
      <p:sp>
        <p:nvSpPr>
          <p:cNvPr id="2" name="Shape 0"/>
          <p:cNvSpPr/>
          <p:nvPr/>
        </p:nvSpPr>
        <p:spPr>
          <a:xfrm>
            <a:off x="0" y="0"/>
            <a:ext cx="9144000" cy="64008"/>
          </a:xfrm>
          <a:prstGeom prst="rect">
            <a:avLst/>
          </a:prstGeom>
          <a:solidFill>
            <a:srgbClr val="E63946"/>
          </a:solidFill>
          <a:ln/>
        </p:spPr>
        <p:txBody>
          <a:bodyPr/>
          <a:lstStyle/>
          <a:p>
            <a:endParaRPr lang="en-IN"/>
          </a:p>
        </p:txBody>
      </p:sp>
      <p:sp>
        <p:nvSpPr>
          <p:cNvPr id="3" name="Shape 1"/>
          <p:cNvSpPr/>
          <p:nvPr/>
        </p:nvSpPr>
        <p:spPr>
          <a:xfrm>
            <a:off x="0" y="5079492"/>
            <a:ext cx="9144000" cy="64008"/>
          </a:xfrm>
          <a:prstGeom prst="rect">
            <a:avLst/>
          </a:prstGeom>
          <a:solidFill>
            <a:srgbClr val="E63946"/>
          </a:solidFill>
          <a:ln/>
        </p:spPr>
        <p:txBody>
          <a:bodyPr/>
          <a:lstStyle/>
          <a:p>
            <a:endParaRPr lang="en-IN"/>
          </a:p>
        </p:txBody>
      </p:sp>
      <p:sp>
        <p:nvSpPr>
          <p:cNvPr id="5" name="Text 2"/>
          <p:cNvSpPr/>
          <p:nvPr/>
        </p:nvSpPr>
        <p:spPr>
          <a:xfrm>
            <a:off x="6858000" y="164592"/>
            <a:ext cx="2103120" cy="502920"/>
          </a:xfrm>
          <a:prstGeom prst="rect">
            <a:avLst/>
          </a:prstGeom>
          <a:noFill/>
          <a:ln/>
        </p:spPr>
        <p:txBody>
          <a:bodyPr wrap="square" lIns="0" tIns="0" rIns="0" bIns="0" rtlCol="0" anchor="ctr"/>
          <a:lstStyle/>
          <a:p>
            <a:pPr marL="0" indent="0" algn="r">
              <a:buNone/>
            </a:pPr>
            <a:r>
              <a:rPr lang="en-US" sz="1000" i="1" dirty="0">
                <a:solidFill>
                  <a:srgbClr val="7A8FA6"/>
                </a:solidFill>
                <a:latin typeface="Georgia" pitchFamily="34" charset="0"/>
                <a:ea typeface="Georgia" pitchFamily="34" charset="-122"/>
                <a:cs typeface="Georgia" pitchFamily="34" charset="-120"/>
              </a:rPr>
              <a:t>Go, change the world</a:t>
            </a:r>
            <a:endParaRPr lang="en-US" sz="1000" dirty="0"/>
          </a:p>
        </p:txBody>
      </p:sp>
      <p:sp>
        <p:nvSpPr>
          <p:cNvPr id="6" name="Text 3"/>
          <p:cNvSpPr/>
          <p:nvPr/>
        </p:nvSpPr>
        <p:spPr>
          <a:xfrm>
            <a:off x="457200" y="1554480"/>
            <a:ext cx="8229600" cy="1097280"/>
          </a:xfrm>
          <a:prstGeom prst="rect">
            <a:avLst/>
          </a:prstGeom>
          <a:noFill/>
          <a:ln/>
        </p:spPr>
        <p:txBody>
          <a:bodyPr wrap="square" lIns="0" tIns="0" rIns="0" bIns="0" rtlCol="0" anchor="ctr"/>
          <a:lstStyle/>
          <a:p>
            <a:pPr marL="0" indent="0" algn="ctr">
              <a:buNone/>
            </a:pPr>
            <a:r>
              <a:rPr lang="en-US" sz="6000" b="1" dirty="0">
                <a:solidFill>
                  <a:srgbClr val="E63946"/>
                </a:solidFill>
                <a:latin typeface="Calibri Black" pitchFamily="34" charset="0"/>
                <a:ea typeface="Calibri Black" pitchFamily="34" charset="-122"/>
                <a:cs typeface="Calibri Black" pitchFamily="34" charset="-120"/>
              </a:rPr>
              <a:t>Thank You</a:t>
            </a:r>
            <a:endParaRPr lang="en-US" sz="6000" dirty="0"/>
          </a:p>
        </p:txBody>
      </p:sp>
      <p:sp>
        <p:nvSpPr>
          <p:cNvPr id="7" name="Shape 4"/>
          <p:cNvSpPr/>
          <p:nvPr/>
        </p:nvSpPr>
        <p:spPr>
          <a:xfrm>
            <a:off x="3200400" y="2606040"/>
            <a:ext cx="2743200" cy="54864"/>
          </a:xfrm>
          <a:prstGeom prst="rect">
            <a:avLst/>
          </a:prstGeom>
          <a:solidFill>
            <a:srgbClr val="7A8FA6"/>
          </a:solidFill>
          <a:ln/>
        </p:spPr>
        <p:txBody>
          <a:bodyPr/>
          <a:lstStyle/>
          <a:p>
            <a:endParaRPr lang="en-IN"/>
          </a:p>
        </p:txBody>
      </p:sp>
      <p:sp>
        <p:nvSpPr>
          <p:cNvPr id="8" name="Text 5"/>
          <p:cNvSpPr/>
          <p:nvPr/>
        </p:nvSpPr>
        <p:spPr>
          <a:xfrm>
            <a:off x="457200" y="2743200"/>
            <a:ext cx="8229600" cy="411480"/>
          </a:xfrm>
          <a:prstGeom prst="rect">
            <a:avLst/>
          </a:prstGeom>
          <a:noFill/>
          <a:ln/>
        </p:spPr>
        <p:txBody>
          <a:bodyPr wrap="square" lIns="0" tIns="0" rIns="0" bIns="0" rtlCol="0" anchor="ctr"/>
          <a:lstStyle/>
          <a:p>
            <a:pPr marL="0" indent="0" algn="ctr">
              <a:buNone/>
            </a:pPr>
            <a:r>
              <a:rPr lang="en-US" sz="1300" dirty="0">
                <a:solidFill>
                  <a:srgbClr val="C8D6E5"/>
                </a:solidFill>
                <a:latin typeface="Calibri" pitchFamily="34" charset="0"/>
                <a:ea typeface="Calibri" pitchFamily="34" charset="-122"/>
                <a:cs typeface="Calibri" pitchFamily="34" charset="-120"/>
              </a:rPr>
              <a:t>ECO-SYNC V2X: Multi-Agent V2X Agentic Network for Anti-Bunching on BMTC Route 378</a:t>
            </a:r>
            <a:endParaRPr lang="en-US" sz="1300" dirty="0"/>
          </a:p>
        </p:txBody>
      </p:sp>
      <p:sp>
        <p:nvSpPr>
          <p:cNvPr id="9" name="Text 6"/>
          <p:cNvSpPr/>
          <p:nvPr/>
        </p:nvSpPr>
        <p:spPr>
          <a:xfrm>
            <a:off x="457200" y="3218688"/>
            <a:ext cx="8229600" cy="274320"/>
          </a:xfrm>
          <a:prstGeom prst="rect">
            <a:avLst/>
          </a:prstGeom>
          <a:noFill/>
          <a:ln/>
        </p:spPr>
        <p:txBody>
          <a:bodyPr wrap="square" lIns="0" tIns="0" rIns="0" bIns="0" rtlCol="0" anchor="ctr"/>
          <a:lstStyle/>
          <a:p>
            <a:pPr marL="0" indent="0" algn="ctr">
              <a:buNone/>
            </a:pPr>
            <a:r>
              <a:rPr lang="en-US" sz="1050" dirty="0">
                <a:solidFill>
                  <a:srgbClr val="7A8FA6"/>
                </a:solidFill>
                <a:latin typeface="Calibri" pitchFamily="34" charset="0"/>
                <a:ea typeface="Calibri" pitchFamily="34" charset="-122"/>
                <a:cs typeface="Calibri" pitchFamily="34" charset="-120"/>
              </a:rPr>
              <a:t>RV College of Engineering  ·  VI Semester  ·  Experiential Learning EVEN 2025–26</a:t>
            </a:r>
            <a:endParaRPr lang="en-US" sz="1050" dirty="0"/>
          </a:p>
        </p:txBody>
      </p:sp>
      <p:sp>
        <p:nvSpPr>
          <p:cNvPr id="10" name="Shape 7"/>
          <p:cNvSpPr/>
          <p:nvPr/>
        </p:nvSpPr>
        <p:spPr>
          <a:xfrm>
            <a:off x="457200" y="3749040"/>
            <a:ext cx="1828800" cy="457200"/>
          </a:xfrm>
          <a:prstGeom prst="rect">
            <a:avLst/>
          </a:prstGeom>
          <a:solidFill>
            <a:srgbClr val="E63946"/>
          </a:solidFill>
          <a:ln/>
        </p:spPr>
        <p:txBody>
          <a:bodyPr/>
          <a:lstStyle/>
          <a:p>
            <a:endParaRPr lang="en-IN"/>
          </a:p>
        </p:txBody>
      </p:sp>
      <p:sp>
        <p:nvSpPr>
          <p:cNvPr id="11" name="Text 8"/>
          <p:cNvSpPr/>
          <p:nvPr/>
        </p:nvSpPr>
        <p:spPr>
          <a:xfrm>
            <a:off x="457200" y="3749040"/>
            <a:ext cx="1828800" cy="457200"/>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Vikas K T</a:t>
            </a:r>
            <a:endParaRPr lang="en-US" sz="1000" dirty="0"/>
          </a:p>
        </p:txBody>
      </p:sp>
      <p:sp>
        <p:nvSpPr>
          <p:cNvPr id="12" name="Shape 9"/>
          <p:cNvSpPr/>
          <p:nvPr/>
        </p:nvSpPr>
        <p:spPr>
          <a:xfrm>
            <a:off x="2542032" y="3749040"/>
            <a:ext cx="1828800" cy="457200"/>
          </a:xfrm>
          <a:prstGeom prst="rect">
            <a:avLst/>
          </a:prstGeom>
          <a:solidFill>
            <a:srgbClr val="457B9D"/>
          </a:solidFill>
          <a:ln/>
        </p:spPr>
        <p:txBody>
          <a:bodyPr/>
          <a:lstStyle/>
          <a:p>
            <a:endParaRPr lang="en-IN"/>
          </a:p>
        </p:txBody>
      </p:sp>
      <p:sp>
        <p:nvSpPr>
          <p:cNvPr id="13" name="Text 10"/>
          <p:cNvSpPr/>
          <p:nvPr/>
        </p:nvSpPr>
        <p:spPr>
          <a:xfrm>
            <a:off x="2542032" y="3749040"/>
            <a:ext cx="1828800" cy="457200"/>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Vishwas V</a:t>
            </a:r>
            <a:endParaRPr lang="en-US" sz="1000" dirty="0"/>
          </a:p>
        </p:txBody>
      </p:sp>
      <p:sp>
        <p:nvSpPr>
          <p:cNvPr id="14" name="Shape 11"/>
          <p:cNvSpPr/>
          <p:nvPr/>
        </p:nvSpPr>
        <p:spPr>
          <a:xfrm>
            <a:off x="4626864" y="3749040"/>
            <a:ext cx="1828800" cy="457200"/>
          </a:xfrm>
          <a:prstGeom prst="rect">
            <a:avLst/>
          </a:prstGeom>
          <a:solidFill>
            <a:srgbClr val="2DC653"/>
          </a:solidFill>
          <a:ln/>
        </p:spPr>
        <p:txBody>
          <a:bodyPr/>
          <a:lstStyle/>
          <a:p>
            <a:endParaRPr lang="en-IN"/>
          </a:p>
        </p:txBody>
      </p:sp>
      <p:sp>
        <p:nvSpPr>
          <p:cNvPr id="15" name="Text 12"/>
          <p:cNvSpPr/>
          <p:nvPr/>
        </p:nvSpPr>
        <p:spPr>
          <a:xfrm>
            <a:off x="4626864" y="3749040"/>
            <a:ext cx="1828800" cy="457200"/>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Vijaykumar </a:t>
            </a:r>
            <a:r>
              <a:rPr lang="en-US" sz="1000" b="1" dirty="0" err="1">
                <a:solidFill>
                  <a:srgbClr val="FFFFFF"/>
                </a:solidFill>
                <a:latin typeface="Calibri" pitchFamily="34" charset="0"/>
                <a:ea typeface="Calibri" pitchFamily="34" charset="-122"/>
                <a:cs typeface="Calibri" pitchFamily="34" charset="-120"/>
              </a:rPr>
              <a:t>Yallappa</a:t>
            </a:r>
            <a:endParaRPr lang="en-US" sz="1000" b="1" dirty="0">
              <a:solidFill>
                <a:srgbClr val="FFFFFF"/>
              </a:solidFill>
              <a:latin typeface="Calibri" pitchFamily="34" charset="0"/>
              <a:ea typeface="Calibri" pitchFamily="34" charset="-122"/>
              <a:cs typeface="Calibri" pitchFamily="34" charset="-120"/>
            </a:endParaRPr>
          </a:p>
          <a:p>
            <a:pPr marL="0" indent="0" algn="ctr">
              <a:buNone/>
            </a:pPr>
            <a:r>
              <a:rPr lang="en-US" sz="1000" b="1" dirty="0" err="1">
                <a:solidFill>
                  <a:srgbClr val="FFFFFF"/>
                </a:solidFill>
                <a:latin typeface="Calibri" pitchFamily="34" charset="0"/>
                <a:ea typeface="Calibri" pitchFamily="34" charset="-122"/>
                <a:cs typeface="Calibri" pitchFamily="34" charset="-120"/>
              </a:rPr>
              <a:t>Murkibhanvi</a:t>
            </a:r>
            <a:endParaRPr lang="en-US" sz="1000" dirty="0"/>
          </a:p>
        </p:txBody>
      </p:sp>
      <p:sp>
        <p:nvSpPr>
          <p:cNvPr id="16" name="Shape 13"/>
          <p:cNvSpPr/>
          <p:nvPr/>
        </p:nvSpPr>
        <p:spPr>
          <a:xfrm>
            <a:off x="6711696" y="3749040"/>
            <a:ext cx="1828800" cy="457200"/>
          </a:xfrm>
          <a:prstGeom prst="rect">
            <a:avLst/>
          </a:prstGeom>
          <a:solidFill>
            <a:srgbClr val="F4A261"/>
          </a:solidFill>
          <a:ln/>
        </p:spPr>
        <p:txBody>
          <a:bodyPr/>
          <a:lstStyle/>
          <a:p>
            <a:endParaRPr lang="en-IN"/>
          </a:p>
        </p:txBody>
      </p:sp>
      <p:sp>
        <p:nvSpPr>
          <p:cNvPr id="17" name="Text 14"/>
          <p:cNvSpPr/>
          <p:nvPr/>
        </p:nvSpPr>
        <p:spPr>
          <a:xfrm>
            <a:off x="6711696" y="3749040"/>
            <a:ext cx="1828800" cy="457200"/>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Tarun R</a:t>
            </a:r>
            <a:endParaRPr lang="en-US" sz="1000" dirty="0"/>
          </a:p>
        </p:txBody>
      </p:sp>
      <p:pic>
        <p:nvPicPr>
          <p:cNvPr id="18" name="Picture 17">
            <a:extLst>
              <a:ext uri="{FF2B5EF4-FFF2-40B4-BE49-F238E27FC236}">
                <a16:creationId xmlns:a16="http://schemas.microsoft.com/office/drawing/2014/main" id="{6B57530E-1FCB-E8FD-2A2C-AC9085E1B084}"/>
              </a:ext>
            </a:extLst>
          </p:cNvPr>
          <p:cNvPicPr>
            <a:picLocks noChangeAspect="1"/>
          </p:cNvPicPr>
          <p:nvPr/>
        </p:nvPicPr>
        <p:blipFill>
          <a:blip r:embed="rId3"/>
          <a:stretch>
            <a:fillRect/>
          </a:stretch>
        </p:blipFill>
        <p:spPr>
          <a:xfrm>
            <a:off x="91440" y="128016"/>
            <a:ext cx="1700784" cy="728907"/>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19</TotalTime>
  <Words>2448</Words>
  <Application>Microsoft Office PowerPoint</Application>
  <PresentationFormat>On-screen Show (16:9)</PresentationFormat>
  <Paragraphs>338</Paragraphs>
  <Slides>15</Slides>
  <Notes>15</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15</vt:i4>
      </vt:variant>
    </vt:vector>
  </HeadingPairs>
  <TitlesOfParts>
    <vt:vector size="20" baseType="lpstr">
      <vt:lpstr>Arial</vt:lpstr>
      <vt:lpstr>Calibri</vt:lpstr>
      <vt:lpstr>Calibri Black</vt:lpstr>
      <vt:lpstr>Georgia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Eco-Sync: Agentic AI for Economic Dispatch &amp; Anti-Bunching</dc:title>
  <dc:subject>PptxGenJS Presentation</dc:subject>
  <dc:creator>PptxGenJS</dc:creator>
  <cp:lastModifiedBy>Tarun Raghavendra</cp:lastModifiedBy>
  <cp:revision>4</cp:revision>
  <dcterms:created xsi:type="dcterms:W3CDTF">2026-04-22T19:11:32Z</dcterms:created>
  <dcterms:modified xsi:type="dcterms:W3CDTF">2026-06-12T19:21:04Z</dcterms:modified>
</cp:coreProperties>
</file>